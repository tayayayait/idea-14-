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54a73a42fbc64e89" /><Relationship Type="http://schemas.openxmlformats.org/officeDocument/2006/relationships/extended-properties" Target="/docProps/app.xml" Id="Rf91ba00248f448a9" /><Relationship Type="http://schemas.openxmlformats.org/officeDocument/2006/relationships/officeDocument" Target="/ppt/presentation.xml" Id="R271ac65da9be49db" /></Relationships>
</file>

<file path=ppt/presentation.xml><?xml version="1.0" encoding="utf-8"?>
<p:presentation xmlns:p="http://schemas.openxmlformats.org/presentationml/2006/main">
  <p:sldMasterIdLst>
    <p:sldMasterId xmlns:r="http://schemas.openxmlformats.org/officeDocument/2006/relationships" id="2147483648" r:id="Rb86b780e93a0426d"/>
  </p:sldMasterIdLst>
  <p:notesMasterIdLst>
    <p:notesMasterId xmlns:r="http://schemas.openxmlformats.org/officeDocument/2006/relationships" r:id="R3ecef0c84fcf49b5"/>
  </p:notesMasterIdLst>
  <p:sldIdLst>
    <p:sldId xmlns:r="http://schemas.openxmlformats.org/officeDocument/2006/relationships" id="256" r:id="R2ff3c48514604735"/>
    <p:sldId xmlns:r="http://schemas.openxmlformats.org/officeDocument/2006/relationships" id="257" r:id="Rfe178a718e7a42be"/>
    <p:sldId xmlns:r="http://schemas.openxmlformats.org/officeDocument/2006/relationships" id="258" r:id="Rb0b536c4828a4dbe"/>
    <p:sldId xmlns:r="http://schemas.openxmlformats.org/officeDocument/2006/relationships" id="259" r:id="Rcfa2c79df4374b46"/>
    <p:sldId xmlns:r="http://schemas.openxmlformats.org/officeDocument/2006/relationships" id="260" r:id="R51a0adaa18a54815"/>
    <p:sldId xmlns:r="http://schemas.openxmlformats.org/officeDocument/2006/relationships" id="261" r:id="R7ea87cfe779041c8"/>
    <p:sldId xmlns:r="http://schemas.openxmlformats.org/officeDocument/2006/relationships" id="262" r:id="R7db5a824814d4374"/>
    <p:sldId xmlns:r="http://schemas.openxmlformats.org/officeDocument/2006/relationships" id="263" r:id="Rd392ea8f9de545bd"/>
    <p:sldId xmlns:r="http://schemas.openxmlformats.org/officeDocument/2006/relationships" id="264" r:id="R41862d9599474359"/>
    <p:sldId xmlns:r="http://schemas.openxmlformats.org/officeDocument/2006/relationships" id="265" r:id="R4c074ccd0ae44b11"/>
    <p:sldId xmlns:r="http://schemas.openxmlformats.org/officeDocument/2006/relationships" id="266" r:id="R2a956bcaddd64eec"/>
    <p:sldId xmlns:r="http://schemas.openxmlformats.org/officeDocument/2006/relationships" id="267" r:id="Rcab1ddf5d2f24b47"/>
    <p:sldId xmlns:r="http://schemas.openxmlformats.org/officeDocument/2006/relationships" id="268" r:id="R0bca4936edf74ff3"/>
    <p:sldId xmlns:r="http://schemas.openxmlformats.org/officeDocument/2006/relationships" id="269" r:id="Rc1786bcaabae44de"/>
    <p:sldId xmlns:r="http://schemas.openxmlformats.org/officeDocument/2006/relationships" id="270" r:id="Rccc36689c0f042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5086b7acd34ad2" /><Relationship Type="http://schemas.openxmlformats.org/officeDocument/2006/relationships/slideMaster" Target="/ppt/slideMasters/slideMaster1.xml" Id="Rb86b780e93a0426d" /><Relationship Type="http://schemas.openxmlformats.org/officeDocument/2006/relationships/notesMaster" Target="/ppt/notesMasters/notesMaster1.xml" Id="R3ecef0c84fcf49b5" /><Relationship Type="http://schemas.openxmlformats.org/officeDocument/2006/relationships/presProps" Target="/ppt/presProps.xml" Id="R381b2fcc9b0944f4" /><Relationship Type="http://schemas.openxmlformats.org/officeDocument/2006/relationships/tableStyles" Target="/ppt/tableStyles.xml" Id="R82259a986e224660" /><Relationship Type="http://schemas.openxmlformats.org/officeDocument/2006/relationships/slide" Target="/ppt/slides/slide1.xml" Id="R2ff3c48514604735" /><Relationship Type="http://schemas.openxmlformats.org/officeDocument/2006/relationships/slide" Target="/ppt/slides/slide2.xml" Id="Rfe178a718e7a42be" /><Relationship Type="http://schemas.openxmlformats.org/officeDocument/2006/relationships/slide" Target="/ppt/slides/slide3.xml" Id="Rb0b536c4828a4dbe" /><Relationship Type="http://schemas.openxmlformats.org/officeDocument/2006/relationships/slide" Target="/ppt/slides/slide4.xml" Id="Rcfa2c79df4374b46" /><Relationship Type="http://schemas.openxmlformats.org/officeDocument/2006/relationships/slide" Target="/ppt/slides/slide5.xml" Id="R51a0adaa18a54815" /><Relationship Type="http://schemas.openxmlformats.org/officeDocument/2006/relationships/slide" Target="/ppt/slides/slide6.xml" Id="R7ea87cfe779041c8" /><Relationship Type="http://schemas.openxmlformats.org/officeDocument/2006/relationships/slide" Target="/ppt/slides/slide7.xml" Id="R7db5a824814d4374" /><Relationship Type="http://schemas.openxmlformats.org/officeDocument/2006/relationships/slide" Target="/ppt/slides/slide8.xml" Id="Rd392ea8f9de545bd" /><Relationship Type="http://schemas.openxmlformats.org/officeDocument/2006/relationships/slide" Target="/ppt/slides/slide9.xml" Id="R41862d9599474359" /><Relationship Type="http://schemas.openxmlformats.org/officeDocument/2006/relationships/slide" Target="/ppt/slides/slide10.xml" Id="R4c074ccd0ae44b11" /><Relationship Type="http://schemas.openxmlformats.org/officeDocument/2006/relationships/slide" Target="/ppt/slides/slide11.xml" Id="R2a956bcaddd64eec" /><Relationship Type="http://schemas.openxmlformats.org/officeDocument/2006/relationships/slide" Target="/ppt/slides/slide12.xml" Id="Rcab1ddf5d2f24b47" /><Relationship Type="http://schemas.openxmlformats.org/officeDocument/2006/relationships/slide" Target="/ppt/slides/slide13.xml" Id="R0bca4936edf74ff3" /><Relationship Type="http://schemas.openxmlformats.org/officeDocument/2006/relationships/slide" Target="/ppt/slides/slide14.xml" Id="Rc1786bcaabae44de" /><Relationship Type="http://schemas.openxmlformats.org/officeDocument/2006/relationships/slide" Target="/ppt/slides/slide15.xml" Id="Rccc36689c0f042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77fe0d12ed46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26d85d30a64b3e" /><Relationship Type="http://schemas.openxmlformats.org/officeDocument/2006/relationships/notesMaster" Target="/ppt/notesMasters/notesMaster1.xml" Id="R18d6ad2f847c44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131adfe11a4d26" /><Relationship Type="http://schemas.openxmlformats.org/officeDocument/2006/relationships/notesMaster" Target="/ppt/notesMasters/notesMaster1.xml" Id="Rb7cfd95cf40a4b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e851dc8b494f3e" /><Relationship Type="http://schemas.openxmlformats.org/officeDocument/2006/relationships/notesMaster" Target="/ppt/notesMasters/notesMaster1.xml" Id="Rbad5163588ec49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aff6e23e324a8d" /><Relationship Type="http://schemas.openxmlformats.org/officeDocument/2006/relationships/notesMaster" Target="/ppt/notesMasters/notesMaster1.xml" Id="R04163405fde943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a7b58fa4134d5e" /><Relationship Type="http://schemas.openxmlformats.org/officeDocument/2006/relationships/notesMaster" Target="/ppt/notesMasters/notesMaster1.xml" Id="R7ef9f1fb20c14f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b3088b8586472b" /><Relationship Type="http://schemas.openxmlformats.org/officeDocument/2006/relationships/notesMaster" Target="/ppt/notesMasters/notesMaster1.xml" Id="R6e4ce0fd51c94a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629f8ed7c34d32" /><Relationship Type="http://schemas.openxmlformats.org/officeDocument/2006/relationships/notesMaster" Target="/ppt/notesMasters/notesMaster1.xml" Id="Ref8ae1bb711946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b8ee1029d646f5" /><Relationship Type="http://schemas.openxmlformats.org/officeDocument/2006/relationships/notesMaster" Target="/ppt/notesMasters/notesMaster1.xml" Id="Recaa3e1802ba48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6b0d2eb3d14e70" /><Relationship Type="http://schemas.openxmlformats.org/officeDocument/2006/relationships/notesMaster" Target="/ppt/notesMasters/notesMaster1.xml" Id="R875ca822f1d44a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1b0217c608470b" /><Relationship Type="http://schemas.openxmlformats.org/officeDocument/2006/relationships/notesMaster" Target="/ppt/notesMasters/notesMaster1.xml" Id="R94b0920a0ea14a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77405b7a8942c8" /><Relationship Type="http://schemas.openxmlformats.org/officeDocument/2006/relationships/notesMaster" Target="/ppt/notesMasters/notesMaster1.xml" Id="R7102e3ceaf3040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893d5f468642e8" /><Relationship Type="http://schemas.openxmlformats.org/officeDocument/2006/relationships/notesMaster" Target="/ppt/notesMasters/notesMaster1.xml" Id="Rbe9a24262eee45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eeb982607a4ce7" /><Relationship Type="http://schemas.openxmlformats.org/officeDocument/2006/relationships/notesMaster" Target="/ppt/notesMasters/notesMaster1.xml" Id="R7f49f573e45c41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ac047fd816f45d1" /><Relationship Type="http://schemas.openxmlformats.org/officeDocument/2006/relationships/notesMaster" Target="/ppt/notesMasters/notesMaster1.xml" Id="Ra7295aa5a3f548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b94d76d4dd94801" /><Relationship Type="http://schemas.openxmlformats.org/officeDocument/2006/relationships/notesMaster" Target="/ppt/notesMasters/notesMaster1.xml" Id="R47cfe1185d0e4e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0:35</a:t>
            </a:r>
          </a:p>
          <a:p xmlns:a="http://schemas.openxmlformats.org/drawingml/2006/main">
            <a:r>
              <a:t>핵심 메시지: 10종 공공데이터를 하나의 수출 의사결정 흐름으로 전환한 구현 서비스입니다.</a:t>
            </a:r>
          </a:p>
          <a:p xmlns:a="http://schemas.openxmlformats.org/drawingml/2006/main">
            <a:r>
              <a:t>삽입할 프로그램 스크린샷: 실제 서비스 메인 데모 화면</a:t>
            </a:r>
          </a:p>
          <a:p xmlns:a="http://schemas.openxmlformats.org/drawingml/2006/main">
            <a:r>
              <a:t>화면에서 강조할 부분: 아이디어가 아니라 작동하는 프로토타입이라는 점</a:t>
            </a:r>
          </a:p>
          <a:p xmlns:a="http://schemas.openxmlformats.org/drawingml/2006/main">
            <a:r>
              <a:t>PPT 핵심 문구: 흩어진 공공데이터를 5분 수출 의사결정으로</a:t>
            </a:r>
          </a:p>
          <a:p xmlns:a="http://schemas.openxmlformats.org/drawingml/2006/main">
            <a:r>
              <a:t>발표 대본:</a:t>
            </a:r>
          </a:p>
          <a:p xmlns:a="http://schemas.openxmlformats.org/drawingml/2006/main">
            <a:r>
              <a:t>안녕하세요. 저희가 만든 AI 산단수출 코파일럿은 수출 경험과 전담 인력이 부족한 산업단지 제조기업이 기업과 제품 정보만으로 후보국, 인증·규제, 결제 위험, 다음 행동까지 한 번에 판단하도록 돕는 서비스입니다. 오늘은 실제 구현 화면을 중심으로 필요성, 구현 수준, 차별성, 사업화 가능성을 말씀드리겠습니다.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0:55</a:t>
            </a:r>
          </a:p>
          <a:p xmlns:a="http://schemas.openxmlformats.org/drawingml/2006/main">
            <a:r>
              <a:t>핵심 메시지: 문제는 정보 부족이 아니라 기업별 의사결정 흐름이 끊겨 있다는 점입니다.</a:t>
            </a:r>
          </a:p>
          <a:p xmlns:a="http://schemas.openxmlformats.org/drawingml/2006/main">
            <a:r>
              <a:t>삽입할 프로그램 스크린샷: 없음</a:t>
            </a:r>
          </a:p>
          <a:p xmlns:a="http://schemas.openxmlformats.org/drawingml/2006/main">
            <a:r>
              <a:t>화면에서 강조할 부분: 10종 데이터와 1개의 결정 사이의 간극</a:t>
            </a:r>
          </a:p>
          <a:p xmlns:a="http://schemas.openxmlformats.org/drawingml/2006/main">
            <a:r>
              <a:t>PPT 핵심 문구: 데이터는 10곳에 있지만 기업이 원하는 결정은 하나</a:t>
            </a:r>
          </a:p>
          <a:p xmlns:a="http://schemas.openxmlformats.org/drawingml/2006/main">
            <a:r>
              <a:t>발표 대본:</a:t>
            </a:r>
          </a:p>
          <a:p xmlns:a="http://schemas.openxmlformats.org/drawingml/2006/main">
            <a:r>
              <a:t>수출을 시작하려는 기업의 첫 질문은 단순히 어느 나라가 큰 시장인가가 아닙니다. 우리 공장과 제품 기준으로 어느 나라를 먼저 볼지, 어떤 인증과 규제를 넘을지, 관세와 결제 위험을 감수할 수 있는지를 함께 판단해야 합니다. 지금은 이 근거가 여러 기관에 흩어져 있어 정보는 많지만 결정은 느리고 누락 위험은 큽니다.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0:55</a:t>
            </a:r>
          </a:p>
          <a:p xmlns:a="http://schemas.openxmlformats.org/drawingml/2006/main">
            <a:r>
              <a:t>핵심 메시지: 기존 대안은 정확성·속도·실행성 중 하나에서 흐름이 끊깁니다.</a:t>
            </a:r>
          </a:p>
          <a:p xmlns:a="http://schemas.openxmlformats.org/drawingml/2006/main">
            <a:r>
              <a:t>삽입할 프로그램 스크린샷: 없음</a:t>
            </a:r>
          </a:p>
          <a:p xmlns:a="http://schemas.openxmlformats.org/drawingml/2006/main">
            <a:r>
              <a:t>화면에서 강조할 부분: 기능 나열이 아니라 Go/No-Go까지 이어지는지 비교</a:t>
            </a:r>
          </a:p>
          <a:p xmlns:a="http://schemas.openxmlformats.org/drawingml/2006/main">
            <a:r>
              <a:t>PPT 핵심 문구: 정확성·속도·실행성을 한 흐름에서 충족</a:t>
            </a:r>
          </a:p>
          <a:p xmlns:a="http://schemas.openxmlformats.org/drawingml/2006/main">
            <a:r>
              <a:t>발표 대본:</a:t>
            </a:r>
          </a:p>
          <a:p xmlns:a="http://schemas.openxmlformats.org/drawingml/2006/main">
            <a:r>
              <a:t>기존 정보 포털은 정확하지만 기관별로 다시 검색해야 하고, 일반 생성형 AI는 빠르지만 출처와 조회일을 추적하기 어렵습니다. 컨설팅 보고서는 유용하지만 데이터가 바뀔 때마다 다시 작성해야 합니다. 그래서 기업·품목·국가·위험·행동이 끊기지 않는 의사결정 구조가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1:00</a:t>
            </a:r>
          </a:p>
          <a:p xmlns:a="http://schemas.openxmlformats.org/drawingml/2006/main">
            <a:r>
              <a:t>핵심 메시지: 의사결정을 해야 하는 제조기업과 지원기관이 핵심 고객입니다.</a:t>
            </a:r>
          </a:p>
          <a:p xmlns:a="http://schemas.openxmlformats.org/drawingml/2006/main">
            <a:r>
              <a:t>삽입할 프로그램 스크린샷: 없음</a:t>
            </a:r>
          </a:p>
          <a:p xmlns:a="http://schemas.openxmlformats.org/drawingml/2006/main">
            <a:r>
              <a:t>화면에서 강조할 부분: 대표의 Go/No-Go, 실무자의 요건, 기관의 표준 진단</a:t>
            </a:r>
          </a:p>
          <a:p xmlns:a="http://schemas.openxmlformats.org/drawingml/2006/main">
            <a:r>
              <a:t>PPT 핵심 문구: 검색보다 다음 결정을 내려야 하는 세 고객</a:t>
            </a:r>
          </a:p>
          <a:p xmlns:a="http://schemas.openxmlformats.org/drawingml/2006/main">
            <a:r>
              <a:t>발표 대본:</a:t>
            </a:r>
          </a:p>
          <a:p xmlns:a="http://schemas.openxmlformats.org/drawingml/2006/main">
            <a:r>
              <a:t>1차 고객은 수출 전담자가 없거나 경험이 적은 산단 제조기업입니다. 대표는 추진 여부와 우선시장을, 실무자는 HS 코드와 인증·규제·결제 조건을 필요로 합니다. 두 번째는 산단공, 지자체, 테크노파크 같은 지원기관으로 상담 전에 기업을 표준 진단하고 근거 리포트를 남겨야 합니다. 세 번째는 관세·인증·무역 전문가로, 흩어진 근거를 빠르게 확인하고 고부가 자문에 집중할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0:45</a:t>
            </a:r>
          </a:p>
          <a:p xmlns:a="http://schemas.openxmlformats.org/drawingml/2006/main">
            <a:r>
              <a:t>핵심 메시지: 입력-판단-실행이 한 흐름으로 이어집니다.</a:t>
            </a:r>
          </a:p>
          <a:p xmlns:a="http://schemas.openxmlformats.org/drawingml/2006/main">
            <a:r>
              <a:t>삽입할 프로그램 스크린샷: 없음</a:t>
            </a:r>
          </a:p>
          <a:p xmlns:a="http://schemas.openxmlformats.org/drawingml/2006/main">
            <a:r>
              <a:t>화면에서 강조할 부분: 기업·HSK에서 Top 3, 국가 게이트, 실행 리포트로 이어지는 다섯 단계</a:t>
            </a:r>
          </a:p>
          <a:p xmlns:a="http://schemas.openxmlformats.org/drawingml/2006/main">
            <a:r>
              <a:t>PPT 핵심 문구: 기업·제품 입력부터 실행 리포트까지 5단계</a:t>
            </a:r>
          </a:p>
          <a:p xmlns:a="http://schemas.openxmlformats.org/drawingml/2006/main">
            <a:r>
              <a:t>발표 대본:</a:t>
            </a:r>
          </a:p>
          <a:p xmlns:a="http://schemas.openxmlformats.org/drawingml/2006/main">
            <a:r>
              <a:t>이용 흐름은 단순합니다. 먼저 KICOX 기업·공장 정보와 제품·HSK를 고정합니다. 다음으로 후보국 Top 3를 도출하고, 선택 국가의 시장·인증·규제·결제·안전을 상세 검증합니다. 마지막으로 AI가 조건부 추진 여부와 다음 행동을 정리해 PDF 리포트로 제공합니다.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1:10</a:t>
            </a:r>
          </a:p>
          <a:p xmlns:a="http://schemas.openxmlformats.org/drawingml/2006/main">
            <a:r>
              <a:t>핵심 메시지: 기업 확인과 품목 확정을 하나의 영상 흐름으로 보여주고, 실제 분석에 사용된 기준값을 명확히 고정합니다.</a:t>
            </a:r>
          </a:p>
          <a:p xmlns:a="http://schemas.openxmlformats.org/drawingml/2006/main">
            <a:r>
              <a:t>삽입할 프로그램 스크린샷: 0~7초 실제 작동 영상</a:t>
            </a:r>
          </a:p>
          <a:p xmlns:a="http://schemas.openxmlformats.org/drawingml/2006/main">
            <a:r>
              <a:t>화면에서 강조할 부분: 넥센타이어, HS 401110, HSK 4011100000과 사용자 확정 절차</a:t>
            </a:r>
          </a:p>
          <a:p xmlns:a="http://schemas.openxmlformats.org/drawingml/2006/main">
            <a:r>
              <a:t>PPT 핵심 문구: 공식 기업정보 → AI 후보 → 사용자 HSK10 확정</a:t>
            </a:r>
          </a:p>
          <a:p xmlns:a="http://schemas.openxmlformats.org/drawingml/2006/main">
            <a:r>
              <a:t>발표 대본:</a:t>
            </a:r>
          </a:p>
          <a:p xmlns:a="http://schemas.openxmlformats.org/drawingml/2006/main">
            <a:r>
              <a:t>6번 화면은 기업 확인과 품목 확정을 하나의 연속 데모로 보여줍니다. 먼저 KICOX 기업정보에서 넥센타이어의 공장, 산업단지, 업종과 생산품을 불러옵니다. 이어 제품 설명을 기준으로 관세청 코드표와 AI가 HS·HSK 후보를 제안하고, 사용자가 최종 분석 코드인 HS 401110과 HSK 4011100000을 확정합니다. 오른쪽에는 실제 분석에 고정된 기준값을 남겼습니다. 즉 AI가 임의로 품목을 결정하는 것이 아니라 공식 기업정보와 사용자가 확정한 HSK10을 다음 분석의 출발점으로 사용합니다.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1:10</a:t>
            </a:r>
          </a:p>
          <a:p xmlns:a="http://schemas.openxmlformats.org/drawingml/2006/main">
            <a:r>
              <a:t>핵심 메시지: 추천은 일반 국가 순위가 아니라 기업·품목 기준의 추적 가능한 후보군입니다.</a:t>
            </a:r>
          </a:p>
          <a:p xmlns:a="http://schemas.openxmlformats.org/drawingml/2006/main">
            <a:r>
              <a:t>삽입할 프로그램 스크린샷: countries.png</a:t>
            </a:r>
          </a:p>
          <a:p xmlns:a="http://schemas.openxmlformats.org/drawingml/2006/main">
            <a:r>
              <a:t>화면에서 강조할 부분: 미국·베트남·브라질과 포함·감점 이유</a:t>
            </a:r>
          </a:p>
          <a:p xmlns:a="http://schemas.openxmlformats.org/drawingml/2006/main">
            <a:r>
              <a:t>PPT 핵심 문구: Top 3를 이유와 함께 좁힌다</a:t>
            </a:r>
          </a:p>
          <a:p xmlns:a="http://schemas.openxmlformats.org/drawingml/2006/main">
            <a:r>
              <a:t>발표 대본:</a:t>
            </a:r>
          </a:p>
          <a:p xmlns:a="http://schemas.openxmlformats.org/drawingml/2006/main">
            <a:r>
              <a:t>확정된 타이어 코드로 미국, 베트남, 브라질이 상위 후보로 제시됩니다. 각 카드에는 포함 이유뿐 아니라 낮은 점수의 이유가 함께 표시됩니다. 후보군 안에서만 시장성, 인증, 규제, 결제, 안전을 비교하기 때문에 시장 규모만 큰 국가를 무조건 추천하지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1:15</a:t>
            </a:r>
          </a:p>
          <a:p xmlns:a="http://schemas.openxmlformats.org/drawingml/2006/main">
            <a:r>
              <a:t>핵심 메시지: 국가상세 화면은 시장성뿐 아니라 실제 진입에 필요한 관세·인증·규제·거래 근거를 함께 제공합니다.</a:t>
            </a:r>
          </a:p>
          <a:p xmlns:a="http://schemas.openxmlformats.org/drawingml/2006/main">
            <a:r>
              <a:t>삽입할 프로그램 스크린샷: 26초~1분 42초 미국 국가상세 작동 영상</a:t>
            </a:r>
          </a:p>
          <a:p xmlns:a="http://schemas.openxmlformats.org/drawingml/2006/main">
            <a:r>
              <a:t>화면에서 강조할 부분: 수입시장 105.1억 달러, 한국산 5.57%, HTS 후보 10건, DOT·FMVSS, 반덤핑, LPI 3.8, 결제 지연 18.9%</a:t>
            </a:r>
          </a:p>
          <a:p xmlns:a="http://schemas.openxmlformats.org/drawingml/2006/main">
            <a:r>
              <a:t>PPT 핵심 문구: 추천 국가를 실제 수출 조건으로 검증</a:t>
            </a:r>
          </a:p>
          <a:p xmlns:a="http://schemas.openxmlformats.org/drawingml/2006/main">
            <a:r>
              <a:t>발표 대본:</a:t>
            </a:r>
          </a:p>
          <a:p xmlns:a="http://schemas.openxmlformats.org/drawingml/2006/main">
            <a:r>
              <a:t>8번은 미국 국가상세 화면입니다. 단순히 시장 점수만 보여주는 화면이 아닙니다. 2025년 HS 401110 수입시장은 105억 1천만 달러이고 한국산 점유율은 5.57퍼센트입니다. 이어 제품 구조와 림 직경에 따라 달라지는 미국 HTS 10자리 후보 10건과 한미 FTA 특혜 가능성을 확인합니다. 동시에 DOT와 FMVSS 인증, 한국산 타이어 반덤핑 규제, 물류성과지수 3.8, 결제 지연율 18.9퍼센트까지 한 화면에서 검토합니다. 따라서 후보국 추천 다음 단계에서 실제 진출 가능성을 시장, 관세, 인증, 거래 조건으로 구체화할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1:10</a:t>
            </a:r>
          </a:p>
          <a:p xmlns:a="http://schemas.openxmlformats.org/drawingml/2006/main">
            <a:r>
              <a:t>핵심 메시지: AI 출력은 출처가 연결된 조건부 판단과 실행 항목입니다.</a:t>
            </a:r>
          </a:p>
          <a:p xmlns:a="http://schemas.openxmlformats.org/drawingml/2006/main">
            <a:r>
              <a:t>삽입할 프로그램 스크린샷: report.png</a:t>
            </a:r>
          </a:p>
          <a:p xmlns:a="http://schemas.openxmlformats.org/drawingml/2006/main">
            <a:r>
              <a:t>화면에서 강조할 부분: 조건부 추진, 14.72%, DOT, O/A 85.7%, PDF</a:t>
            </a:r>
          </a:p>
          <a:p xmlns:a="http://schemas.openxmlformats.org/drawingml/2006/main">
            <a:r>
              <a:t>PPT 핵심 문구: 조건을 담당자와 다음 행동으로 전환</a:t>
            </a:r>
          </a:p>
          <a:p xmlns:a="http://schemas.openxmlformats.org/drawingml/2006/main">
            <a:r>
              <a:t>발표 대본:</a:t>
            </a:r>
          </a:p>
          <a:p xmlns:a="http://schemas.openxmlformats.org/drawingml/2006/main">
            <a:r>
              <a:t>최종 리포트는 미국 시장을 조건부 추진으로 판단합니다. 현재 데모에서는 한미 FTA 기본 무관세와 함께 14.72% 반덤핑 관세, DOT 인증, O/A 결제 비중 85.7%를 동시에 검토하도록 제시합니다. 그리고 원가 재산정, 인증 확인, 무역보험 검토처럼 담당자와 다음 행동으로 연결하며 PDF로 내려받을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1:05</a:t>
            </a:r>
          </a:p>
          <a:p xmlns:a="http://schemas.openxmlformats.org/drawingml/2006/main">
            <a:r>
              <a:t>핵심 메시지: AI는 공공데이터를 대체하지 않고 근거 위에서 판단과 행동을 생성합니다.</a:t>
            </a:r>
          </a:p>
          <a:p xmlns:a="http://schemas.openxmlformats.org/drawingml/2006/main">
            <a:r>
              <a:t>삽입할 프로그램 스크린샷: 없음</a:t>
            </a:r>
          </a:p>
          <a:p xmlns:a="http://schemas.openxmlformats.org/drawingml/2006/main">
            <a:r>
              <a:t>화면에서 강조할 부분: 사실층-근거층-게이트-AI 출력의 분리</a:t>
            </a:r>
          </a:p>
          <a:p xmlns:a="http://schemas.openxmlformats.org/drawingml/2006/main">
            <a:r>
              <a:t>PPT 핵심 문구: 공공데이터가 사실을 만들고 AI가 행동으로 변환</a:t>
            </a:r>
          </a:p>
          <a:p xmlns:a="http://schemas.openxmlformats.org/drawingml/2006/main">
            <a:r>
              <a:t>발표 대본:</a:t>
            </a:r>
          </a:p>
          <a:p xmlns:a="http://schemas.openxmlformats.org/drawingml/2006/main">
            <a:r>
              <a:t>구조의 핵심은 AI가 출처를 대신하지 않는다는 점입니다. KICOX, KOTRA, K-SURE, 관세청, 안전·전략물자 데이터를 기업·HSK·국가 키로 정규화하고 출처, 조회일, 상태, 근거 ID를 붙입니다. 그 위에서 Gemini와 에이전트가 추천·판단·행동을 생성합니다. 따라서 다른 AI나 ERP, 지원기관 플랫폼도 동일한 근거 API를 호출해 확장할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0:55</a:t>
            </a:r>
          </a:p>
          <a:p xmlns:a="http://schemas.openxmlformats.org/drawingml/2006/main">
            <a:r>
              <a:t>핵심 메시지: 경쟁력은 데이터·게이트·도메인 규칙이 한 흐름에서 작동하는 구조입니다.</a:t>
            </a:r>
          </a:p>
          <a:p xmlns:a="http://schemas.openxmlformats.org/drawingml/2006/main">
            <a:r>
              <a:t>삽입할 프로그램 스크린샷: 없음</a:t>
            </a:r>
          </a:p>
          <a:p xmlns:a="http://schemas.openxmlformats.org/drawingml/2006/main">
            <a:r>
              <a:t>화면에서 강조할 부분: 코파일럿 열의 전 과정 유지, 근거 ID, 미확인 게이트</a:t>
            </a:r>
          </a:p>
          <a:p xmlns:a="http://schemas.openxmlformats.org/drawingml/2006/main">
            <a:r>
              <a:t>PPT 핵심 문구: 데이터 수가 아니라 근거가 끊기지 않는 구조</a:t>
            </a:r>
          </a:p>
          <a:p xmlns:a="http://schemas.openxmlformats.org/drawingml/2006/main">
            <a:r>
              <a:t>발표 대본:</a:t>
            </a:r>
          </a:p>
          <a:p xmlns:a="http://schemas.openxmlformats.org/drawingml/2006/main">
            <a:r>
              <a:t>차별점은 API를 많이 붙였다는 데 있지 않습니다. 기업과 품목을 기준으로 10종 공공데이터를 연결하고, 정확 일치부터 HS6, 제품명 순으로 근거 신뢰도를 관리하며, 미확인을 의사결정 게이트로 남기는 구조가 핵심입니다. 이 데이터·게이트 스키마가 일반 포털이나 단순 챗봇과 다른 경쟁력입니다.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0:55</a:t>
            </a:r>
          </a:p>
          <a:p xmlns:a="http://schemas.openxmlformats.org/drawingml/2006/main">
            <a:r>
              <a:t>핵심 메시지: 현재 증거는 E2E 시나리오 검증이며 사용자 파일럿이 다음입니다.</a:t>
            </a:r>
          </a:p>
          <a:p xmlns:a="http://schemas.openxmlformats.org/drawingml/2006/main">
            <a:r>
              <a:t>삽입할 프로그램 스크린샷: data-sources.png</a:t>
            </a:r>
          </a:p>
          <a:p xmlns:a="http://schemas.openxmlformats.org/drawingml/2006/main">
            <a:r>
              <a:t>화면에서 강조할 부분: 5단계 완주, 10종 API 상태·로그, PDF 생성</a:t>
            </a:r>
          </a:p>
          <a:p xmlns:a="http://schemas.openxmlformats.org/drawingml/2006/main">
            <a:r>
              <a:t>PPT 핵심 문구: 구현 검증 완료, 사용자 검증은 다음 단계</a:t>
            </a:r>
          </a:p>
          <a:p xmlns:a="http://schemas.openxmlformats.org/drawingml/2006/main">
            <a:r>
              <a:t>발표 대본:</a:t>
            </a:r>
          </a:p>
          <a:p xmlns:a="http://schemas.openxmlformats.org/drawingml/2006/main">
            <a:r>
              <a:t>현재 검증 수준을 과장하지 않겠습니다. 실제 넥센타이어 시나리오로 기업 입력부터 후보국, 미국 상세, AI 판단, PDF까지 5단계를 완주했고, 데이터 출처 화면에서 공공데이터 API 10종의 성공·부분·대기 상태와 호출 로그를 확인했습니다. 다음 검증은 산단 및 지원기관 담당자와 실제 업무시간, 판단 유용성, 누락 감소를 측정하는 사용자 파일럿입니다.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1:00</a:t>
            </a:r>
          </a:p>
          <a:p xmlns:a="http://schemas.openxmlformats.org/drawingml/2006/main">
            <a:r>
              <a:t>핵심 메시지: 기업 구독에서 기관 라이선스와 API 반복매출로 확장하는 제안 모델입니다.</a:t>
            </a:r>
          </a:p>
          <a:p xmlns:a="http://schemas.openxmlformats.org/drawingml/2006/main">
            <a:r>
              <a:t>삽입할 프로그램 스크린샷: 없음</a:t>
            </a:r>
          </a:p>
          <a:p xmlns:a="http://schemas.openxmlformats.org/drawingml/2006/main">
            <a:r>
              <a:t>화면에서 강조할 부분: 수혜자, 상품, 과금, 운영이 단계별로 연결됨</a:t>
            </a:r>
          </a:p>
          <a:p xmlns:a="http://schemas.openxmlformats.org/drawingml/2006/main">
            <a:r>
              <a:t>PPT 핵심 문구: B2B SaaS → B2G 라이선스 → 사용량 API</a:t>
            </a:r>
          </a:p>
          <a:p xmlns:a="http://schemas.openxmlformats.org/drawingml/2006/main">
            <a:r>
              <a:t>발표 대본:</a:t>
            </a:r>
          </a:p>
          <a:p xmlns:a="http://schemas.openxmlformats.org/drawingml/2006/main">
            <a:r>
              <a:t>초기에는 제조기업이 프로젝트와 좌석 단위로 쓰는 B2B SaaS로 시작합니다. 지원기관에는 다수 기업을 관리하는 기관 라이선스와 화이트라벨 대시보드를 제공합니다. 이후 ERP·CRM·수출지원 플랫폼에 근거·판단 API를 사용량 기반으로 공급합니다. 운영은 공공데이터 상태 모니터링, AI 사용량 관리, 공식 데이터 갱신, 전문가 최종 확인의 조합입니다.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0:55</a:t>
            </a:r>
          </a:p>
          <a:p xmlns:a="http://schemas.openxmlformats.org/drawingml/2006/main">
            <a:r>
              <a:t>핵심 메시지: 검증과 도입을 먼저 만들고 같은 근거 스키마로 플랫폼과 에이전트까지 확장합니다.</a:t>
            </a:r>
          </a:p>
          <a:p xmlns:a="http://schemas.openxmlformats.org/drawingml/2006/main">
            <a:r>
              <a:t>삽입할 프로그램 스크린샷: 없음</a:t>
            </a:r>
          </a:p>
          <a:p xmlns:a="http://schemas.openxmlformats.org/drawingml/2006/main">
            <a:r>
              <a:t>화면에서 강조할 부분: 파일럿-안정화-기관-플랫폼-다중 에이전트 순서</a:t>
            </a:r>
          </a:p>
          <a:p xmlns:a="http://schemas.openxmlformats.org/drawingml/2006/main">
            <a:r>
              <a:t>PPT 핵심 문구: 확장의 공통 기반은 동일한 근거 스키마</a:t>
            </a:r>
          </a:p>
          <a:p xmlns:a="http://schemas.openxmlformats.org/drawingml/2006/main">
            <a:r>
              <a:t>발표 대본:</a:t>
            </a:r>
          </a:p>
          <a:p xmlns:a="http://schemas.openxmlformats.org/drawingml/2006/main">
            <a:r>
              <a:t>다음 단계는 기능을 더 붙이는 것보다 검증과 도입 순서가 중요합니다. 먼저 기관 파일럿으로 KPI를 확보하고, 승인 대기 데이터와 캐시 갱신 체계를 안정화합니다. 이후 기관용 포트폴리오와 API를 제공하고, 장기적으로는 HS 분류, 인증, 관세·물류, 바이어 리스크 에이전트가 같은 근거 스키마 위에서 협업하도록 확장하겠습니다.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0:50</a:t>
            </a:r>
          </a:p>
          <a:p xmlns:a="http://schemas.openxmlformats.org/drawingml/2006/main">
            <a:r>
              <a:t>핵심 메시지: 구현된 10종 데이터·5단계 흐름을 실제 기관 파일럿으로 검증할 단계입니다.</a:t>
            </a:r>
          </a:p>
          <a:p xmlns:a="http://schemas.openxmlformats.org/drawingml/2006/main">
            <a:r>
              <a:t>삽입할 프로그램 스크린샷: 없음</a:t>
            </a:r>
          </a:p>
          <a:p xmlns:a="http://schemas.openxmlformats.org/drawingml/2006/main">
            <a:r>
              <a:t>화면에서 강조할 부분: 10→3→5→1의 구현 요약과 파일럿 제안</a:t>
            </a:r>
          </a:p>
          <a:p xmlns:a="http://schemas.openxmlformats.org/drawingml/2006/main">
            <a:r>
              <a:t>PPT 핵심 문구: 수출의 첫 판단을 5분 안에</a:t>
            </a:r>
          </a:p>
          <a:p xmlns:a="http://schemas.openxmlformats.org/drawingml/2006/main">
            <a:r>
              <a:t>발표 대본:</a:t>
            </a:r>
          </a:p>
          <a:p xmlns:a="http://schemas.openxmlformats.org/drawingml/2006/main">
            <a:r>
              <a:t>AI 산단수출 코파일럿은 10종 공공데이터를 후보국 Top 3, 5단계 검증, 1개의 실행 리포트로 연결합니다. 목표는 수일 걸리던 초기 조사를 5분의 첫 판단으로 바꾸고, 중요한 미확인 조건을 놓치지 않게 하는 것입니다. 이제 실제 산단과 지원기관 파일럿으로 시간 단축과 판단 품질을 검증하겠습니다.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6da9341df649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f1214876c343d5" /><Relationship Type="http://schemas.openxmlformats.org/officeDocument/2006/relationships/slideLayout" Target="/ppt/slideLayouts/slideLayout1.xml" Id="Ra083224e5a8f44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83224e5a8f44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b747fe296c4231" /><Relationship Type="http://schemas.openxmlformats.org/officeDocument/2006/relationships/image" Target="/ppt/media/image.png" Id="R04259ea916b44761" /><Relationship Type="http://schemas.openxmlformats.org/officeDocument/2006/relationships/notesSlide" Target="/ppt/notesSlides/notesSlide1.xml" Id="R2bb5585439ea46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4f98ef28064dc3" /><Relationship Type="http://schemas.openxmlformats.org/officeDocument/2006/relationships/notesSlide" Target="/ppt/notesSlides/notesSlide2.xml" Id="R5b27597d685847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de78a0c93e4362" /><Relationship Type="http://schemas.openxmlformats.org/officeDocument/2006/relationships/notesSlide" Target="/ppt/notesSlides/notesSlide3.xml" Id="Rd26522b1cfcb45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12b43fdd8843bb" /><Relationship Type="http://schemas.openxmlformats.org/officeDocument/2006/relationships/image" Target="/ppt/media/image2.png" Id="Rb25282580ecf4603" /><Relationship Type="http://schemas.openxmlformats.org/officeDocument/2006/relationships/image" Target="/ppt/media/image3.png" Id="R796dca42ab944bbe" /><Relationship Type="http://schemas.openxmlformats.org/officeDocument/2006/relationships/image" Target="/ppt/media/image4.png" Id="Ra9620a22f30e4fba" /><Relationship Type="http://schemas.openxmlformats.org/officeDocument/2006/relationships/notesSlide" Target="/ppt/notesSlides/notesSlide4.xml" Id="Raeece2146d2b42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9ac310978840b0" /><Relationship Type="http://schemas.openxmlformats.org/officeDocument/2006/relationships/notesSlide" Target="/ppt/notesSlides/notesSlide5.xml" Id="Rb5d86d2784b64e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a49b07020994ca7" /><Relationship Type="http://schemas.openxmlformats.org/officeDocument/2006/relationships/image" Target="/ppt/media/image5.png" Id="R9972674fbc3e424b" /><Relationship Type="http://schemas.openxmlformats.org/officeDocument/2006/relationships/notesSlide" Target="/ppt/notesSlides/notesSlide6.xml" Id="Rc419eefce8514bc5" /><Relationship Id="rId1" Type="http://schemas.openxmlformats.org/officeDocument/2006/relationships/video" Target="../media/demo-v3-slide-06.mp4"/><Relationship Id="rId2" Type="http://schemas.microsoft.com/office/2007/relationships/media" Target="../media/demo-v3-slide-06.mp4"/><Relationship Id="rId3" Type="http://schemas.openxmlformats.org/officeDocument/2006/relationships/image" Target="../media/demo-v3-slide-06.png"/></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4bd4e893af4466" /><Relationship Type="http://schemas.openxmlformats.org/officeDocument/2006/relationships/image" Target="/ppt/media/image6.png" Id="R6c6f4349fac34a51" /><Relationship Type="http://schemas.openxmlformats.org/officeDocument/2006/relationships/notesSlide" Target="/ppt/notesSlides/notesSlide7.xml" Id="R503dcc9b185c4749" /><Relationship Id="rId1" Type="http://schemas.openxmlformats.org/officeDocument/2006/relationships/video" Target="../media/demo-v3-slide-07.mp4"/><Relationship Id="rId2" Type="http://schemas.microsoft.com/office/2007/relationships/media" Target="../media/demo-v3-slide-07.mp4"/><Relationship Id="rId3" Type="http://schemas.openxmlformats.org/officeDocument/2006/relationships/image" Target="../media/demo-v3-slide-07.png"/></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2a32b98f0d4a02" /><Relationship Type="http://schemas.openxmlformats.org/officeDocument/2006/relationships/image" Target="/ppt/media/image7.png" Id="R8e262cc1250c469b" /><Relationship Type="http://schemas.openxmlformats.org/officeDocument/2006/relationships/notesSlide" Target="/ppt/notesSlides/notesSlide8.xml" Id="R4f416c6ce9804623" /><Relationship Id="rId1" Type="http://schemas.openxmlformats.org/officeDocument/2006/relationships/video" Target="../media/demo-v3-slide-08.mp4"/><Relationship Id="rId2" Type="http://schemas.microsoft.com/office/2007/relationships/media" Target="../media/demo-v3-slide-08.mp4"/><Relationship Id="rId3" Type="http://schemas.openxmlformats.org/officeDocument/2006/relationships/image" Target="../media/demo-v3-slide-08.png"/></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97d2a7004b4927" /><Relationship Type="http://schemas.openxmlformats.org/officeDocument/2006/relationships/image" Target="/ppt/media/image8.png" Id="R2f860b7089ca4b60" /><Relationship Type="http://schemas.openxmlformats.org/officeDocument/2006/relationships/notesSlide" Target="/ppt/notesSlides/notesSlide9.xml" Id="R08e9681ee0da4d17" /><Relationship Id="rId1" Type="http://schemas.openxmlformats.org/officeDocument/2006/relationships/video" Target="../media/demo-v3-slide-09.mp4"/><Relationship Id="rId2" Type="http://schemas.microsoft.com/office/2007/relationships/media" Target="../media/demo-v3-slide-09.mp4"/><Relationship Id="rId3" Type="http://schemas.openxmlformats.org/officeDocument/2006/relationships/image" Target="../media/demo-v3-slide-09.png"/></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da34cea1e1447f" /><Relationship Type="http://schemas.openxmlformats.org/officeDocument/2006/relationships/notesSlide" Target="/ppt/notesSlides/notesSlide10.xml" Id="Rcd5c6b3c16aa42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bea1670313b4dae" /><Relationship Type="http://schemas.openxmlformats.org/officeDocument/2006/relationships/notesSlide" Target="/ppt/notesSlides/notesSlide11.xml" Id="R31419cff92da464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75c390907114361" /><Relationship Type="http://schemas.openxmlformats.org/officeDocument/2006/relationships/image" Target="/ppt/media/image9.png" Id="Rbfa8ccd4556a4e9e" /><Relationship Type="http://schemas.openxmlformats.org/officeDocument/2006/relationships/notesSlide" Target="/ppt/notesSlides/notesSlide12.xml" Id="R93a943c5d09342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3ec2e2fc21c4c24" /><Relationship Type="http://schemas.openxmlformats.org/officeDocument/2006/relationships/notesSlide" Target="/ppt/notesSlides/notesSlide13.xml" Id="Rb695a6d417e044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a28e20205a041d0" /><Relationship Type="http://schemas.openxmlformats.org/officeDocument/2006/relationships/notesSlide" Target="/ppt/notesSlides/notesSlide14.xml" Id="R4f1e07dbac8a4e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04e954727424d27" /><Relationship Type="http://schemas.openxmlformats.org/officeDocument/2006/relationships/notesSlide" Target="/ppt/notesSlides/notesSlide15.xml" Id="R492e64c0d2fc4988" /></Relationships>
</file>

<file path=ppt/slides/slide1.xml><?xml version="1.0" encoding="utf-8"?>
<p:sld xmlns:p="http://schemas.openxmlformats.org/presentationml/2006/main">
  <p:cSld>
    <p:bg>
      <p:bgPr>
        <a:solidFill xmlns:a="http://schemas.openxmlformats.org/drawingml/2006/main">
          <a:srgbClr val="051C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CBB58F9-812F-4143-8968-35BDB25349EE}"/>
              </a:ext>
            </a:extLst>
          </p:cNvPr>
          <p:cNvSpPr>
            <a:spLocks xmlns:a="http://schemas.openxmlformats.org/drawingml/2006/main" noGrp="1"/>
          </p:cNvSpPr>
          <p:nvPr/>
        </p:nvSpPr>
        <p:spPr>
          <a:xfrm xmlns:a="http://schemas.openxmlformats.org/drawingml/2006/main">
            <a:off x="685800" y="723900"/>
            <a:ext cx="57150" cy="54102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2" name="">
            <a:extLst xmlns:a="http://schemas.openxmlformats.org/drawingml/2006/main">
              <a:ext uri="{FF2B5EF4-FFF2-40B4-BE49-F238E27FC236}">
                <a16:creationId xmlns:a16="http://schemas.microsoft.com/office/drawing/2014/main" id="{BBF6B9BB-9BE9-4789-B717-CEBE27296C8C}"/>
              </a:ext>
            </a:extLst>
          </p:cNvPr>
          <p:cNvSpPr>
            <a:spLocks xmlns:a="http://schemas.openxmlformats.org/drawingml/2006/main" noGrp="1"/>
          </p:cNvSpPr>
          <p:nvPr/>
        </p:nvSpPr>
        <p:spPr>
          <a:xfrm xmlns:a="http://schemas.openxmlformats.org/drawingml/2006/main">
            <a:off x="1028700" y="704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8FD8CB"/>
                </a:solidFill>
                <a:latin typeface="Noto Sans KR"/>
                <a:ea typeface="Noto Sans KR"/>
                <a:cs typeface="Noto Sans KR"/>
              </a:defRPr>
            </a:pPr>
            <a:r>
              <a:rPr sz="975" b="1">
                <a:solidFill>
                  <a:srgbClr val="8FD8CB"/>
                </a:solidFill>
                <a:latin typeface="Noto Sans KR"/>
                <a:ea typeface="Noto Sans KR"/>
                <a:cs typeface="Noto Sans KR"/>
              </a:rPr>
              <a:t>제품·서비스 개발 부문</a:t>
            </a:r>
          </a:p>
        </p:txBody>
      </p:sp>
      <p:sp>
        <p:nvSpPr>
          <p:cNvPr id="3" name="">
            <a:extLst xmlns:a="http://schemas.openxmlformats.org/drawingml/2006/main">
              <a:ext uri="{FF2B5EF4-FFF2-40B4-BE49-F238E27FC236}">
                <a16:creationId xmlns:a16="http://schemas.microsoft.com/office/drawing/2014/main" id="{1162387C-FE28-4787-B2B8-511334C59E00}"/>
              </a:ext>
            </a:extLst>
          </p:cNvPr>
          <p:cNvSpPr>
            <a:spLocks xmlns:a="http://schemas.openxmlformats.org/drawingml/2006/main" noGrp="1"/>
          </p:cNvSpPr>
          <p:nvPr/>
        </p:nvSpPr>
        <p:spPr>
          <a:xfrm xmlns:a="http://schemas.openxmlformats.org/drawingml/2006/main">
            <a:off x="1028700" y="12382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500" b="1">
                <a:solidFill>
                  <a:srgbClr val="FFFFFF"/>
                </a:solidFill>
                <a:latin typeface="Noto Sans KR"/>
                <a:ea typeface="Noto Sans KR"/>
                <a:cs typeface="Noto Sans KR"/>
              </a:defRPr>
            </a:pPr>
            <a:r>
              <a:rPr sz="4500" b="1">
                <a:solidFill>
                  <a:srgbClr val="FFFFFF"/>
                </a:solidFill>
                <a:latin typeface="Noto Sans KR"/>
                <a:ea typeface="Noto Sans KR"/>
                <a:cs typeface="Noto Sans KR"/>
              </a:rPr>
              <a:t>AI 산단수출</a:t>
            </a:r>
          </a:p>
          <a:p xmlns:a="http://schemas.openxmlformats.org/drawingml/2006/main">
            <a:pPr algn="l">
              <a:defRPr sz="4500" b="1">
                <a:solidFill>
                  <a:srgbClr val="FFFFFF"/>
                </a:solidFill>
                <a:latin typeface="Noto Sans KR"/>
                <a:ea typeface="Noto Sans KR"/>
                <a:cs typeface="Noto Sans KR"/>
              </a:defRPr>
            </a:pPr>
            <a:r>
              <a:rPr sz="4500" b="1">
                <a:solidFill>
                  <a:srgbClr val="FFFFFF"/>
                </a:solidFill>
                <a:latin typeface="Noto Sans KR"/>
                <a:ea typeface="Noto Sans KR"/>
                <a:cs typeface="Noto Sans KR"/>
              </a:rPr>
              <a:t>코파일럿</a:t>
            </a:r>
          </a:p>
        </p:txBody>
      </p:sp>
      <p:sp>
        <p:nvSpPr>
          <p:cNvPr id="4" name="">
            <a:extLst xmlns:a="http://schemas.openxmlformats.org/drawingml/2006/main">
              <a:ext uri="{FF2B5EF4-FFF2-40B4-BE49-F238E27FC236}">
                <a16:creationId xmlns:a16="http://schemas.microsoft.com/office/drawing/2014/main" id="{8F3DBE0E-FF56-4FF7-9A94-3A0668CDD887}"/>
              </a:ext>
            </a:extLst>
          </p:cNvPr>
          <p:cNvSpPr>
            <a:spLocks xmlns:a="http://schemas.openxmlformats.org/drawingml/2006/main" noGrp="1"/>
          </p:cNvSpPr>
          <p:nvPr/>
        </p:nvSpPr>
        <p:spPr>
          <a:xfrm xmlns:a="http://schemas.openxmlformats.org/drawingml/2006/main">
            <a:off x="1028700" y="3105150"/>
            <a:ext cx="4857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0">
                <a:solidFill>
                  <a:srgbClr val="D7E7ED"/>
                </a:solidFill>
                <a:latin typeface="Noto Sans KR"/>
                <a:ea typeface="Noto Sans KR"/>
                <a:cs typeface="Noto Sans KR"/>
              </a:defRPr>
            </a:pPr>
            <a:r>
              <a:rPr sz="2100" b="0">
                <a:solidFill>
                  <a:srgbClr val="D7E7ED"/>
                </a:solidFill>
                <a:latin typeface="Noto Sans KR"/>
                <a:ea typeface="Noto Sans KR"/>
                <a:cs typeface="Noto Sans KR"/>
              </a:rPr>
              <a:t>흩어진 공공데이터를</a:t>
            </a:r>
          </a:p>
          <a:p xmlns:a="http://schemas.openxmlformats.org/drawingml/2006/main">
            <a:pPr algn="l">
              <a:defRPr sz="2100" b="0">
                <a:solidFill>
                  <a:srgbClr val="D7E7ED"/>
                </a:solidFill>
                <a:latin typeface="Noto Sans KR"/>
                <a:ea typeface="Noto Sans KR"/>
                <a:cs typeface="Noto Sans KR"/>
              </a:defRPr>
            </a:pPr>
            <a:r>
              <a:rPr sz="2100" b="0">
                <a:solidFill>
                  <a:srgbClr val="D7E7ED"/>
                </a:solidFill>
                <a:latin typeface="Noto Sans KR"/>
                <a:ea typeface="Noto Sans KR"/>
                <a:cs typeface="Noto Sans KR"/>
              </a:rPr>
              <a:t>5분 수출 의사결정으로</a:t>
            </a:r>
          </a:p>
        </p:txBody>
      </p:sp>
      <p:sp>
        <p:nvSpPr>
          <p:cNvPr id="5" name="">
            <a:extLst xmlns:a="http://schemas.openxmlformats.org/drawingml/2006/main">
              <a:ext uri="{FF2B5EF4-FFF2-40B4-BE49-F238E27FC236}">
                <a16:creationId xmlns:a16="http://schemas.microsoft.com/office/drawing/2014/main" id="{357EB894-7B16-4979-9544-A65DB343CEA2}"/>
              </a:ext>
            </a:extLst>
          </p:cNvPr>
          <p:cNvSpPr>
            <a:spLocks xmlns:a="http://schemas.openxmlformats.org/drawingml/2006/main" noGrp="1"/>
          </p:cNvSpPr>
          <p:nvPr/>
        </p:nvSpPr>
        <p:spPr>
          <a:xfrm xmlns:a="http://schemas.openxmlformats.org/drawingml/2006/main">
            <a:off x="1028700" y="4343400"/>
            <a:ext cx="2000250" cy="285750"/>
          </a:xfrm>
          <a:prstGeom xmlns:a="http://schemas.openxmlformats.org/drawingml/2006/main" prst="roundRect">
            <a:avLst>
              <a:gd name="adj" fmla="val 40000"/>
            </a:avLst>
          </a:prstGeom>
          <a:solidFill xmlns:a="http://schemas.openxmlformats.org/drawingml/2006/main">
            <a:srgbClr val="00A58A"/>
          </a:solidFill>
          <a:ln xmlns:a="http://schemas.openxmlformats.org/drawingml/2006/main" w="0">
            <a:solidFill>
              <a:srgbClr val="00A58A"/>
            </a:solidFill>
            <a:prstDash val="solid"/>
          </a:ln>
        </p:spPr>
      </p:sp>
      <p:sp>
        <p:nvSpPr>
          <p:cNvPr id="6" name="">
            <a:extLst xmlns:a="http://schemas.openxmlformats.org/drawingml/2006/main">
              <a:ext uri="{FF2B5EF4-FFF2-40B4-BE49-F238E27FC236}">
                <a16:creationId xmlns:a16="http://schemas.microsoft.com/office/drawing/2014/main" id="{71BD7382-EDE7-422F-ACA9-16CFF9A0ADBE}"/>
              </a:ext>
            </a:extLst>
          </p:cNvPr>
          <p:cNvSpPr>
            <a:spLocks xmlns:a="http://schemas.openxmlformats.org/drawingml/2006/main" noGrp="1"/>
          </p:cNvSpPr>
          <p:nvPr/>
        </p:nvSpPr>
        <p:spPr>
          <a:xfrm xmlns:a="http://schemas.openxmlformats.org/drawingml/2006/main">
            <a:off x="1028700" y="43434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IMPLEMENTED PROTOTYPE</a:t>
            </a:r>
          </a:p>
        </p:txBody>
      </p:sp>
      <p:sp>
        <p:nvSpPr>
          <p:cNvPr id="7" name="">
            <a:extLst xmlns:a="http://schemas.openxmlformats.org/drawingml/2006/main">
              <a:ext uri="{FF2B5EF4-FFF2-40B4-BE49-F238E27FC236}">
                <a16:creationId xmlns:a16="http://schemas.microsoft.com/office/drawing/2014/main" id="{69337290-D929-4FC3-AAD0-BC104D43B580}"/>
              </a:ext>
            </a:extLst>
          </p:cNvPr>
          <p:cNvSpPr>
            <a:spLocks xmlns:a="http://schemas.openxmlformats.org/drawingml/2006/main" noGrp="1"/>
          </p:cNvSpPr>
          <p:nvPr/>
        </p:nvSpPr>
        <p:spPr>
          <a:xfrm xmlns:a="http://schemas.openxmlformats.org/drawingml/2006/main">
            <a:off x="1028700" y="4905375"/>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AFC4CD"/>
                </a:solidFill>
                <a:latin typeface="Noto Sans KR"/>
                <a:ea typeface="Noto Sans KR"/>
                <a:cs typeface="Noto Sans KR"/>
              </a:defRPr>
            </a:pPr>
            <a:r>
              <a:rPr sz="1050" b="0">
                <a:solidFill>
                  <a:srgbClr val="AFC4CD"/>
                </a:solidFill>
                <a:latin typeface="Noto Sans KR"/>
                <a:ea typeface="Noto Sans KR"/>
                <a:cs typeface="Noto Sans KR"/>
              </a:rPr>
              <a:t>제14회 산업통상부 공공데이터 활용 아이디어 공모전</a:t>
            </a:r>
          </a:p>
        </p:txBody>
      </p:sp>
      <p:sp>
        <p:nvSpPr>
          <p:cNvPr id="8" name="">
            <a:extLst xmlns:a="http://schemas.openxmlformats.org/drawingml/2006/main">
              <a:ext uri="{FF2B5EF4-FFF2-40B4-BE49-F238E27FC236}">
                <a16:creationId xmlns:a16="http://schemas.microsoft.com/office/drawing/2014/main" id="{3FB2891A-BA7A-4021-BAC5-306992328E03}"/>
              </a:ext>
            </a:extLst>
          </p:cNvPr>
          <p:cNvSpPr>
            <a:spLocks xmlns:a="http://schemas.openxmlformats.org/drawingml/2006/main" noGrp="1"/>
          </p:cNvSpPr>
          <p:nvPr/>
        </p:nvSpPr>
        <p:spPr>
          <a:xfrm xmlns:a="http://schemas.openxmlformats.org/drawingml/2006/main">
            <a:off x="1028700" y="53911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2026.07.29  ·  15 MIN</a:t>
            </a:r>
          </a:p>
        </p:txBody>
      </p:sp>
      <p:sp>
        <p:nvSpPr>
          <p:cNvPr id="9" name="">
            <a:extLst xmlns:a="http://schemas.openxmlformats.org/drawingml/2006/main">
              <a:ext uri="{FF2B5EF4-FFF2-40B4-BE49-F238E27FC236}">
                <a16:creationId xmlns:a16="http://schemas.microsoft.com/office/drawing/2014/main" id="{74A9AC97-8FC3-4402-9674-6BB6E86BC5EB}"/>
              </a:ext>
            </a:extLst>
          </p:cNvPr>
          <p:cNvSpPr>
            <a:spLocks xmlns:a="http://schemas.openxmlformats.org/drawingml/2006/main" noGrp="1"/>
          </p:cNvSpPr>
          <p:nvPr/>
        </p:nvSpPr>
        <p:spPr>
          <a:xfrm xmlns:a="http://schemas.openxmlformats.org/drawingml/2006/main">
            <a:off x="6477000" y="666750"/>
            <a:ext cx="5048250" cy="5486400"/>
          </a:xfrm>
          <a:prstGeom xmlns:a="http://schemas.openxmlformats.org/drawingml/2006/main" prst="roundRect">
            <a:avLst>
              <a:gd name="adj" fmla="val 2264"/>
            </a:avLst>
          </a:prstGeom>
          <a:solidFill xmlns:a="http://schemas.openxmlformats.org/drawingml/2006/main">
            <a:srgbClr val="0D344A"/>
          </a:solidFill>
          <a:ln xmlns:a="http://schemas.openxmlformats.org/drawingml/2006/main" w="9525">
            <a:solidFill>
              <a:srgbClr val="426170"/>
            </a:solidFill>
            <a:prstDash val="solid"/>
          </a:ln>
        </p:spPr>
      </p:sp>
      <p:sp>
        <p:nvSpPr>
          <p:cNvPr id="10" name="">
            <a:extLst xmlns:a="http://schemas.openxmlformats.org/drawingml/2006/main">
              <a:ext uri="{FF2B5EF4-FFF2-40B4-BE49-F238E27FC236}">
                <a16:creationId xmlns:a16="http://schemas.microsoft.com/office/drawing/2014/main" id="{C84A81DD-5E45-4CD8-8D77-E79F43DC2EAB}"/>
              </a:ext>
            </a:extLst>
          </p:cNvPr>
          <p:cNvSpPr>
            <a:spLocks xmlns:a="http://schemas.openxmlformats.org/drawingml/2006/main" noGrp="1"/>
          </p:cNvSpPr>
          <p:nvPr/>
        </p:nvSpPr>
        <p:spPr>
          <a:xfrm xmlns:a="http://schemas.openxmlformats.org/drawingml/2006/main">
            <a:off x="6667500" y="87630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8FD8CB"/>
                </a:solidFill>
                <a:latin typeface="Noto Sans KR"/>
                <a:ea typeface="Noto Sans KR"/>
                <a:cs typeface="Noto Sans KR"/>
              </a:defRPr>
            </a:pPr>
            <a:r>
              <a:rPr sz="825" b="1">
                <a:solidFill>
                  <a:srgbClr val="8FD8CB"/>
                </a:solidFill>
                <a:latin typeface="Noto Sans KR"/>
                <a:ea typeface="Noto Sans KR"/>
                <a:cs typeface="Noto Sans KR"/>
              </a:rPr>
              <a:t>LIVE PRODUCT · 국가 상세 화면</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4259ea916b44761"/>
          <a:stretch xmlns:a="http://schemas.openxmlformats.org/drawingml/2006/main"/>
        </p:blipFill>
        <p:spPr>
          <a:xfrm xmlns:a="http://schemas.openxmlformats.org/drawingml/2006/main">
            <a:off x="6667500" y="1483375"/>
            <a:ext cx="4667250" cy="2214850"/>
          </a:xfrm>
          <a:prstGeom xmlns:a="http://schemas.openxmlformats.org/drawingml/2006/main" prst="roundRect">
            <a:avLst>
              <a:gd name="adj" fmla="val 4110"/>
            </a:avLst>
          </a:prstGeom>
        </p:spPr>
      </p:pic>
      <p:sp>
        <p:nvSpPr>
          <p:cNvPr id="12" name="">
            <a:extLst xmlns:a="http://schemas.openxmlformats.org/drawingml/2006/main">
              <a:ext uri="{FF2B5EF4-FFF2-40B4-BE49-F238E27FC236}">
                <a16:creationId xmlns:a16="http://schemas.microsoft.com/office/drawing/2014/main" id="{547E51FB-B5E9-49B4-940C-90166A83A47C}"/>
              </a:ext>
            </a:extLst>
          </p:cNvPr>
          <p:cNvSpPr>
            <a:spLocks xmlns:a="http://schemas.openxmlformats.org/drawingml/2006/main" noGrp="1"/>
          </p:cNvSpPr>
          <p:nvPr/>
        </p:nvSpPr>
        <p:spPr>
          <a:xfrm xmlns:a="http://schemas.openxmlformats.org/drawingml/2006/main">
            <a:off x="6800850" y="4305300"/>
            <a:ext cx="55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10</a:t>
            </a:r>
          </a:p>
        </p:txBody>
      </p:sp>
      <p:sp>
        <p:nvSpPr>
          <p:cNvPr id="13" name="">
            <a:extLst xmlns:a="http://schemas.openxmlformats.org/drawingml/2006/main">
              <a:ext uri="{FF2B5EF4-FFF2-40B4-BE49-F238E27FC236}">
                <a16:creationId xmlns:a16="http://schemas.microsoft.com/office/drawing/2014/main" id="{28284E25-515C-415E-B339-1079EFEEE828}"/>
              </a:ext>
            </a:extLst>
          </p:cNvPr>
          <p:cNvSpPr>
            <a:spLocks xmlns:a="http://schemas.openxmlformats.org/drawingml/2006/main" noGrp="1"/>
          </p:cNvSpPr>
          <p:nvPr/>
        </p:nvSpPr>
        <p:spPr>
          <a:xfrm xmlns:a="http://schemas.openxmlformats.org/drawingml/2006/main">
            <a:off x="7353300" y="4362450"/>
            <a:ext cx="87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공공데이터</a:t>
            </a:r>
          </a:p>
        </p:txBody>
      </p:sp>
      <p:sp>
        <p:nvSpPr>
          <p:cNvPr id="14" name="">
            <a:extLst xmlns:a="http://schemas.openxmlformats.org/drawingml/2006/main">
              <a:ext uri="{FF2B5EF4-FFF2-40B4-BE49-F238E27FC236}">
                <a16:creationId xmlns:a16="http://schemas.microsoft.com/office/drawing/2014/main" id="{704DC10A-F78A-43DA-A8BF-2FC540A59FEE}"/>
              </a:ext>
            </a:extLst>
          </p:cNvPr>
          <p:cNvSpPr>
            <a:spLocks xmlns:a="http://schemas.openxmlformats.org/drawingml/2006/main" noGrp="1"/>
          </p:cNvSpPr>
          <p:nvPr/>
        </p:nvSpPr>
        <p:spPr>
          <a:xfrm xmlns:a="http://schemas.openxmlformats.org/drawingml/2006/main">
            <a:off x="8305800" y="4305300"/>
            <a:ext cx="55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3</a:t>
            </a:r>
          </a:p>
        </p:txBody>
      </p:sp>
      <p:sp>
        <p:nvSpPr>
          <p:cNvPr id="15" name="">
            <a:extLst xmlns:a="http://schemas.openxmlformats.org/drawingml/2006/main">
              <a:ext uri="{FF2B5EF4-FFF2-40B4-BE49-F238E27FC236}">
                <a16:creationId xmlns:a16="http://schemas.microsoft.com/office/drawing/2014/main" id="{1D9565A8-57C4-4C5B-956A-C710469DF774}"/>
              </a:ext>
            </a:extLst>
          </p:cNvPr>
          <p:cNvSpPr>
            <a:spLocks xmlns:a="http://schemas.openxmlformats.org/drawingml/2006/main" noGrp="1"/>
          </p:cNvSpPr>
          <p:nvPr/>
        </p:nvSpPr>
        <p:spPr>
          <a:xfrm xmlns:a="http://schemas.openxmlformats.org/drawingml/2006/main">
            <a:off x="8858250" y="4362450"/>
            <a:ext cx="87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후보국</a:t>
            </a:r>
          </a:p>
        </p:txBody>
      </p:sp>
      <p:sp>
        <p:nvSpPr>
          <p:cNvPr id="16" name="">
            <a:extLst xmlns:a="http://schemas.openxmlformats.org/drawingml/2006/main">
              <a:ext uri="{FF2B5EF4-FFF2-40B4-BE49-F238E27FC236}">
                <a16:creationId xmlns:a16="http://schemas.microsoft.com/office/drawing/2014/main" id="{21AD1699-2479-44E8-94D1-C369C3184B6F}"/>
              </a:ext>
            </a:extLst>
          </p:cNvPr>
          <p:cNvSpPr>
            <a:spLocks xmlns:a="http://schemas.openxmlformats.org/drawingml/2006/main" noGrp="1"/>
          </p:cNvSpPr>
          <p:nvPr/>
        </p:nvSpPr>
        <p:spPr>
          <a:xfrm xmlns:a="http://schemas.openxmlformats.org/drawingml/2006/main">
            <a:off x="9810750" y="4305300"/>
            <a:ext cx="55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5</a:t>
            </a:r>
          </a:p>
        </p:txBody>
      </p:sp>
      <p:sp>
        <p:nvSpPr>
          <p:cNvPr id="17" name="">
            <a:extLst xmlns:a="http://schemas.openxmlformats.org/drawingml/2006/main">
              <a:ext uri="{FF2B5EF4-FFF2-40B4-BE49-F238E27FC236}">
                <a16:creationId xmlns:a16="http://schemas.microsoft.com/office/drawing/2014/main" id="{8AB726CA-FFEC-432F-8FAA-BCA35340F1E1}"/>
              </a:ext>
            </a:extLst>
          </p:cNvPr>
          <p:cNvSpPr>
            <a:spLocks xmlns:a="http://schemas.openxmlformats.org/drawingml/2006/main" noGrp="1"/>
          </p:cNvSpPr>
          <p:nvPr/>
        </p:nvSpPr>
        <p:spPr>
          <a:xfrm xmlns:a="http://schemas.openxmlformats.org/drawingml/2006/main">
            <a:off x="10363200" y="4362450"/>
            <a:ext cx="87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검증 단계</a:t>
            </a:r>
          </a:p>
        </p:txBody>
      </p:sp>
      <p:sp>
        <p:nvSpPr>
          <p:cNvPr id="18" name="">
            <a:extLst xmlns:a="http://schemas.openxmlformats.org/drawingml/2006/main">
              <a:ext uri="{FF2B5EF4-FFF2-40B4-BE49-F238E27FC236}">
                <a16:creationId xmlns:a16="http://schemas.microsoft.com/office/drawing/2014/main" id="{A25F750E-0386-48B3-A252-D8A5A21CBCF5}"/>
              </a:ext>
            </a:extLst>
          </p:cNvPr>
          <p:cNvSpPr>
            <a:spLocks xmlns:a="http://schemas.openxmlformats.org/drawingml/2006/main" noGrp="1"/>
          </p:cNvSpPr>
          <p:nvPr/>
        </p:nvSpPr>
        <p:spPr>
          <a:xfrm xmlns:a="http://schemas.openxmlformats.org/drawingml/2006/main">
            <a:off x="6800850" y="5010150"/>
            <a:ext cx="440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8FD8CB"/>
                </a:solidFill>
                <a:latin typeface="Noto Sans KR"/>
                <a:ea typeface="Noto Sans KR"/>
                <a:cs typeface="Noto Sans KR"/>
              </a:defRPr>
            </a:pPr>
            <a:r>
              <a:rPr sz="1050" b="1">
                <a:solidFill>
                  <a:srgbClr val="8FD8CB"/>
                </a:solidFill>
                <a:latin typeface="Noto Sans KR"/>
                <a:ea typeface="Noto Sans KR"/>
                <a:cs typeface="Noto Sans KR"/>
              </a:rPr>
              <a:t>조건부 검토  ·  근거 ID  ·  미확인 게이트 공개</a:t>
            </a:r>
          </a:p>
        </p:txBody>
      </p:sp>
      <p:sp>
        <p:nvSpPr>
          <p:cNvPr id="19" name="">
            <a:extLst xmlns:a="http://schemas.openxmlformats.org/drawingml/2006/main">
              <a:ext uri="{FF2B5EF4-FFF2-40B4-BE49-F238E27FC236}">
                <a16:creationId xmlns:a16="http://schemas.microsoft.com/office/drawing/2014/main" id="{26FD647D-F327-4F27-861A-C25F6EFFF721}"/>
              </a:ext>
            </a:extLst>
          </p:cNvPr>
          <p:cNvSpPr>
            <a:spLocks xmlns:a="http://schemas.openxmlformats.org/drawingml/2006/main" noGrp="1"/>
          </p:cNvSpPr>
          <p:nvPr/>
        </p:nvSpPr>
        <p:spPr>
          <a:xfrm xmlns:a="http://schemas.openxmlformats.org/drawingml/2006/main">
            <a:off x="6667500" y="5638800"/>
            <a:ext cx="4667250" cy="323850"/>
          </a:xfrm>
          <a:prstGeom xmlns:a="http://schemas.openxmlformats.org/drawingml/2006/main" prst="rect">
            <a:avLst/>
          </a:prstGeom>
          <a:solidFill xmlns:a="http://schemas.openxmlformats.org/drawingml/2006/main">
            <a:srgbClr val="0A2A3D"/>
          </a:solidFill>
          <a:ln xmlns:a="http://schemas.openxmlformats.org/drawingml/2006/main" w="0">
            <a:solidFill>
              <a:srgbClr val="0A2A3D"/>
            </a:solidFill>
            <a:prstDash val="solid"/>
          </a:ln>
        </p:spPr>
      </p:sp>
      <p:sp>
        <p:nvSpPr>
          <p:cNvPr id="20" name="">
            <a:extLst xmlns:a="http://schemas.openxmlformats.org/drawingml/2006/main">
              <a:ext uri="{FF2B5EF4-FFF2-40B4-BE49-F238E27FC236}">
                <a16:creationId xmlns:a16="http://schemas.microsoft.com/office/drawing/2014/main" id="{D5E244A1-73DD-489F-92F1-857974CB8B4F}"/>
              </a:ext>
            </a:extLst>
          </p:cNvPr>
          <p:cNvSpPr>
            <a:spLocks xmlns:a="http://schemas.openxmlformats.org/drawingml/2006/main" noGrp="1"/>
          </p:cNvSpPr>
          <p:nvPr/>
        </p:nvSpPr>
        <p:spPr>
          <a:xfrm xmlns:a="http://schemas.openxmlformats.org/drawingml/2006/main">
            <a:off x="6800850" y="56388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FFFF"/>
                </a:solidFill>
                <a:latin typeface="Noto Sans KR"/>
                <a:ea typeface="Noto Sans KR"/>
                <a:cs typeface="Noto Sans KR"/>
              </a:defRPr>
            </a:pPr>
            <a:r>
              <a:rPr sz="975" b="1">
                <a:solidFill>
                  <a:srgbClr val="FFFFFF"/>
                </a:solidFill>
                <a:latin typeface="Noto Sans KR"/>
                <a:ea typeface="Noto Sans KR"/>
                <a:cs typeface="Noto Sans KR"/>
              </a:rPr>
              <a:t>기업 → 품목 → 후보국 → 국가검증 → 실행리포트</a:t>
            </a:r>
          </a:p>
        </p:txBody>
      </p:sp>
    </p:spTree>
    <p:extLst>
      <p:ext uri="{BB962C8B-B14F-4D97-AF65-F5344CB8AC3E}">
        <p14:creationId xmlns:p14="http://schemas.microsoft.com/office/powerpoint/2010/main" val="20912539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8CAA449-2825-47B7-98AE-E7683898FE83}"/>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PROBLEM</a:t>
            </a:r>
          </a:p>
        </p:txBody>
      </p:sp>
      <p:sp>
        <p:nvSpPr>
          <p:cNvPr id="2" name="slide-2-title">
            <a:extLst xmlns:a="http://schemas.openxmlformats.org/drawingml/2006/main">
              <a:ext uri="{FF2B5EF4-FFF2-40B4-BE49-F238E27FC236}">
                <a16:creationId xmlns:a16="http://schemas.microsoft.com/office/drawing/2014/main" id="{85419F64-A5FC-4220-936C-574751522103}"/>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데이터는 10곳에 있지만 기업이 원하는 결정은 하나입니다</a:t>
            </a:r>
          </a:p>
        </p:txBody>
      </p:sp>
      <p:sp>
        <p:nvSpPr>
          <p:cNvPr id="3" name="">
            <a:extLst xmlns:a="http://schemas.openxmlformats.org/drawingml/2006/main">
              <a:ext uri="{FF2B5EF4-FFF2-40B4-BE49-F238E27FC236}">
                <a16:creationId xmlns:a16="http://schemas.microsoft.com/office/drawing/2014/main" id="{5214CE10-AC02-4E00-B1DE-5AF60E48649C}"/>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DDD688EE-0824-4798-BE6A-90927CC9D70B}"/>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4C8E132C-F065-4262-8532-5E6871A9B85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D7EBD84E-C96C-43CE-9452-C9B3F8C015F7}"/>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명세 및 공공데이터 API 구성</a:t>
            </a:r>
          </a:p>
        </p:txBody>
      </p:sp>
      <p:sp>
        <p:nvSpPr>
          <p:cNvPr id="7" name="">
            <a:extLst xmlns:a="http://schemas.openxmlformats.org/drawingml/2006/main">
              <a:ext uri="{FF2B5EF4-FFF2-40B4-BE49-F238E27FC236}">
                <a16:creationId xmlns:a16="http://schemas.microsoft.com/office/drawing/2014/main" id="{54C21EF0-77AC-4FEB-900D-6ACB0786C1A6}"/>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02</a:t>
            </a:r>
          </a:p>
        </p:txBody>
      </p:sp>
      <p:sp>
        <p:nvSpPr>
          <p:cNvPr id="8" name="">
            <a:extLst xmlns:a="http://schemas.openxmlformats.org/drawingml/2006/main">
              <a:ext uri="{FF2B5EF4-FFF2-40B4-BE49-F238E27FC236}">
                <a16:creationId xmlns:a16="http://schemas.microsoft.com/office/drawing/2014/main" id="{A2D2985E-4E0A-4D80-9D8F-41DB15304955}"/>
              </a:ext>
            </a:extLst>
          </p:cNvPr>
          <p:cNvSpPr>
            <a:spLocks xmlns:a="http://schemas.openxmlformats.org/drawingml/2006/main" noGrp="1"/>
          </p:cNvSpPr>
          <p:nvPr/>
        </p:nvSpPr>
        <p:spPr>
          <a:xfrm xmlns:a="http://schemas.openxmlformats.org/drawingml/2006/main">
            <a:off x="704850" y="1352550"/>
            <a:ext cx="3143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550" b="1">
                <a:solidFill>
                  <a:srgbClr val="051C2C"/>
                </a:solidFill>
                <a:latin typeface="Noto Sans KR"/>
                <a:ea typeface="Noto Sans KR"/>
                <a:cs typeface="Noto Sans KR"/>
              </a:defRPr>
            </a:pPr>
            <a:r>
              <a:rPr sz="11550" b="1">
                <a:solidFill>
                  <a:srgbClr val="051C2C"/>
                </a:solidFill>
                <a:latin typeface="Noto Sans KR"/>
                <a:ea typeface="Noto Sans KR"/>
                <a:cs typeface="Noto Sans KR"/>
              </a:rPr>
              <a:t>10</a:t>
            </a:r>
          </a:p>
        </p:txBody>
      </p:sp>
      <p:sp>
        <p:nvSpPr>
          <p:cNvPr id="9" name="">
            <a:extLst xmlns:a="http://schemas.openxmlformats.org/drawingml/2006/main">
              <a:ext uri="{FF2B5EF4-FFF2-40B4-BE49-F238E27FC236}">
                <a16:creationId xmlns:a16="http://schemas.microsoft.com/office/drawing/2014/main" id="{DAEB629E-7985-4E7A-A162-E24B7370D067}"/>
              </a:ext>
            </a:extLst>
          </p:cNvPr>
          <p:cNvSpPr>
            <a:spLocks xmlns:a="http://schemas.openxmlformats.org/drawingml/2006/main" noGrp="1"/>
          </p:cNvSpPr>
          <p:nvPr/>
        </p:nvSpPr>
        <p:spPr>
          <a:xfrm xmlns:a="http://schemas.openxmlformats.org/drawingml/2006/main">
            <a:off x="819150" y="32194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종 공공데이터 API</a:t>
            </a:r>
          </a:p>
        </p:txBody>
      </p:sp>
      <p:sp>
        <p:nvSpPr>
          <p:cNvPr id="10" name="">
            <a:extLst xmlns:a="http://schemas.openxmlformats.org/drawingml/2006/main">
              <a:ext uri="{FF2B5EF4-FFF2-40B4-BE49-F238E27FC236}">
                <a16:creationId xmlns:a16="http://schemas.microsoft.com/office/drawing/2014/main" id="{6BB5F326-2F6C-49B9-BA1B-181DE2116A55}"/>
              </a:ext>
            </a:extLst>
          </p:cNvPr>
          <p:cNvSpPr>
            <a:spLocks xmlns:a="http://schemas.openxmlformats.org/drawingml/2006/main" noGrp="1"/>
          </p:cNvSpPr>
          <p:nvPr/>
        </p:nvSpPr>
        <p:spPr>
          <a:xfrm xmlns:a="http://schemas.openxmlformats.org/drawingml/2006/main">
            <a:off x="819150" y="3829050"/>
            <a:ext cx="3276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4212B"/>
                </a:solidFill>
                <a:latin typeface="Noto Sans KR"/>
                <a:ea typeface="Noto Sans KR"/>
                <a:cs typeface="Noto Sans KR"/>
              </a:defRPr>
            </a:pPr>
            <a:r>
              <a:rPr sz="1650" b="0">
                <a:solidFill>
                  <a:srgbClr val="14212B"/>
                </a:solidFill>
                <a:latin typeface="Noto Sans KR"/>
                <a:ea typeface="Noto Sans KR"/>
                <a:cs typeface="Noto Sans KR"/>
              </a:rPr>
              <a:t>기관별 정보는 충분하지만</a:t>
            </a:r>
          </a:p>
          <a:p xmlns:a="http://schemas.openxmlformats.org/drawingml/2006/main">
            <a:pPr algn="l">
              <a:defRPr sz="1650" b="0">
                <a:solidFill>
                  <a:srgbClr val="14212B"/>
                </a:solidFill>
                <a:latin typeface="Noto Sans KR"/>
                <a:ea typeface="Noto Sans KR"/>
                <a:cs typeface="Noto Sans KR"/>
              </a:defRPr>
            </a:pPr>
            <a:r>
              <a:rPr sz="1650" b="0">
                <a:solidFill>
                  <a:srgbClr val="14212B"/>
                </a:solidFill>
                <a:latin typeface="Noto Sans KR"/>
                <a:ea typeface="Noto Sans KR"/>
                <a:cs typeface="Noto Sans KR"/>
              </a:rPr>
              <a:t>한 기업·한 품목의 Go/No-Go로</a:t>
            </a:r>
          </a:p>
          <a:p xmlns:a="http://schemas.openxmlformats.org/drawingml/2006/main">
            <a:pPr algn="l">
              <a:defRPr sz="1650" b="0">
                <a:solidFill>
                  <a:srgbClr val="14212B"/>
                </a:solidFill>
                <a:latin typeface="Noto Sans KR"/>
                <a:ea typeface="Noto Sans KR"/>
                <a:cs typeface="Noto Sans KR"/>
              </a:defRPr>
            </a:pPr>
            <a:r>
              <a:rPr sz="1650" b="0">
                <a:solidFill>
                  <a:srgbClr val="14212B"/>
                </a:solidFill>
                <a:latin typeface="Noto Sans KR"/>
                <a:ea typeface="Noto Sans KR"/>
                <a:cs typeface="Noto Sans KR"/>
              </a:rPr>
              <a:t>이어지지 않습니다.</a:t>
            </a:r>
          </a:p>
        </p:txBody>
      </p:sp>
      <p:sp>
        <p:nvSpPr>
          <p:cNvPr id="11" name="">
            <a:extLst xmlns:a="http://schemas.openxmlformats.org/drawingml/2006/main">
              <a:ext uri="{FF2B5EF4-FFF2-40B4-BE49-F238E27FC236}">
                <a16:creationId xmlns:a16="http://schemas.microsoft.com/office/drawing/2014/main" id="{14638C6C-D4C4-4E81-8E7B-8B29535BC615}"/>
              </a:ext>
            </a:extLst>
          </p:cNvPr>
          <p:cNvSpPr>
            <a:spLocks xmlns:a="http://schemas.openxmlformats.org/drawingml/2006/main" noGrp="1"/>
          </p:cNvSpPr>
          <p:nvPr/>
        </p:nvSpPr>
        <p:spPr>
          <a:xfrm xmlns:a="http://schemas.openxmlformats.org/drawingml/2006/main">
            <a:off x="4762500" y="1466850"/>
            <a:ext cx="419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01</a:t>
            </a:r>
          </a:p>
        </p:txBody>
      </p:sp>
      <p:sp>
        <p:nvSpPr>
          <p:cNvPr id="12" name="">
            <a:extLst xmlns:a="http://schemas.openxmlformats.org/drawingml/2006/main">
              <a:ext uri="{FF2B5EF4-FFF2-40B4-BE49-F238E27FC236}">
                <a16:creationId xmlns:a16="http://schemas.microsoft.com/office/drawing/2014/main" id="{D3F114C7-D780-44F8-A976-6D90CFF2E462}"/>
              </a:ext>
            </a:extLst>
          </p:cNvPr>
          <p:cNvSpPr>
            <a:spLocks xmlns:a="http://schemas.openxmlformats.org/drawingml/2006/main" noGrp="1"/>
          </p:cNvSpPr>
          <p:nvPr/>
        </p:nvSpPr>
        <p:spPr>
          <a:xfrm xmlns:a="http://schemas.openxmlformats.org/drawingml/2006/main">
            <a:off x="5334000" y="14668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기업·공장</a:t>
            </a:r>
          </a:p>
        </p:txBody>
      </p:sp>
      <p:sp>
        <p:nvSpPr>
          <p:cNvPr id="13" name="">
            <a:extLst xmlns:a="http://schemas.openxmlformats.org/drawingml/2006/main">
              <a:ext uri="{FF2B5EF4-FFF2-40B4-BE49-F238E27FC236}">
                <a16:creationId xmlns:a16="http://schemas.microsoft.com/office/drawing/2014/main" id="{AE3F50CF-BF17-41BC-A1AC-CA4098E0040E}"/>
              </a:ext>
            </a:extLst>
          </p:cNvPr>
          <p:cNvSpPr>
            <a:spLocks xmlns:a="http://schemas.openxmlformats.org/drawingml/2006/main" noGrp="1"/>
          </p:cNvSpPr>
          <p:nvPr/>
        </p:nvSpPr>
        <p:spPr>
          <a:xfrm xmlns:a="http://schemas.openxmlformats.org/drawingml/2006/main">
            <a:off x="8362950" y="14668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한국산업단지공단</a:t>
            </a:r>
          </a:p>
        </p:txBody>
      </p:sp>
      <p:sp>
        <p:nvSpPr>
          <p:cNvPr id="14" name="">
            <a:extLst xmlns:a="http://schemas.openxmlformats.org/drawingml/2006/main">
              <a:ext uri="{FF2B5EF4-FFF2-40B4-BE49-F238E27FC236}">
                <a16:creationId xmlns:a16="http://schemas.microsoft.com/office/drawing/2014/main" id="{5EC92F7F-20A1-4E22-8350-BB01D73A3AB2}"/>
              </a:ext>
            </a:extLst>
          </p:cNvPr>
          <p:cNvSpPr>
            <a:spLocks xmlns:a="http://schemas.openxmlformats.org/drawingml/2006/main" noGrp="1"/>
          </p:cNvSpPr>
          <p:nvPr/>
        </p:nvSpPr>
        <p:spPr>
          <a:xfrm xmlns:a="http://schemas.openxmlformats.org/drawingml/2006/main">
            <a:off x="4762500" y="2019300"/>
            <a:ext cx="65913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15" name="">
            <a:extLst xmlns:a="http://schemas.openxmlformats.org/drawingml/2006/main">
              <a:ext uri="{FF2B5EF4-FFF2-40B4-BE49-F238E27FC236}">
                <a16:creationId xmlns:a16="http://schemas.microsoft.com/office/drawing/2014/main" id="{EF1A2A05-E08A-45E7-B24E-7B6E096DF62D}"/>
              </a:ext>
            </a:extLst>
          </p:cNvPr>
          <p:cNvSpPr>
            <a:spLocks xmlns:a="http://schemas.openxmlformats.org/drawingml/2006/main" noGrp="1"/>
          </p:cNvSpPr>
          <p:nvPr/>
        </p:nvSpPr>
        <p:spPr>
          <a:xfrm xmlns:a="http://schemas.openxmlformats.org/drawingml/2006/main">
            <a:off x="4762500" y="2362200"/>
            <a:ext cx="419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02</a:t>
            </a:r>
          </a:p>
        </p:txBody>
      </p:sp>
      <p:sp>
        <p:nvSpPr>
          <p:cNvPr id="16" name="">
            <a:extLst xmlns:a="http://schemas.openxmlformats.org/drawingml/2006/main">
              <a:ext uri="{FF2B5EF4-FFF2-40B4-BE49-F238E27FC236}">
                <a16:creationId xmlns:a16="http://schemas.microsoft.com/office/drawing/2014/main" id="{08AD3E2C-0054-49DD-9245-A3CBF4286B06}"/>
              </a:ext>
            </a:extLst>
          </p:cNvPr>
          <p:cNvSpPr>
            <a:spLocks xmlns:a="http://schemas.openxmlformats.org/drawingml/2006/main" noGrp="1"/>
          </p:cNvSpPr>
          <p:nvPr/>
        </p:nvSpPr>
        <p:spPr>
          <a:xfrm xmlns:a="http://schemas.openxmlformats.org/drawingml/2006/main">
            <a:off x="5334000" y="23622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시장·인증·규제</a:t>
            </a:r>
          </a:p>
        </p:txBody>
      </p:sp>
      <p:sp>
        <p:nvSpPr>
          <p:cNvPr id="17" name="">
            <a:extLst xmlns:a="http://schemas.openxmlformats.org/drawingml/2006/main">
              <a:ext uri="{FF2B5EF4-FFF2-40B4-BE49-F238E27FC236}">
                <a16:creationId xmlns:a16="http://schemas.microsoft.com/office/drawing/2014/main" id="{6396C840-5844-4393-A11F-FFCB8BF36A3E}"/>
              </a:ext>
            </a:extLst>
          </p:cNvPr>
          <p:cNvSpPr>
            <a:spLocks xmlns:a="http://schemas.openxmlformats.org/drawingml/2006/main" noGrp="1"/>
          </p:cNvSpPr>
          <p:nvPr/>
        </p:nvSpPr>
        <p:spPr>
          <a:xfrm xmlns:a="http://schemas.openxmlformats.org/drawingml/2006/main">
            <a:off x="8362950" y="23622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KOTRA</a:t>
            </a:r>
          </a:p>
        </p:txBody>
      </p:sp>
      <p:sp>
        <p:nvSpPr>
          <p:cNvPr id="18" name="">
            <a:extLst xmlns:a="http://schemas.openxmlformats.org/drawingml/2006/main">
              <a:ext uri="{FF2B5EF4-FFF2-40B4-BE49-F238E27FC236}">
                <a16:creationId xmlns:a16="http://schemas.microsoft.com/office/drawing/2014/main" id="{9557EA3F-6A2A-4D66-8C65-7CA3B1FBF943}"/>
              </a:ext>
            </a:extLst>
          </p:cNvPr>
          <p:cNvSpPr>
            <a:spLocks xmlns:a="http://schemas.openxmlformats.org/drawingml/2006/main" noGrp="1"/>
          </p:cNvSpPr>
          <p:nvPr/>
        </p:nvSpPr>
        <p:spPr>
          <a:xfrm xmlns:a="http://schemas.openxmlformats.org/drawingml/2006/main">
            <a:off x="4762500" y="2914650"/>
            <a:ext cx="65913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19" name="">
            <a:extLst xmlns:a="http://schemas.openxmlformats.org/drawingml/2006/main">
              <a:ext uri="{FF2B5EF4-FFF2-40B4-BE49-F238E27FC236}">
                <a16:creationId xmlns:a16="http://schemas.microsoft.com/office/drawing/2014/main" id="{F10D1F3A-89B1-4892-8928-077F9A7F7D51}"/>
              </a:ext>
            </a:extLst>
          </p:cNvPr>
          <p:cNvSpPr>
            <a:spLocks xmlns:a="http://schemas.openxmlformats.org/drawingml/2006/main" noGrp="1"/>
          </p:cNvSpPr>
          <p:nvPr/>
        </p:nvSpPr>
        <p:spPr>
          <a:xfrm xmlns:a="http://schemas.openxmlformats.org/drawingml/2006/main">
            <a:off x="4762500" y="3257550"/>
            <a:ext cx="419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03</a:t>
            </a:r>
          </a:p>
        </p:txBody>
      </p:sp>
      <p:sp>
        <p:nvSpPr>
          <p:cNvPr id="20" name="">
            <a:extLst xmlns:a="http://schemas.openxmlformats.org/drawingml/2006/main">
              <a:ext uri="{FF2B5EF4-FFF2-40B4-BE49-F238E27FC236}">
                <a16:creationId xmlns:a16="http://schemas.microsoft.com/office/drawing/2014/main" id="{3CB44931-0887-4014-A6FB-0D36326EA535}"/>
              </a:ext>
            </a:extLst>
          </p:cNvPr>
          <p:cNvSpPr>
            <a:spLocks xmlns:a="http://schemas.openxmlformats.org/drawingml/2006/main" noGrp="1"/>
          </p:cNvSpPr>
          <p:nvPr/>
        </p:nvSpPr>
        <p:spPr>
          <a:xfrm xmlns:a="http://schemas.openxmlformats.org/drawingml/2006/main">
            <a:off x="5334000" y="32575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국가·업종·결제</a:t>
            </a:r>
          </a:p>
        </p:txBody>
      </p:sp>
      <p:sp>
        <p:nvSpPr>
          <p:cNvPr id="21" name="">
            <a:extLst xmlns:a="http://schemas.openxmlformats.org/drawingml/2006/main">
              <a:ext uri="{FF2B5EF4-FFF2-40B4-BE49-F238E27FC236}">
                <a16:creationId xmlns:a16="http://schemas.microsoft.com/office/drawing/2014/main" id="{58D77146-C720-4B96-88C0-AD8C8A36F441}"/>
              </a:ext>
            </a:extLst>
          </p:cNvPr>
          <p:cNvSpPr>
            <a:spLocks xmlns:a="http://schemas.openxmlformats.org/drawingml/2006/main" noGrp="1"/>
          </p:cNvSpPr>
          <p:nvPr/>
        </p:nvSpPr>
        <p:spPr>
          <a:xfrm xmlns:a="http://schemas.openxmlformats.org/drawingml/2006/main">
            <a:off x="8362950" y="325755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K-SURE</a:t>
            </a:r>
          </a:p>
        </p:txBody>
      </p:sp>
      <p:sp>
        <p:nvSpPr>
          <p:cNvPr id="22" name="">
            <a:extLst xmlns:a="http://schemas.openxmlformats.org/drawingml/2006/main">
              <a:ext uri="{FF2B5EF4-FFF2-40B4-BE49-F238E27FC236}">
                <a16:creationId xmlns:a16="http://schemas.microsoft.com/office/drawing/2014/main" id="{7F2FD9CA-AA42-44BE-9526-D47D40C502D0}"/>
              </a:ext>
            </a:extLst>
          </p:cNvPr>
          <p:cNvSpPr>
            <a:spLocks xmlns:a="http://schemas.openxmlformats.org/drawingml/2006/main" noGrp="1"/>
          </p:cNvSpPr>
          <p:nvPr/>
        </p:nvSpPr>
        <p:spPr>
          <a:xfrm xmlns:a="http://schemas.openxmlformats.org/drawingml/2006/main">
            <a:off x="4762500" y="3810000"/>
            <a:ext cx="65913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3" name="">
            <a:extLst xmlns:a="http://schemas.openxmlformats.org/drawingml/2006/main">
              <a:ext uri="{FF2B5EF4-FFF2-40B4-BE49-F238E27FC236}">
                <a16:creationId xmlns:a16="http://schemas.microsoft.com/office/drawing/2014/main" id="{7B121D50-ABBF-4023-B767-CF37998E6C0A}"/>
              </a:ext>
            </a:extLst>
          </p:cNvPr>
          <p:cNvSpPr>
            <a:spLocks xmlns:a="http://schemas.openxmlformats.org/drawingml/2006/main" noGrp="1"/>
          </p:cNvSpPr>
          <p:nvPr/>
        </p:nvSpPr>
        <p:spPr>
          <a:xfrm xmlns:a="http://schemas.openxmlformats.org/drawingml/2006/main">
            <a:off x="4762500" y="4152900"/>
            <a:ext cx="419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04</a:t>
            </a:r>
          </a:p>
        </p:txBody>
      </p:sp>
      <p:sp>
        <p:nvSpPr>
          <p:cNvPr id="24" name="">
            <a:extLst xmlns:a="http://schemas.openxmlformats.org/drawingml/2006/main">
              <a:ext uri="{FF2B5EF4-FFF2-40B4-BE49-F238E27FC236}">
                <a16:creationId xmlns:a16="http://schemas.microsoft.com/office/drawing/2014/main" id="{F7E2C115-F7E2-4CC1-9719-332DD19BCEAE}"/>
              </a:ext>
            </a:extLst>
          </p:cNvPr>
          <p:cNvSpPr>
            <a:spLocks xmlns:a="http://schemas.openxmlformats.org/drawingml/2006/main" noGrp="1"/>
          </p:cNvSpPr>
          <p:nvPr/>
        </p:nvSpPr>
        <p:spPr>
          <a:xfrm xmlns:a="http://schemas.openxmlformats.org/drawingml/2006/main">
            <a:off x="5334000" y="41529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세번·전략물자·안전</a:t>
            </a:r>
          </a:p>
        </p:txBody>
      </p:sp>
      <p:sp>
        <p:nvSpPr>
          <p:cNvPr id="25" name="">
            <a:extLst xmlns:a="http://schemas.openxmlformats.org/drawingml/2006/main">
              <a:ext uri="{FF2B5EF4-FFF2-40B4-BE49-F238E27FC236}">
                <a16:creationId xmlns:a16="http://schemas.microsoft.com/office/drawing/2014/main" id="{06CCD0FA-FA81-4612-9368-E55843CCD5D8}"/>
              </a:ext>
            </a:extLst>
          </p:cNvPr>
          <p:cNvSpPr>
            <a:spLocks xmlns:a="http://schemas.openxmlformats.org/drawingml/2006/main" noGrp="1"/>
          </p:cNvSpPr>
          <p:nvPr/>
        </p:nvSpPr>
        <p:spPr>
          <a:xfrm xmlns:a="http://schemas.openxmlformats.org/drawingml/2006/main">
            <a:off x="8362950" y="41529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관세청·KOSTI·SafetyKorea</a:t>
            </a:r>
          </a:p>
        </p:txBody>
      </p:sp>
      <p:sp>
        <p:nvSpPr>
          <p:cNvPr id="26" name="">
            <a:extLst xmlns:a="http://schemas.openxmlformats.org/drawingml/2006/main">
              <a:ext uri="{FF2B5EF4-FFF2-40B4-BE49-F238E27FC236}">
                <a16:creationId xmlns:a16="http://schemas.microsoft.com/office/drawing/2014/main" id="{EAA07AD4-B63F-4A88-A396-3D594D58E301}"/>
              </a:ext>
            </a:extLst>
          </p:cNvPr>
          <p:cNvSpPr>
            <a:spLocks xmlns:a="http://schemas.openxmlformats.org/drawingml/2006/main" noGrp="1"/>
          </p:cNvSpPr>
          <p:nvPr/>
        </p:nvSpPr>
        <p:spPr>
          <a:xfrm xmlns:a="http://schemas.openxmlformats.org/drawingml/2006/main">
            <a:off x="4762500" y="4705350"/>
            <a:ext cx="65913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7" name="">
            <a:extLst xmlns:a="http://schemas.openxmlformats.org/drawingml/2006/main">
              <a:ext uri="{FF2B5EF4-FFF2-40B4-BE49-F238E27FC236}">
                <a16:creationId xmlns:a16="http://schemas.microsoft.com/office/drawing/2014/main" id="{8AE78EE5-8852-405B-8C90-18808C7DA262}"/>
              </a:ext>
            </a:extLst>
          </p:cNvPr>
          <p:cNvSpPr>
            <a:spLocks xmlns:a="http://schemas.openxmlformats.org/drawingml/2006/main" noGrp="1"/>
          </p:cNvSpPr>
          <p:nvPr/>
        </p:nvSpPr>
        <p:spPr>
          <a:xfrm xmlns:a="http://schemas.openxmlformats.org/drawingml/2006/main">
            <a:off x="4648200" y="5295900"/>
            <a:ext cx="6819900" cy="723900"/>
          </a:xfrm>
          <a:prstGeom xmlns:a="http://schemas.openxmlformats.org/drawingml/2006/main" prst="roundRect">
            <a:avLst>
              <a:gd name="adj" fmla="val 15789"/>
            </a:avLst>
          </a:prstGeom>
          <a:solidFill xmlns:a="http://schemas.openxmlformats.org/drawingml/2006/main">
            <a:srgbClr val="051C2C"/>
          </a:solidFill>
          <a:ln xmlns:a="http://schemas.openxmlformats.org/drawingml/2006/main" w="0">
            <a:solidFill>
              <a:srgbClr val="051C2C"/>
            </a:solidFill>
            <a:prstDash val="solid"/>
          </a:ln>
        </p:spPr>
      </p:sp>
      <p:sp>
        <p:nvSpPr>
          <p:cNvPr id="28" name="">
            <a:extLst xmlns:a="http://schemas.openxmlformats.org/drawingml/2006/main">
              <a:ext uri="{FF2B5EF4-FFF2-40B4-BE49-F238E27FC236}">
                <a16:creationId xmlns:a16="http://schemas.microsoft.com/office/drawing/2014/main" id="{01F68628-E7FE-4782-A3DC-DCAA6AAC0A74}"/>
              </a:ext>
            </a:extLst>
          </p:cNvPr>
          <p:cNvSpPr>
            <a:spLocks xmlns:a="http://schemas.openxmlformats.org/drawingml/2006/main" noGrp="1"/>
          </p:cNvSpPr>
          <p:nvPr/>
        </p:nvSpPr>
        <p:spPr>
          <a:xfrm xmlns:a="http://schemas.openxmlformats.org/drawingml/2006/main">
            <a:off x="4953000" y="5410200"/>
            <a:ext cx="6210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정보 부족이 아니라, 기업·품목 기준의 판단 흐름이 끊겨 있습니다.</a:t>
            </a:r>
          </a:p>
        </p:txBody>
      </p:sp>
    </p:spTree>
    <p:extLst>
      <p:ext uri="{BB962C8B-B14F-4D97-AF65-F5344CB8AC3E}">
        <p14:creationId xmlns:p14="http://schemas.microsoft.com/office/powerpoint/2010/main" val="11434181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F93A312B-8BE5-4F48-8349-6A01B74A1E6A}"/>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WHY NOW</a:t>
            </a:r>
          </a:p>
        </p:txBody>
      </p:sp>
      <p:sp>
        <p:nvSpPr>
          <p:cNvPr id="2" name="slide-3-title">
            <a:extLst xmlns:a="http://schemas.openxmlformats.org/drawingml/2006/main">
              <a:ext uri="{FF2B5EF4-FFF2-40B4-BE49-F238E27FC236}">
                <a16:creationId xmlns:a16="http://schemas.microsoft.com/office/drawing/2014/main" id="{32E03EEB-2BBB-4366-8FCA-530039882179}"/>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기존 대안은 정확성·속도·실행성 중 하나에서 멈춥니다</a:t>
            </a:r>
          </a:p>
        </p:txBody>
      </p:sp>
      <p:sp>
        <p:nvSpPr>
          <p:cNvPr id="3" name="">
            <a:extLst xmlns:a="http://schemas.openxmlformats.org/drawingml/2006/main">
              <a:ext uri="{FF2B5EF4-FFF2-40B4-BE49-F238E27FC236}">
                <a16:creationId xmlns:a16="http://schemas.microsoft.com/office/drawing/2014/main" id="{2D5B4728-0241-4086-9D97-472199806667}"/>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A50F581A-67CE-41CB-BEC5-A9FA5F741ADA}"/>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0F93DF37-BD2D-4CB4-8F61-97EFEF6063C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ED439C95-AD71-4226-889A-E3DEAD4CA8D0}"/>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대표 대안 유형의 업무 적합성 정성 비교</a:t>
            </a:r>
          </a:p>
        </p:txBody>
      </p:sp>
      <p:sp>
        <p:nvSpPr>
          <p:cNvPr id="7" name="">
            <a:extLst xmlns:a="http://schemas.openxmlformats.org/drawingml/2006/main">
              <a:ext uri="{FF2B5EF4-FFF2-40B4-BE49-F238E27FC236}">
                <a16:creationId xmlns:a16="http://schemas.microsoft.com/office/drawing/2014/main" id="{C424C98B-57FF-4530-9DC9-97361412AE2B}"/>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03</a:t>
            </a:r>
          </a:p>
        </p:txBody>
      </p:sp>
      <p:sp>
        <p:nvSpPr>
          <p:cNvPr id="8" name="">
            <a:extLst xmlns:a="http://schemas.openxmlformats.org/drawingml/2006/main">
              <a:ext uri="{FF2B5EF4-FFF2-40B4-BE49-F238E27FC236}">
                <a16:creationId xmlns:a16="http://schemas.microsoft.com/office/drawing/2014/main" id="{93820CD3-8298-4718-96E3-2314FE601A28}"/>
              </a:ext>
            </a:extLst>
          </p:cNvPr>
          <p:cNvSpPr>
            <a:spLocks xmlns:a="http://schemas.openxmlformats.org/drawingml/2006/main" noGrp="1"/>
          </p:cNvSpPr>
          <p:nvPr/>
        </p:nvSpPr>
        <p:spPr>
          <a:xfrm xmlns:a="http://schemas.openxmlformats.org/drawingml/2006/main">
            <a:off x="609600" y="1428750"/>
            <a:ext cx="2743200" cy="533400"/>
          </a:xfrm>
          <a:prstGeom xmlns:a="http://schemas.openxmlformats.org/drawingml/2006/main" prst="rect">
            <a:avLst/>
          </a:prstGeom>
          <a:solidFill xmlns:a="http://schemas.openxmlformats.org/drawingml/2006/main">
            <a:srgbClr val="F3F6F7"/>
          </a:solidFill>
          <a:ln xmlns:a="http://schemas.openxmlformats.org/drawingml/2006/main" w="9525">
            <a:solidFill>
              <a:srgbClr val="D7DEE2"/>
            </a:solidFill>
            <a:prstDash val="solid"/>
          </a:ln>
        </p:spPr>
      </p:sp>
      <p:sp>
        <p:nvSpPr>
          <p:cNvPr id="9" name="">
            <a:extLst xmlns:a="http://schemas.openxmlformats.org/drawingml/2006/main">
              <a:ext uri="{FF2B5EF4-FFF2-40B4-BE49-F238E27FC236}">
                <a16:creationId xmlns:a16="http://schemas.microsoft.com/office/drawing/2014/main" id="{049A32AF-D44E-46CE-8F79-FF7492083117}"/>
              </a:ext>
            </a:extLst>
          </p:cNvPr>
          <p:cNvSpPr>
            <a:spLocks xmlns:a="http://schemas.openxmlformats.org/drawingml/2006/main" noGrp="1"/>
          </p:cNvSpPr>
          <p:nvPr/>
        </p:nvSpPr>
        <p:spPr>
          <a:xfrm xmlns:a="http://schemas.openxmlformats.org/drawingml/2006/main">
            <a:off x="685800" y="1428750"/>
            <a:ext cx="2590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비교 기준</a:t>
            </a:r>
          </a:p>
        </p:txBody>
      </p:sp>
      <p:sp>
        <p:nvSpPr>
          <p:cNvPr id="10" name="">
            <a:extLst xmlns:a="http://schemas.openxmlformats.org/drawingml/2006/main">
              <a:ext uri="{FF2B5EF4-FFF2-40B4-BE49-F238E27FC236}">
                <a16:creationId xmlns:a16="http://schemas.microsoft.com/office/drawing/2014/main" id="{6149F7D2-5ADF-49AF-A392-3E7A2AE9A5A1}"/>
              </a:ext>
            </a:extLst>
          </p:cNvPr>
          <p:cNvSpPr>
            <a:spLocks xmlns:a="http://schemas.openxmlformats.org/drawingml/2006/main" noGrp="1"/>
          </p:cNvSpPr>
          <p:nvPr/>
        </p:nvSpPr>
        <p:spPr>
          <a:xfrm xmlns:a="http://schemas.openxmlformats.org/drawingml/2006/main">
            <a:off x="3352800" y="1428750"/>
            <a:ext cx="2743200" cy="533400"/>
          </a:xfrm>
          <a:prstGeom xmlns:a="http://schemas.openxmlformats.org/drawingml/2006/main" prst="rect">
            <a:avLst/>
          </a:prstGeom>
          <a:solidFill xmlns:a="http://schemas.openxmlformats.org/drawingml/2006/main">
            <a:srgbClr val="F3F6F7"/>
          </a:solidFill>
          <a:ln xmlns:a="http://schemas.openxmlformats.org/drawingml/2006/main" w="9525">
            <a:solidFill>
              <a:srgbClr val="D7DEE2"/>
            </a:solidFill>
            <a:prstDash val="solid"/>
          </a:ln>
        </p:spPr>
      </p:sp>
      <p:sp>
        <p:nvSpPr>
          <p:cNvPr id="11" name="">
            <a:extLst xmlns:a="http://schemas.openxmlformats.org/drawingml/2006/main">
              <a:ext uri="{FF2B5EF4-FFF2-40B4-BE49-F238E27FC236}">
                <a16:creationId xmlns:a16="http://schemas.microsoft.com/office/drawing/2014/main" id="{BFA6F765-2D99-4A17-B296-D188AE903FCB}"/>
              </a:ext>
            </a:extLst>
          </p:cNvPr>
          <p:cNvSpPr>
            <a:spLocks xmlns:a="http://schemas.openxmlformats.org/drawingml/2006/main" noGrp="1"/>
          </p:cNvSpPr>
          <p:nvPr/>
        </p:nvSpPr>
        <p:spPr>
          <a:xfrm xmlns:a="http://schemas.openxmlformats.org/drawingml/2006/main">
            <a:off x="3429000" y="1428750"/>
            <a:ext cx="2590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정보 포털</a:t>
            </a:r>
          </a:p>
        </p:txBody>
      </p:sp>
      <p:sp>
        <p:nvSpPr>
          <p:cNvPr id="12" name="">
            <a:extLst xmlns:a="http://schemas.openxmlformats.org/drawingml/2006/main">
              <a:ext uri="{FF2B5EF4-FFF2-40B4-BE49-F238E27FC236}">
                <a16:creationId xmlns:a16="http://schemas.microsoft.com/office/drawing/2014/main" id="{AC57AD7C-9B1E-4BC3-91BE-DE430C14063D}"/>
              </a:ext>
            </a:extLst>
          </p:cNvPr>
          <p:cNvSpPr>
            <a:spLocks xmlns:a="http://schemas.openxmlformats.org/drawingml/2006/main" noGrp="1"/>
          </p:cNvSpPr>
          <p:nvPr/>
        </p:nvSpPr>
        <p:spPr>
          <a:xfrm xmlns:a="http://schemas.openxmlformats.org/drawingml/2006/main">
            <a:off x="6096000" y="1428750"/>
            <a:ext cx="2743200" cy="533400"/>
          </a:xfrm>
          <a:prstGeom xmlns:a="http://schemas.openxmlformats.org/drawingml/2006/main" prst="rect">
            <a:avLst/>
          </a:prstGeom>
          <a:solidFill xmlns:a="http://schemas.openxmlformats.org/drawingml/2006/main">
            <a:srgbClr val="F3F6F7"/>
          </a:solidFill>
          <a:ln xmlns:a="http://schemas.openxmlformats.org/drawingml/2006/main" w="9525">
            <a:solidFill>
              <a:srgbClr val="D7DEE2"/>
            </a:solidFill>
            <a:prstDash val="solid"/>
          </a:ln>
        </p:spPr>
      </p:sp>
      <p:sp>
        <p:nvSpPr>
          <p:cNvPr id="13" name="">
            <a:extLst xmlns:a="http://schemas.openxmlformats.org/drawingml/2006/main">
              <a:ext uri="{FF2B5EF4-FFF2-40B4-BE49-F238E27FC236}">
                <a16:creationId xmlns:a16="http://schemas.microsoft.com/office/drawing/2014/main" id="{84EBCE1C-F793-4487-92DE-97B96FCC7995}"/>
              </a:ext>
            </a:extLst>
          </p:cNvPr>
          <p:cNvSpPr>
            <a:spLocks xmlns:a="http://schemas.openxmlformats.org/drawingml/2006/main" noGrp="1"/>
          </p:cNvSpPr>
          <p:nvPr/>
        </p:nvSpPr>
        <p:spPr>
          <a:xfrm xmlns:a="http://schemas.openxmlformats.org/drawingml/2006/main">
            <a:off x="6172200" y="1428750"/>
            <a:ext cx="2590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일반 생성형 AI</a:t>
            </a:r>
          </a:p>
        </p:txBody>
      </p:sp>
      <p:sp>
        <p:nvSpPr>
          <p:cNvPr id="14" name="">
            <a:extLst xmlns:a="http://schemas.openxmlformats.org/drawingml/2006/main">
              <a:ext uri="{FF2B5EF4-FFF2-40B4-BE49-F238E27FC236}">
                <a16:creationId xmlns:a16="http://schemas.microsoft.com/office/drawing/2014/main" id="{581F034C-2C04-4567-8806-7DE81508FA72}"/>
              </a:ext>
            </a:extLst>
          </p:cNvPr>
          <p:cNvSpPr>
            <a:spLocks xmlns:a="http://schemas.openxmlformats.org/drawingml/2006/main" noGrp="1"/>
          </p:cNvSpPr>
          <p:nvPr/>
        </p:nvSpPr>
        <p:spPr>
          <a:xfrm xmlns:a="http://schemas.openxmlformats.org/drawingml/2006/main">
            <a:off x="8839200" y="1428750"/>
            <a:ext cx="2743200" cy="533400"/>
          </a:xfrm>
          <a:prstGeom xmlns:a="http://schemas.openxmlformats.org/drawingml/2006/main" prst="rect">
            <a:avLst/>
          </a:prstGeom>
          <a:solidFill xmlns:a="http://schemas.openxmlformats.org/drawingml/2006/main">
            <a:srgbClr val="051C2C"/>
          </a:solidFill>
          <a:ln xmlns:a="http://schemas.openxmlformats.org/drawingml/2006/main" w="9525">
            <a:solidFill>
              <a:srgbClr val="051C2C"/>
            </a:solidFill>
            <a:prstDash val="solid"/>
          </a:ln>
        </p:spPr>
      </p:sp>
      <p:sp>
        <p:nvSpPr>
          <p:cNvPr id="15" name="">
            <a:extLst xmlns:a="http://schemas.openxmlformats.org/drawingml/2006/main">
              <a:ext uri="{FF2B5EF4-FFF2-40B4-BE49-F238E27FC236}">
                <a16:creationId xmlns:a16="http://schemas.microsoft.com/office/drawing/2014/main" id="{95F07AD3-F3DB-428C-B160-7A684727F8C7}"/>
              </a:ext>
            </a:extLst>
          </p:cNvPr>
          <p:cNvSpPr>
            <a:spLocks xmlns:a="http://schemas.openxmlformats.org/drawingml/2006/main" noGrp="1"/>
          </p:cNvSpPr>
          <p:nvPr/>
        </p:nvSpPr>
        <p:spPr>
          <a:xfrm xmlns:a="http://schemas.openxmlformats.org/drawingml/2006/main">
            <a:off x="8915400" y="1428750"/>
            <a:ext cx="2590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Noto Sans KR"/>
                <a:ea typeface="Noto Sans KR"/>
                <a:cs typeface="Noto Sans KR"/>
              </a:defRPr>
            </a:pPr>
            <a:r>
              <a:rPr sz="1200" b="1">
                <a:solidFill>
                  <a:srgbClr val="FFFFFF"/>
                </a:solidFill>
                <a:latin typeface="Noto Sans KR"/>
                <a:ea typeface="Noto Sans KR"/>
                <a:cs typeface="Noto Sans KR"/>
              </a:rPr>
              <a:t>산단수출 코파일럿</a:t>
            </a:r>
          </a:p>
        </p:txBody>
      </p:sp>
      <p:sp>
        <p:nvSpPr>
          <p:cNvPr id="16" name="">
            <a:extLst xmlns:a="http://schemas.openxmlformats.org/drawingml/2006/main">
              <a:ext uri="{FF2B5EF4-FFF2-40B4-BE49-F238E27FC236}">
                <a16:creationId xmlns:a16="http://schemas.microsoft.com/office/drawing/2014/main" id="{A90F057D-8C30-4366-BD73-ADD35D0C09BB}"/>
              </a:ext>
            </a:extLst>
          </p:cNvPr>
          <p:cNvSpPr>
            <a:spLocks xmlns:a="http://schemas.openxmlformats.org/drawingml/2006/main" noGrp="1"/>
          </p:cNvSpPr>
          <p:nvPr/>
        </p:nvSpPr>
        <p:spPr>
          <a:xfrm xmlns:a="http://schemas.openxmlformats.org/drawingml/2006/main">
            <a:off x="609600" y="19621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17" name="">
            <a:extLst xmlns:a="http://schemas.openxmlformats.org/drawingml/2006/main">
              <a:ext uri="{FF2B5EF4-FFF2-40B4-BE49-F238E27FC236}">
                <a16:creationId xmlns:a16="http://schemas.microsoft.com/office/drawing/2014/main" id="{CA354D18-2E3B-4CDC-B185-E041AEE9CF4B}"/>
              </a:ext>
            </a:extLst>
          </p:cNvPr>
          <p:cNvSpPr>
            <a:spLocks xmlns:a="http://schemas.openxmlformats.org/drawingml/2006/main" noGrp="1"/>
          </p:cNvSpPr>
          <p:nvPr/>
        </p:nvSpPr>
        <p:spPr>
          <a:xfrm xmlns:a="http://schemas.openxmlformats.org/drawingml/2006/main">
            <a:off x="704850" y="19621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정확한 공식 근거</a:t>
            </a:r>
          </a:p>
        </p:txBody>
      </p:sp>
      <p:sp>
        <p:nvSpPr>
          <p:cNvPr id="18" name="">
            <a:extLst xmlns:a="http://schemas.openxmlformats.org/drawingml/2006/main">
              <a:ext uri="{FF2B5EF4-FFF2-40B4-BE49-F238E27FC236}">
                <a16:creationId xmlns:a16="http://schemas.microsoft.com/office/drawing/2014/main" id="{023AB44D-B736-4152-8D99-9521D6B94F0A}"/>
              </a:ext>
            </a:extLst>
          </p:cNvPr>
          <p:cNvSpPr>
            <a:spLocks xmlns:a="http://schemas.openxmlformats.org/drawingml/2006/main" noGrp="1"/>
          </p:cNvSpPr>
          <p:nvPr/>
        </p:nvSpPr>
        <p:spPr>
          <a:xfrm xmlns:a="http://schemas.openxmlformats.org/drawingml/2006/main">
            <a:off x="3352800" y="19621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19" name="">
            <a:extLst xmlns:a="http://schemas.openxmlformats.org/drawingml/2006/main">
              <a:ext uri="{FF2B5EF4-FFF2-40B4-BE49-F238E27FC236}">
                <a16:creationId xmlns:a16="http://schemas.microsoft.com/office/drawing/2014/main" id="{C00FB101-F3B8-4624-B3E9-B06FF821CC5B}"/>
              </a:ext>
            </a:extLst>
          </p:cNvPr>
          <p:cNvSpPr>
            <a:spLocks xmlns:a="http://schemas.openxmlformats.org/drawingml/2006/main" noGrp="1"/>
          </p:cNvSpPr>
          <p:nvPr/>
        </p:nvSpPr>
        <p:spPr>
          <a:xfrm xmlns:a="http://schemas.openxmlformats.org/drawingml/2006/main">
            <a:off x="3448050" y="19621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0">
                <a:solidFill>
                  <a:srgbClr val="007A53"/>
                </a:solidFill>
                <a:latin typeface="Noto Sans KR"/>
                <a:ea typeface="Noto Sans KR"/>
                <a:cs typeface="Noto Sans KR"/>
              </a:defRPr>
            </a:pPr>
            <a:r>
              <a:rPr sz="1950" b="0">
                <a:solidFill>
                  <a:srgbClr val="007A53"/>
                </a:solidFill>
                <a:latin typeface="Noto Sans KR"/>
                <a:ea typeface="Noto Sans KR"/>
                <a:cs typeface="Noto Sans KR"/>
              </a:rPr>
              <a:t>●</a:t>
            </a:r>
          </a:p>
        </p:txBody>
      </p:sp>
      <p:sp>
        <p:nvSpPr>
          <p:cNvPr id="20" name="">
            <a:extLst xmlns:a="http://schemas.openxmlformats.org/drawingml/2006/main">
              <a:ext uri="{FF2B5EF4-FFF2-40B4-BE49-F238E27FC236}">
                <a16:creationId xmlns:a16="http://schemas.microsoft.com/office/drawing/2014/main" id="{0159F676-2005-4EAF-AFE0-4AB7F3612381}"/>
              </a:ext>
            </a:extLst>
          </p:cNvPr>
          <p:cNvSpPr>
            <a:spLocks xmlns:a="http://schemas.openxmlformats.org/drawingml/2006/main" noGrp="1"/>
          </p:cNvSpPr>
          <p:nvPr/>
        </p:nvSpPr>
        <p:spPr>
          <a:xfrm xmlns:a="http://schemas.openxmlformats.org/drawingml/2006/main">
            <a:off x="6096000" y="19621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21" name="">
            <a:extLst xmlns:a="http://schemas.openxmlformats.org/drawingml/2006/main">
              <a:ext uri="{FF2B5EF4-FFF2-40B4-BE49-F238E27FC236}">
                <a16:creationId xmlns:a16="http://schemas.microsoft.com/office/drawing/2014/main" id="{A8B74D0B-B483-426C-8111-1FCCA17680F1}"/>
              </a:ext>
            </a:extLst>
          </p:cNvPr>
          <p:cNvSpPr>
            <a:spLocks xmlns:a="http://schemas.openxmlformats.org/drawingml/2006/main" noGrp="1"/>
          </p:cNvSpPr>
          <p:nvPr/>
        </p:nvSpPr>
        <p:spPr>
          <a:xfrm xmlns:a="http://schemas.openxmlformats.org/drawingml/2006/main">
            <a:off x="6191250" y="19621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22" name="">
            <a:extLst xmlns:a="http://schemas.openxmlformats.org/drawingml/2006/main">
              <a:ext uri="{FF2B5EF4-FFF2-40B4-BE49-F238E27FC236}">
                <a16:creationId xmlns:a16="http://schemas.microsoft.com/office/drawing/2014/main" id="{BF699216-F87C-4A06-8474-32A3CB802B66}"/>
              </a:ext>
            </a:extLst>
          </p:cNvPr>
          <p:cNvSpPr>
            <a:spLocks xmlns:a="http://schemas.openxmlformats.org/drawingml/2006/main" noGrp="1"/>
          </p:cNvSpPr>
          <p:nvPr/>
        </p:nvSpPr>
        <p:spPr>
          <a:xfrm xmlns:a="http://schemas.openxmlformats.org/drawingml/2006/main">
            <a:off x="8839200" y="1962150"/>
            <a:ext cx="2743200" cy="685800"/>
          </a:xfrm>
          <a:prstGeom xmlns:a="http://schemas.openxmlformats.org/drawingml/2006/main" prst="rect">
            <a:avLst/>
          </a:prstGeom>
          <a:solidFill xmlns:a="http://schemas.openxmlformats.org/drawingml/2006/main">
            <a:srgbClr val="EDF5F3"/>
          </a:solidFill>
          <a:ln xmlns:a="http://schemas.openxmlformats.org/drawingml/2006/main" w="9525">
            <a:solidFill>
              <a:srgbClr val="D7DEE2"/>
            </a:solidFill>
            <a:prstDash val="solid"/>
          </a:ln>
        </p:spPr>
      </p:sp>
      <p:sp>
        <p:nvSpPr>
          <p:cNvPr id="23" name="">
            <a:extLst xmlns:a="http://schemas.openxmlformats.org/drawingml/2006/main">
              <a:ext uri="{FF2B5EF4-FFF2-40B4-BE49-F238E27FC236}">
                <a16:creationId xmlns:a16="http://schemas.microsoft.com/office/drawing/2014/main" id="{A7BDFBDE-D480-4A65-BE64-5DF9B0ED8D02}"/>
              </a:ext>
            </a:extLst>
          </p:cNvPr>
          <p:cNvSpPr>
            <a:spLocks xmlns:a="http://schemas.openxmlformats.org/drawingml/2006/main" noGrp="1"/>
          </p:cNvSpPr>
          <p:nvPr/>
        </p:nvSpPr>
        <p:spPr>
          <a:xfrm xmlns:a="http://schemas.openxmlformats.org/drawingml/2006/main">
            <a:off x="8934450" y="19621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24" name="">
            <a:extLst xmlns:a="http://schemas.openxmlformats.org/drawingml/2006/main">
              <a:ext uri="{FF2B5EF4-FFF2-40B4-BE49-F238E27FC236}">
                <a16:creationId xmlns:a16="http://schemas.microsoft.com/office/drawing/2014/main" id="{2683DE1F-C8AA-4B1C-8AE6-E531AE912FAB}"/>
              </a:ext>
            </a:extLst>
          </p:cNvPr>
          <p:cNvSpPr>
            <a:spLocks xmlns:a="http://schemas.openxmlformats.org/drawingml/2006/main" noGrp="1"/>
          </p:cNvSpPr>
          <p:nvPr/>
        </p:nvSpPr>
        <p:spPr>
          <a:xfrm xmlns:a="http://schemas.openxmlformats.org/drawingml/2006/main">
            <a:off x="609600" y="26479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25" name="">
            <a:extLst xmlns:a="http://schemas.openxmlformats.org/drawingml/2006/main">
              <a:ext uri="{FF2B5EF4-FFF2-40B4-BE49-F238E27FC236}">
                <a16:creationId xmlns:a16="http://schemas.microsoft.com/office/drawing/2014/main" id="{98981FC8-2B98-41AC-A36C-FD204E64BE27}"/>
              </a:ext>
            </a:extLst>
          </p:cNvPr>
          <p:cNvSpPr>
            <a:spLocks xmlns:a="http://schemas.openxmlformats.org/drawingml/2006/main" noGrp="1"/>
          </p:cNvSpPr>
          <p:nvPr/>
        </p:nvSpPr>
        <p:spPr>
          <a:xfrm xmlns:a="http://schemas.openxmlformats.org/drawingml/2006/main">
            <a:off x="704850" y="26479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기업·품목 맥락 유지</a:t>
            </a:r>
          </a:p>
        </p:txBody>
      </p:sp>
      <p:sp>
        <p:nvSpPr>
          <p:cNvPr id="26" name="">
            <a:extLst xmlns:a="http://schemas.openxmlformats.org/drawingml/2006/main">
              <a:ext uri="{FF2B5EF4-FFF2-40B4-BE49-F238E27FC236}">
                <a16:creationId xmlns:a16="http://schemas.microsoft.com/office/drawing/2014/main" id="{7CE931F1-6685-497C-ABCD-001499782D67}"/>
              </a:ext>
            </a:extLst>
          </p:cNvPr>
          <p:cNvSpPr>
            <a:spLocks xmlns:a="http://schemas.openxmlformats.org/drawingml/2006/main" noGrp="1"/>
          </p:cNvSpPr>
          <p:nvPr/>
        </p:nvSpPr>
        <p:spPr>
          <a:xfrm xmlns:a="http://schemas.openxmlformats.org/drawingml/2006/main">
            <a:off x="3352800" y="26479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27" name="">
            <a:extLst xmlns:a="http://schemas.openxmlformats.org/drawingml/2006/main">
              <a:ext uri="{FF2B5EF4-FFF2-40B4-BE49-F238E27FC236}">
                <a16:creationId xmlns:a16="http://schemas.microsoft.com/office/drawing/2014/main" id="{2F5BBD44-21FC-4AC4-AB23-F4C0A23DEB2E}"/>
              </a:ext>
            </a:extLst>
          </p:cNvPr>
          <p:cNvSpPr>
            <a:spLocks xmlns:a="http://schemas.openxmlformats.org/drawingml/2006/main" noGrp="1"/>
          </p:cNvSpPr>
          <p:nvPr/>
        </p:nvSpPr>
        <p:spPr>
          <a:xfrm xmlns:a="http://schemas.openxmlformats.org/drawingml/2006/main">
            <a:off x="3448050" y="26479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28" name="">
            <a:extLst xmlns:a="http://schemas.openxmlformats.org/drawingml/2006/main">
              <a:ext uri="{FF2B5EF4-FFF2-40B4-BE49-F238E27FC236}">
                <a16:creationId xmlns:a16="http://schemas.microsoft.com/office/drawing/2014/main" id="{64590705-5A0B-43DB-8C7E-DF02535AD909}"/>
              </a:ext>
            </a:extLst>
          </p:cNvPr>
          <p:cNvSpPr>
            <a:spLocks xmlns:a="http://schemas.openxmlformats.org/drawingml/2006/main" noGrp="1"/>
          </p:cNvSpPr>
          <p:nvPr/>
        </p:nvSpPr>
        <p:spPr>
          <a:xfrm xmlns:a="http://schemas.openxmlformats.org/drawingml/2006/main">
            <a:off x="6096000" y="26479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29" name="">
            <a:extLst xmlns:a="http://schemas.openxmlformats.org/drawingml/2006/main">
              <a:ext uri="{FF2B5EF4-FFF2-40B4-BE49-F238E27FC236}">
                <a16:creationId xmlns:a16="http://schemas.microsoft.com/office/drawing/2014/main" id="{FA3E13C8-8B72-4782-8CF3-0E3BBDFD8CA9}"/>
              </a:ext>
            </a:extLst>
          </p:cNvPr>
          <p:cNvSpPr>
            <a:spLocks xmlns:a="http://schemas.openxmlformats.org/drawingml/2006/main" noGrp="1"/>
          </p:cNvSpPr>
          <p:nvPr/>
        </p:nvSpPr>
        <p:spPr>
          <a:xfrm xmlns:a="http://schemas.openxmlformats.org/drawingml/2006/main">
            <a:off x="6191250" y="26479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30" name="">
            <a:extLst xmlns:a="http://schemas.openxmlformats.org/drawingml/2006/main">
              <a:ext uri="{FF2B5EF4-FFF2-40B4-BE49-F238E27FC236}">
                <a16:creationId xmlns:a16="http://schemas.microsoft.com/office/drawing/2014/main" id="{66C72A17-2F3D-4DAA-9CFB-7D065015B2E9}"/>
              </a:ext>
            </a:extLst>
          </p:cNvPr>
          <p:cNvSpPr>
            <a:spLocks xmlns:a="http://schemas.openxmlformats.org/drawingml/2006/main" noGrp="1"/>
          </p:cNvSpPr>
          <p:nvPr/>
        </p:nvSpPr>
        <p:spPr>
          <a:xfrm xmlns:a="http://schemas.openxmlformats.org/drawingml/2006/main">
            <a:off x="8839200" y="2647950"/>
            <a:ext cx="2743200" cy="685800"/>
          </a:xfrm>
          <a:prstGeom xmlns:a="http://schemas.openxmlformats.org/drawingml/2006/main" prst="rect">
            <a:avLst/>
          </a:prstGeom>
          <a:solidFill xmlns:a="http://schemas.openxmlformats.org/drawingml/2006/main">
            <a:srgbClr val="EDF5F3"/>
          </a:solidFill>
          <a:ln xmlns:a="http://schemas.openxmlformats.org/drawingml/2006/main" w="9525">
            <a:solidFill>
              <a:srgbClr val="D7DEE2"/>
            </a:solidFill>
            <a:prstDash val="solid"/>
          </a:ln>
        </p:spPr>
      </p:sp>
      <p:sp>
        <p:nvSpPr>
          <p:cNvPr id="31" name="">
            <a:extLst xmlns:a="http://schemas.openxmlformats.org/drawingml/2006/main">
              <a:ext uri="{FF2B5EF4-FFF2-40B4-BE49-F238E27FC236}">
                <a16:creationId xmlns:a16="http://schemas.microsoft.com/office/drawing/2014/main" id="{DFAE2BFF-3E0F-4FB6-B865-289B406CA3E3}"/>
              </a:ext>
            </a:extLst>
          </p:cNvPr>
          <p:cNvSpPr>
            <a:spLocks xmlns:a="http://schemas.openxmlformats.org/drawingml/2006/main" noGrp="1"/>
          </p:cNvSpPr>
          <p:nvPr/>
        </p:nvSpPr>
        <p:spPr>
          <a:xfrm xmlns:a="http://schemas.openxmlformats.org/drawingml/2006/main">
            <a:off x="8934450" y="26479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32" name="">
            <a:extLst xmlns:a="http://schemas.openxmlformats.org/drawingml/2006/main">
              <a:ext uri="{FF2B5EF4-FFF2-40B4-BE49-F238E27FC236}">
                <a16:creationId xmlns:a16="http://schemas.microsoft.com/office/drawing/2014/main" id="{A15639CD-6CE5-4CF0-B542-A3135AD1719E}"/>
              </a:ext>
            </a:extLst>
          </p:cNvPr>
          <p:cNvSpPr>
            <a:spLocks xmlns:a="http://schemas.openxmlformats.org/drawingml/2006/main" noGrp="1"/>
          </p:cNvSpPr>
          <p:nvPr/>
        </p:nvSpPr>
        <p:spPr>
          <a:xfrm xmlns:a="http://schemas.openxmlformats.org/drawingml/2006/main">
            <a:off x="609600" y="33337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33" name="">
            <a:extLst xmlns:a="http://schemas.openxmlformats.org/drawingml/2006/main">
              <a:ext uri="{FF2B5EF4-FFF2-40B4-BE49-F238E27FC236}">
                <a16:creationId xmlns:a16="http://schemas.microsoft.com/office/drawing/2014/main" id="{B7529062-058D-4DEA-AB9D-31A114E9E26E}"/>
              </a:ext>
            </a:extLst>
          </p:cNvPr>
          <p:cNvSpPr>
            <a:spLocks xmlns:a="http://schemas.openxmlformats.org/drawingml/2006/main" noGrp="1"/>
          </p:cNvSpPr>
          <p:nvPr/>
        </p:nvSpPr>
        <p:spPr>
          <a:xfrm xmlns:a="http://schemas.openxmlformats.org/drawingml/2006/main">
            <a:off x="704850" y="33337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조회 즉시 갱신</a:t>
            </a:r>
          </a:p>
        </p:txBody>
      </p:sp>
      <p:sp>
        <p:nvSpPr>
          <p:cNvPr id="34" name="">
            <a:extLst xmlns:a="http://schemas.openxmlformats.org/drawingml/2006/main">
              <a:ext uri="{FF2B5EF4-FFF2-40B4-BE49-F238E27FC236}">
                <a16:creationId xmlns:a16="http://schemas.microsoft.com/office/drawing/2014/main" id="{8A55B7EA-7F36-4722-98BF-C090C0E694CC}"/>
              </a:ext>
            </a:extLst>
          </p:cNvPr>
          <p:cNvSpPr>
            <a:spLocks xmlns:a="http://schemas.openxmlformats.org/drawingml/2006/main" noGrp="1"/>
          </p:cNvSpPr>
          <p:nvPr/>
        </p:nvSpPr>
        <p:spPr>
          <a:xfrm xmlns:a="http://schemas.openxmlformats.org/drawingml/2006/main">
            <a:off x="3352800" y="33337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35" name="">
            <a:extLst xmlns:a="http://schemas.openxmlformats.org/drawingml/2006/main">
              <a:ext uri="{FF2B5EF4-FFF2-40B4-BE49-F238E27FC236}">
                <a16:creationId xmlns:a16="http://schemas.microsoft.com/office/drawing/2014/main" id="{FA0620FD-59F4-4881-AE3A-06F96E2B97FC}"/>
              </a:ext>
            </a:extLst>
          </p:cNvPr>
          <p:cNvSpPr>
            <a:spLocks xmlns:a="http://schemas.openxmlformats.org/drawingml/2006/main" noGrp="1"/>
          </p:cNvSpPr>
          <p:nvPr/>
        </p:nvSpPr>
        <p:spPr>
          <a:xfrm xmlns:a="http://schemas.openxmlformats.org/drawingml/2006/main">
            <a:off x="3448050" y="33337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0">
                <a:solidFill>
                  <a:srgbClr val="007A53"/>
                </a:solidFill>
                <a:latin typeface="Noto Sans KR"/>
                <a:ea typeface="Noto Sans KR"/>
                <a:cs typeface="Noto Sans KR"/>
              </a:defRPr>
            </a:pPr>
            <a:r>
              <a:rPr sz="1950" b="0">
                <a:solidFill>
                  <a:srgbClr val="007A53"/>
                </a:solidFill>
                <a:latin typeface="Noto Sans KR"/>
                <a:ea typeface="Noto Sans KR"/>
                <a:cs typeface="Noto Sans KR"/>
              </a:rPr>
              <a:t>●</a:t>
            </a:r>
          </a:p>
        </p:txBody>
      </p:sp>
      <p:sp>
        <p:nvSpPr>
          <p:cNvPr id="36" name="">
            <a:extLst xmlns:a="http://schemas.openxmlformats.org/drawingml/2006/main">
              <a:ext uri="{FF2B5EF4-FFF2-40B4-BE49-F238E27FC236}">
                <a16:creationId xmlns:a16="http://schemas.microsoft.com/office/drawing/2014/main" id="{1F1A90AB-B48F-4B80-B652-FCAD4E0CB08A}"/>
              </a:ext>
            </a:extLst>
          </p:cNvPr>
          <p:cNvSpPr>
            <a:spLocks xmlns:a="http://schemas.openxmlformats.org/drawingml/2006/main" noGrp="1"/>
          </p:cNvSpPr>
          <p:nvPr/>
        </p:nvSpPr>
        <p:spPr>
          <a:xfrm xmlns:a="http://schemas.openxmlformats.org/drawingml/2006/main">
            <a:off x="6096000" y="33337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37" name="">
            <a:extLst xmlns:a="http://schemas.openxmlformats.org/drawingml/2006/main">
              <a:ext uri="{FF2B5EF4-FFF2-40B4-BE49-F238E27FC236}">
                <a16:creationId xmlns:a16="http://schemas.microsoft.com/office/drawing/2014/main" id="{265290A0-09D5-41BE-9846-7709E9A61B0E}"/>
              </a:ext>
            </a:extLst>
          </p:cNvPr>
          <p:cNvSpPr>
            <a:spLocks xmlns:a="http://schemas.openxmlformats.org/drawingml/2006/main" noGrp="1"/>
          </p:cNvSpPr>
          <p:nvPr/>
        </p:nvSpPr>
        <p:spPr>
          <a:xfrm xmlns:a="http://schemas.openxmlformats.org/drawingml/2006/main">
            <a:off x="6191250" y="33337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38" name="">
            <a:extLst xmlns:a="http://schemas.openxmlformats.org/drawingml/2006/main">
              <a:ext uri="{FF2B5EF4-FFF2-40B4-BE49-F238E27FC236}">
                <a16:creationId xmlns:a16="http://schemas.microsoft.com/office/drawing/2014/main" id="{FE7A4BD6-01CC-4E21-A7F5-3038A1908912}"/>
              </a:ext>
            </a:extLst>
          </p:cNvPr>
          <p:cNvSpPr>
            <a:spLocks xmlns:a="http://schemas.openxmlformats.org/drawingml/2006/main" noGrp="1"/>
          </p:cNvSpPr>
          <p:nvPr/>
        </p:nvSpPr>
        <p:spPr>
          <a:xfrm xmlns:a="http://schemas.openxmlformats.org/drawingml/2006/main">
            <a:off x="8839200" y="3333750"/>
            <a:ext cx="2743200" cy="685800"/>
          </a:xfrm>
          <a:prstGeom xmlns:a="http://schemas.openxmlformats.org/drawingml/2006/main" prst="rect">
            <a:avLst/>
          </a:prstGeom>
          <a:solidFill xmlns:a="http://schemas.openxmlformats.org/drawingml/2006/main">
            <a:srgbClr val="EDF5F3"/>
          </a:solidFill>
          <a:ln xmlns:a="http://schemas.openxmlformats.org/drawingml/2006/main" w="9525">
            <a:solidFill>
              <a:srgbClr val="D7DEE2"/>
            </a:solidFill>
            <a:prstDash val="solid"/>
          </a:ln>
        </p:spPr>
      </p:sp>
      <p:sp>
        <p:nvSpPr>
          <p:cNvPr id="39" name="">
            <a:extLst xmlns:a="http://schemas.openxmlformats.org/drawingml/2006/main">
              <a:ext uri="{FF2B5EF4-FFF2-40B4-BE49-F238E27FC236}">
                <a16:creationId xmlns:a16="http://schemas.microsoft.com/office/drawing/2014/main" id="{9F1D8CD5-6BAA-4B71-8488-5B058C696332}"/>
              </a:ext>
            </a:extLst>
          </p:cNvPr>
          <p:cNvSpPr>
            <a:spLocks xmlns:a="http://schemas.openxmlformats.org/drawingml/2006/main" noGrp="1"/>
          </p:cNvSpPr>
          <p:nvPr/>
        </p:nvSpPr>
        <p:spPr>
          <a:xfrm xmlns:a="http://schemas.openxmlformats.org/drawingml/2006/main">
            <a:off x="8934450" y="33337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40" name="">
            <a:extLst xmlns:a="http://schemas.openxmlformats.org/drawingml/2006/main">
              <a:ext uri="{FF2B5EF4-FFF2-40B4-BE49-F238E27FC236}">
                <a16:creationId xmlns:a16="http://schemas.microsoft.com/office/drawing/2014/main" id="{66D9F08A-98DB-4650-9D71-FEAF260B5C8A}"/>
              </a:ext>
            </a:extLst>
          </p:cNvPr>
          <p:cNvSpPr>
            <a:spLocks xmlns:a="http://schemas.openxmlformats.org/drawingml/2006/main" noGrp="1"/>
          </p:cNvSpPr>
          <p:nvPr/>
        </p:nvSpPr>
        <p:spPr>
          <a:xfrm xmlns:a="http://schemas.openxmlformats.org/drawingml/2006/main">
            <a:off x="609600" y="40195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41" name="">
            <a:extLst xmlns:a="http://schemas.openxmlformats.org/drawingml/2006/main">
              <a:ext uri="{FF2B5EF4-FFF2-40B4-BE49-F238E27FC236}">
                <a16:creationId xmlns:a16="http://schemas.microsoft.com/office/drawing/2014/main" id="{CC7D77AE-784A-4E49-9C84-AA3D75FAAC4B}"/>
              </a:ext>
            </a:extLst>
          </p:cNvPr>
          <p:cNvSpPr>
            <a:spLocks xmlns:a="http://schemas.openxmlformats.org/drawingml/2006/main" noGrp="1"/>
          </p:cNvSpPr>
          <p:nvPr/>
        </p:nvSpPr>
        <p:spPr>
          <a:xfrm xmlns:a="http://schemas.openxmlformats.org/drawingml/2006/main">
            <a:off x="704850" y="40195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미확인 조건 공개</a:t>
            </a:r>
          </a:p>
        </p:txBody>
      </p:sp>
      <p:sp>
        <p:nvSpPr>
          <p:cNvPr id="42" name="">
            <a:extLst xmlns:a="http://schemas.openxmlformats.org/drawingml/2006/main">
              <a:ext uri="{FF2B5EF4-FFF2-40B4-BE49-F238E27FC236}">
                <a16:creationId xmlns:a16="http://schemas.microsoft.com/office/drawing/2014/main" id="{2F6AEEA1-6577-441D-99D0-35D7A27D0BF6}"/>
              </a:ext>
            </a:extLst>
          </p:cNvPr>
          <p:cNvSpPr>
            <a:spLocks xmlns:a="http://schemas.openxmlformats.org/drawingml/2006/main" noGrp="1"/>
          </p:cNvSpPr>
          <p:nvPr/>
        </p:nvSpPr>
        <p:spPr>
          <a:xfrm xmlns:a="http://schemas.openxmlformats.org/drawingml/2006/main">
            <a:off x="3352800" y="40195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43" name="">
            <a:extLst xmlns:a="http://schemas.openxmlformats.org/drawingml/2006/main">
              <a:ext uri="{FF2B5EF4-FFF2-40B4-BE49-F238E27FC236}">
                <a16:creationId xmlns:a16="http://schemas.microsoft.com/office/drawing/2014/main" id="{2431D3CC-AF3D-47AB-AC75-A4A4F2429264}"/>
              </a:ext>
            </a:extLst>
          </p:cNvPr>
          <p:cNvSpPr>
            <a:spLocks xmlns:a="http://schemas.openxmlformats.org/drawingml/2006/main" noGrp="1"/>
          </p:cNvSpPr>
          <p:nvPr/>
        </p:nvSpPr>
        <p:spPr>
          <a:xfrm xmlns:a="http://schemas.openxmlformats.org/drawingml/2006/main">
            <a:off x="3448050" y="40195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44" name="">
            <a:extLst xmlns:a="http://schemas.openxmlformats.org/drawingml/2006/main">
              <a:ext uri="{FF2B5EF4-FFF2-40B4-BE49-F238E27FC236}">
                <a16:creationId xmlns:a16="http://schemas.microsoft.com/office/drawing/2014/main" id="{853552A7-3C5B-42E4-B826-967674B40717}"/>
              </a:ext>
            </a:extLst>
          </p:cNvPr>
          <p:cNvSpPr>
            <a:spLocks xmlns:a="http://schemas.openxmlformats.org/drawingml/2006/main" noGrp="1"/>
          </p:cNvSpPr>
          <p:nvPr/>
        </p:nvSpPr>
        <p:spPr>
          <a:xfrm xmlns:a="http://schemas.openxmlformats.org/drawingml/2006/main">
            <a:off x="6096000" y="40195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45" name="">
            <a:extLst xmlns:a="http://schemas.openxmlformats.org/drawingml/2006/main">
              <a:ext uri="{FF2B5EF4-FFF2-40B4-BE49-F238E27FC236}">
                <a16:creationId xmlns:a16="http://schemas.microsoft.com/office/drawing/2014/main" id="{4E151347-AFA5-477C-948C-CED425236BFA}"/>
              </a:ext>
            </a:extLst>
          </p:cNvPr>
          <p:cNvSpPr>
            <a:spLocks xmlns:a="http://schemas.openxmlformats.org/drawingml/2006/main" noGrp="1"/>
          </p:cNvSpPr>
          <p:nvPr/>
        </p:nvSpPr>
        <p:spPr>
          <a:xfrm xmlns:a="http://schemas.openxmlformats.org/drawingml/2006/main">
            <a:off x="6191250" y="40195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0">
                <a:solidFill>
                  <a:srgbClr val="C62828"/>
                </a:solidFill>
                <a:latin typeface="Noto Sans KR"/>
                <a:ea typeface="Noto Sans KR"/>
                <a:cs typeface="Noto Sans KR"/>
              </a:defRPr>
            </a:pPr>
            <a:r>
              <a:rPr sz="1950" b="0">
                <a:solidFill>
                  <a:srgbClr val="C62828"/>
                </a:solidFill>
                <a:latin typeface="Noto Sans KR"/>
                <a:ea typeface="Noto Sans KR"/>
                <a:cs typeface="Noto Sans KR"/>
              </a:rPr>
              <a:t>×</a:t>
            </a:r>
          </a:p>
        </p:txBody>
      </p:sp>
      <p:sp>
        <p:nvSpPr>
          <p:cNvPr id="46" name="">
            <a:extLst xmlns:a="http://schemas.openxmlformats.org/drawingml/2006/main">
              <a:ext uri="{FF2B5EF4-FFF2-40B4-BE49-F238E27FC236}">
                <a16:creationId xmlns:a16="http://schemas.microsoft.com/office/drawing/2014/main" id="{4982B04A-946B-4D21-8C92-FBC67A68870E}"/>
              </a:ext>
            </a:extLst>
          </p:cNvPr>
          <p:cNvSpPr>
            <a:spLocks xmlns:a="http://schemas.openxmlformats.org/drawingml/2006/main" noGrp="1"/>
          </p:cNvSpPr>
          <p:nvPr/>
        </p:nvSpPr>
        <p:spPr>
          <a:xfrm xmlns:a="http://schemas.openxmlformats.org/drawingml/2006/main">
            <a:off x="8839200" y="4019550"/>
            <a:ext cx="2743200" cy="685800"/>
          </a:xfrm>
          <a:prstGeom xmlns:a="http://schemas.openxmlformats.org/drawingml/2006/main" prst="rect">
            <a:avLst/>
          </a:prstGeom>
          <a:solidFill xmlns:a="http://schemas.openxmlformats.org/drawingml/2006/main">
            <a:srgbClr val="EDF5F3"/>
          </a:solidFill>
          <a:ln xmlns:a="http://schemas.openxmlformats.org/drawingml/2006/main" w="9525">
            <a:solidFill>
              <a:srgbClr val="D7DEE2"/>
            </a:solidFill>
            <a:prstDash val="solid"/>
          </a:ln>
        </p:spPr>
      </p:sp>
      <p:sp>
        <p:nvSpPr>
          <p:cNvPr id="47" name="">
            <a:extLst xmlns:a="http://schemas.openxmlformats.org/drawingml/2006/main">
              <a:ext uri="{FF2B5EF4-FFF2-40B4-BE49-F238E27FC236}">
                <a16:creationId xmlns:a16="http://schemas.microsoft.com/office/drawing/2014/main" id="{0E6FF02C-A904-4B7F-A0BF-DAF0D7E3E087}"/>
              </a:ext>
            </a:extLst>
          </p:cNvPr>
          <p:cNvSpPr>
            <a:spLocks xmlns:a="http://schemas.openxmlformats.org/drawingml/2006/main" noGrp="1"/>
          </p:cNvSpPr>
          <p:nvPr/>
        </p:nvSpPr>
        <p:spPr>
          <a:xfrm xmlns:a="http://schemas.openxmlformats.org/drawingml/2006/main">
            <a:off x="8934450" y="40195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48" name="">
            <a:extLst xmlns:a="http://schemas.openxmlformats.org/drawingml/2006/main">
              <a:ext uri="{FF2B5EF4-FFF2-40B4-BE49-F238E27FC236}">
                <a16:creationId xmlns:a16="http://schemas.microsoft.com/office/drawing/2014/main" id="{F79C407C-1E52-4F2A-8C75-8814BEB7F655}"/>
              </a:ext>
            </a:extLst>
          </p:cNvPr>
          <p:cNvSpPr>
            <a:spLocks xmlns:a="http://schemas.openxmlformats.org/drawingml/2006/main" noGrp="1"/>
          </p:cNvSpPr>
          <p:nvPr/>
        </p:nvSpPr>
        <p:spPr>
          <a:xfrm xmlns:a="http://schemas.openxmlformats.org/drawingml/2006/main">
            <a:off x="609600" y="47053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49" name="">
            <a:extLst xmlns:a="http://schemas.openxmlformats.org/drawingml/2006/main">
              <a:ext uri="{FF2B5EF4-FFF2-40B4-BE49-F238E27FC236}">
                <a16:creationId xmlns:a16="http://schemas.microsoft.com/office/drawing/2014/main" id="{313337C0-F970-435E-8F50-27E7D5BADADC}"/>
              </a:ext>
            </a:extLst>
          </p:cNvPr>
          <p:cNvSpPr>
            <a:spLocks xmlns:a="http://schemas.openxmlformats.org/drawingml/2006/main" noGrp="1"/>
          </p:cNvSpPr>
          <p:nvPr/>
        </p:nvSpPr>
        <p:spPr>
          <a:xfrm xmlns:a="http://schemas.openxmlformats.org/drawingml/2006/main">
            <a:off x="704850" y="47053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담당자·다음 행동</a:t>
            </a:r>
          </a:p>
        </p:txBody>
      </p:sp>
      <p:sp>
        <p:nvSpPr>
          <p:cNvPr id="50" name="">
            <a:extLst xmlns:a="http://schemas.openxmlformats.org/drawingml/2006/main">
              <a:ext uri="{FF2B5EF4-FFF2-40B4-BE49-F238E27FC236}">
                <a16:creationId xmlns:a16="http://schemas.microsoft.com/office/drawing/2014/main" id="{59321A09-E54B-4329-9E1D-5E39D0BD8198}"/>
              </a:ext>
            </a:extLst>
          </p:cNvPr>
          <p:cNvSpPr>
            <a:spLocks xmlns:a="http://schemas.openxmlformats.org/drawingml/2006/main" noGrp="1"/>
          </p:cNvSpPr>
          <p:nvPr/>
        </p:nvSpPr>
        <p:spPr>
          <a:xfrm xmlns:a="http://schemas.openxmlformats.org/drawingml/2006/main">
            <a:off x="3352800" y="47053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51" name="">
            <a:extLst xmlns:a="http://schemas.openxmlformats.org/drawingml/2006/main">
              <a:ext uri="{FF2B5EF4-FFF2-40B4-BE49-F238E27FC236}">
                <a16:creationId xmlns:a16="http://schemas.microsoft.com/office/drawing/2014/main" id="{B85FFAC3-A80B-4754-B7C6-6EA063FF8E41}"/>
              </a:ext>
            </a:extLst>
          </p:cNvPr>
          <p:cNvSpPr>
            <a:spLocks xmlns:a="http://schemas.openxmlformats.org/drawingml/2006/main" noGrp="1"/>
          </p:cNvSpPr>
          <p:nvPr/>
        </p:nvSpPr>
        <p:spPr>
          <a:xfrm xmlns:a="http://schemas.openxmlformats.org/drawingml/2006/main">
            <a:off x="3448050" y="47053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0">
                <a:solidFill>
                  <a:srgbClr val="C62828"/>
                </a:solidFill>
                <a:latin typeface="Noto Sans KR"/>
                <a:ea typeface="Noto Sans KR"/>
                <a:cs typeface="Noto Sans KR"/>
              </a:defRPr>
            </a:pPr>
            <a:r>
              <a:rPr sz="1950" b="0">
                <a:solidFill>
                  <a:srgbClr val="C62828"/>
                </a:solidFill>
                <a:latin typeface="Noto Sans KR"/>
                <a:ea typeface="Noto Sans KR"/>
                <a:cs typeface="Noto Sans KR"/>
              </a:rPr>
              <a:t>×</a:t>
            </a:r>
          </a:p>
        </p:txBody>
      </p:sp>
      <p:sp>
        <p:nvSpPr>
          <p:cNvPr id="52" name="">
            <a:extLst xmlns:a="http://schemas.openxmlformats.org/drawingml/2006/main">
              <a:ext uri="{FF2B5EF4-FFF2-40B4-BE49-F238E27FC236}">
                <a16:creationId xmlns:a16="http://schemas.microsoft.com/office/drawing/2014/main" id="{C94C0A28-3A95-430C-9637-14B065F9E17E}"/>
              </a:ext>
            </a:extLst>
          </p:cNvPr>
          <p:cNvSpPr>
            <a:spLocks xmlns:a="http://schemas.openxmlformats.org/drawingml/2006/main" noGrp="1"/>
          </p:cNvSpPr>
          <p:nvPr/>
        </p:nvSpPr>
        <p:spPr>
          <a:xfrm xmlns:a="http://schemas.openxmlformats.org/drawingml/2006/main">
            <a:off x="6096000" y="4705350"/>
            <a:ext cx="27432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53" name="">
            <a:extLst xmlns:a="http://schemas.openxmlformats.org/drawingml/2006/main">
              <a:ext uri="{FF2B5EF4-FFF2-40B4-BE49-F238E27FC236}">
                <a16:creationId xmlns:a16="http://schemas.microsoft.com/office/drawing/2014/main" id="{75A3FFF3-5876-4357-AE3C-172CC82FE5E0}"/>
              </a:ext>
            </a:extLst>
          </p:cNvPr>
          <p:cNvSpPr>
            <a:spLocks xmlns:a="http://schemas.openxmlformats.org/drawingml/2006/main" noGrp="1"/>
          </p:cNvSpPr>
          <p:nvPr/>
        </p:nvSpPr>
        <p:spPr>
          <a:xfrm xmlns:a="http://schemas.openxmlformats.org/drawingml/2006/main">
            <a:off x="6191250" y="47053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54" name="">
            <a:extLst xmlns:a="http://schemas.openxmlformats.org/drawingml/2006/main">
              <a:ext uri="{FF2B5EF4-FFF2-40B4-BE49-F238E27FC236}">
                <a16:creationId xmlns:a16="http://schemas.microsoft.com/office/drawing/2014/main" id="{41E1C70E-8BE3-4D55-BC43-81EA63B49482}"/>
              </a:ext>
            </a:extLst>
          </p:cNvPr>
          <p:cNvSpPr>
            <a:spLocks xmlns:a="http://schemas.openxmlformats.org/drawingml/2006/main" noGrp="1"/>
          </p:cNvSpPr>
          <p:nvPr/>
        </p:nvSpPr>
        <p:spPr>
          <a:xfrm xmlns:a="http://schemas.openxmlformats.org/drawingml/2006/main">
            <a:off x="8839200" y="4705350"/>
            <a:ext cx="2743200" cy="685800"/>
          </a:xfrm>
          <a:prstGeom xmlns:a="http://schemas.openxmlformats.org/drawingml/2006/main" prst="rect">
            <a:avLst/>
          </a:prstGeom>
          <a:solidFill xmlns:a="http://schemas.openxmlformats.org/drawingml/2006/main">
            <a:srgbClr val="EDF5F3"/>
          </a:solidFill>
          <a:ln xmlns:a="http://schemas.openxmlformats.org/drawingml/2006/main" w="9525">
            <a:solidFill>
              <a:srgbClr val="D7DEE2"/>
            </a:solidFill>
            <a:prstDash val="solid"/>
          </a:ln>
        </p:spPr>
      </p:sp>
      <p:sp>
        <p:nvSpPr>
          <p:cNvPr id="55" name="">
            <a:extLst xmlns:a="http://schemas.openxmlformats.org/drawingml/2006/main">
              <a:ext uri="{FF2B5EF4-FFF2-40B4-BE49-F238E27FC236}">
                <a16:creationId xmlns:a16="http://schemas.microsoft.com/office/drawing/2014/main" id="{A9D36DDF-F314-42F2-BFF0-204007457732}"/>
              </a:ext>
            </a:extLst>
          </p:cNvPr>
          <p:cNvSpPr>
            <a:spLocks xmlns:a="http://schemas.openxmlformats.org/drawingml/2006/main" noGrp="1"/>
          </p:cNvSpPr>
          <p:nvPr/>
        </p:nvSpPr>
        <p:spPr>
          <a:xfrm xmlns:a="http://schemas.openxmlformats.org/drawingml/2006/main">
            <a:off x="8934450" y="47053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56" name="">
            <a:extLst xmlns:a="http://schemas.openxmlformats.org/drawingml/2006/main">
              <a:ext uri="{FF2B5EF4-FFF2-40B4-BE49-F238E27FC236}">
                <a16:creationId xmlns:a16="http://schemas.microsoft.com/office/drawing/2014/main" id="{E4D2C6C1-EE55-42FB-B8C2-30BDBE8CE24B}"/>
              </a:ext>
            </a:extLst>
          </p:cNvPr>
          <p:cNvSpPr>
            <a:spLocks xmlns:a="http://schemas.openxmlformats.org/drawingml/2006/main" noGrp="1"/>
          </p:cNvSpPr>
          <p:nvPr/>
        </p:nvSpPr>
        <p:spPr>
          <a:xfrm xmlns:a="http://schemas.openxmlformats.org/drawingml/2006/main">
            <a:off x="3352800" y="5524500"/>
            <a:ext cx="274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7A53"/>
                </a:solidFill>
                <a:latin typeface="Noto Sans KR"/>
                <a:ea typeface="Noto Sans KR"/>
                <a:cs typeface="Noto Sans KR"/>
              </a:defRPr>
            </a:pPr>
            <a:r>
              <a:rPr sz="975" b="1">
                <a:solidFill>
                  <a:srgbClr val="007A53"/>
                </a:solidFill>
                <a:latin typeface="Noto Sans KR"/>
                <a:ea typeface="Noto Sans KR"/>
                <a:cs typeface="Noto Sans KR"/>
              </a:rPr>
              <a:t>● 핵심 제공</a:t>
            </a:r>
          </a:p>
        </p:txBody>
      </p:sp>
      <p:sp>
        <p:nvSpPr>
          <p:cNvPr id="57" name="">
            <a:extLst xmlns:a="http://schemas.openxmlformats.org/drawingml/2006/main">
              <a:ext uri="{FF2B5EF4-FFF2-40B4-BE49-F238E27FC236}">
                <a16:creationId xmlns:a16="http://schemas.microsoft.com/office/drawing/2014/main" id="{7EFE6B44-4CA5-44CE-9D95-FB82941D7388}"/>
              </a:ext>
            </a:extLst>
          </p:cNvPr>
          <p:cNvSpPr>
            <a:spLocks xmlns:a="http://schemas.openxmlformats.org/drawingml/2006/main" noGrp="1"/>
          </p:cNvSpPr>
          <p:nvPr/>
        </p:nvSpPr>
        <p:spPr>
          <a:xfrm xmlns:a="http://schemas.openxmlformats.org/drawingml/2006/main">
            <a:off x="6096000" y="5524500"/>
            <a:ext cx="274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D46A00"/>
                </a:solidFill>
                <a:latin typeface="Noto Sans KR"/>
                <a:ea typeface="Noto Sans KR"/>
                <a:cs typeface="Noto Sans KR"/>
              </a:defRPr>
            </a:pPr>
            <a:r>
              <a:rPr sz="975" b="1">
                <a:solidFill>
                  <a:srgbClr val="D46A00"/>
                </a:solidFill>
                <a:latin typeface="Noto Sans KR"/>
                <a:ea typeface="Noto Sans KR"/>
                <a:cs typeface="Noto Sans KR"/>
              </a:rPr>
              <a:t>△ 부분 제공</a:t>
            </a:r>
          </a:p>
        </p:txBody>
      </p:sp>
      <p:sp>
        <p:nvSpPr>
          <p:cNvPr id="58" name="">
            <a:extLst xmlns:a="http://schemas.openxmlformats.org/drawingml/2006/main">
              <a:ext uri="{FF2B5EF4-FFF2-40B4-BE49-F238E27FC236}">
                <a16:creationId xmlns:a16="http://schemas.microsoft.com/office/drawing/2014/main" id="{E5013EAA-5F11-4E4E-A499-128B90F7F4C9}"/>
              </a:ext>
            </a:extLst>
          </p:cNvPr>
          <p:cNvSpPr>
            <a:spLocks xmlns:a="http://schemas.openxmlformats.org/drawingml/2006/main" noGrp="1"/>
          </p:cNvSpPr>
          <p:nvPr/>
        </p:nvSpPr>
        <p:spPr>
          <a:xfrm xmlns:a="http://schemas.openxmlformats.org/drawingml/2006/main">
            <a:off x="8839200" y="5524500"/>
            <a:ext cx="274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C62828"/>
                </a:solidFill>
                <a:latin typeface="Noto Sans KR"/>
                <a:ea typeface="Noto Sans KR"/>
                <a:cs typeface="Noto Sans KR"/>
              </a:defRPr>
            </a:pPr>
            <a:r>
              <a:rPr sz="975" b="1">
                <a:solidFill>
                  <a:srgbClr val="C62828"/>
                </a:solidFill>
                <a:latin typeface="Noto Sans KR"/>
                <a:ea typeface="Noto Sans KR"/>
                <a:cs typeface="Noto Sans KR"/>
              </a:rPr>
              <a:t>× 미제공</a:t>
            </a:r>
          </a:p>
        </p:txBody>
      </p:sp>
      <p:sp>
        <p:nvSpPr>
          <p:cNvPr id="59" name="">
            <a:extLst xmlns:a="http://schemas.openxmlformats.org/drawingml/2006/main">
              <a:ext uri="{FF2B5EF4-FFF2-40B4-BE49-F238E27FC236}">
                <a16:creationId xmlns:a16="http://schemas.microsoft.com/office/drawing/2014/main" id="{CB983640-6A83-4FA4-BB62-2B1E46B3459F}"/>
              </a:ext>
            </a:extLst>
          </p:cNvPr>
          <p:cNvSpPr>
            <a:spLocks xmlns:a="http://schemas.openxmlformats.org/drawingml/2006/main" noGrp="1"/>
          </p:cNvSpPr>
          <p:nvPr/>
        </p:nvSpPr>
        <p:spPr>
          <a:xfrm xmlns:a="http://schemas.openxmlformats.org/drawingml/2006/main">
            <a:off x="3352800" y="5829300"/>
            <a:ext cx="822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0A58A"/>
                </a:solidFill>
                <a:latin typeface="Noto Sans KR"/>
                <a:ea typeface="Noto Sans KR"/>
                <a:cs typeface="Noto Sans KR"/>
              </a:defRPr>
            </a:pPr>
            <a:r>
              <a:rPr sz="1125" b="1">
                <a:solidFill>
                  <a:srgbClr val="00A58A"/>
                </a:solidFill>
                <a:latin typeface="Noto Sans KR"/>
                <a:ea typeface="Noto Sans KR"/>
                <a:cs typeface="Noto Sans KR"/>
              </a:rPr>
              <a:t>세 기준을 한 흐름으로 연결</a:t>
            </a:r>
          </a:p>
        </p:txBody>
      </p:sp>
    </p:spTree>
    <p:extLst>
      <p:ext uri="{BB962C8B-B14F-4D97-AF65-F5344CB8AC3E}">
        <p14:creationId xmlns:p14="http://schemas.microsoft.com/office/powerpoint/2010/main" val="8274368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88F54A8-2E81-4294-AFD8-9E4B7EBE7993}"/>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CUSTOMERS</a:t>
            </a:r>
          </a:p>
        </p:txBody>
      </p:sp>
      <p:sp>
        <p:nvSpPr>
          <p:cNvPr id="2" name="slide-4-title">
            <a:extLst xmlns:a="http://schemas.openxmlformats.org/drawingml/2006/main">
              <a:ext uri="{FF2B5EF4-FFF2-40B4-BE49-F238E27FC236}">
                <a16:creationId xmlns:a16="http://schemas.microsoft.com/office/drawing/2014/main" id="{F36B87F7-C4C6-487C-A724-5780F6835C69}"/>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검색보다 다음 결정을 내려야 하는 세 고객이 먼저 씁니다</a:t>
            </a:r>
          </a:p>
        </p:txBody>
      </p:sp>
      <p:sp>
        <p:nvSpPr>
          <p:cNvPr id="3" name="">
            <a:extLst xmlns:a="http://schemas.openxmlformats.org/drawingml/2006/main">
              <a:ext uri="{FF2B5EF4-FFF2-40B4-BE49-F238E27FC236}">
                <a16:creationId xmlns:a16="http://schemas.microsoft.com/office/drawing/2014/main" id="{1136ED8D-A94E-496D-90B3-17C62575B833}"/>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710F04B2-9CA3-4821-9FE4-FDE929537E88}"/>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EC526231-2A91-4AD9-A106-B9DC81BD353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1C37356D-F7BD-4695-8FE4-1A53E3C4472E}"/>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사용자 정의</a:t>
            </a:r>
          </a:p>
        </p:txBody>
      </p:sp>
      <p:sp>
        <p:nvSpPr>
          <p:cNvPr id="7" name="">
            <a:extLst xmlns:a="http://schemas.openxmlformats.org/drawingml/2006/main">
              <a:ext uri="{FF2B5EF4-FFF2-40B4-BE49-F238E27FC236}">
                <a16:creationId xmlns:a16="http://schemas.microsoft.com/office/drawing/2014/main" id="{1817FB4B-09CF-4182-8B18-F028FF97A209}"/>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04</a:t>
            </a:r>
          </a:p>
        </p:txBody>
      </p:sp>
      <p:sp>
        <p:nvSpPr>
          <p:cNvPr id="8" name="">
            <a:extLst xmlns:a="http://schemas.openxmlformats.org/drawingml/2006/main">
              <a:ext uri="{FF2B5EF4-FFF2-40B4-BE49-F238E27FC236}">
                <a16:creationId xmlns:a16="http://schemas.microsoft.com/office/drawing/2014/main" id="{CF7C8DEC-B019-47CC-9F80-95631D8B967E}"/>
              </a:ext>
            </a:extLst>
          </p:cNvPr>
          <p:cNvSpPr>
            <a:spLocks xmlns:a="http://schemas.openxmlformats.org/drawingml/2006/main" noGrp="1"/>
          </p:cNvSpPr>
          <p:nvPr/>
        </p:nvSpPr>
        <p:spPr>
          <a:xfrm xmlns:a="http://schemas.openxmlformats.org/drawingml/2006/main">
            <a:off x="838200" y="14001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같은 근거</a:t>
            </a:r>
          </a:p>
        </p:txBody>
      </p:sp>
      <p:sp>
        <p:nvSpPr>
          <p:cNvPr id="9" name="">
            <a:extLst xmlns:a="http://schemas.openxmlformats.org/drawingml/2006/main">
              <a:ext uri="{FF2B5EF4-FFF2-40B4-BE49-F238E27FC236}">
                <a16:creationId xmlns:a16="http://schemas.microsoft.com/office/drawing/2014/main" id="{6BA7AE66-6C1C-4368-BDCF-C10DAE3702F1}"/>
              </a:ext>
            </a:extLst>
          </p:cNvPr>
          <p:cNvSpPr>
            <a:spLocks xmlns:a="http://schemas.openxmlformats.org/drawingml/2006/main" noGrp="1"/>
          </p:cNvSpPr>
          <p:nvPr/>
        </p:nvSpPr>
        <p:spPr>
          <a:xfrm xmlns:a="http://schemas.openxmlformats.org/drawingml/2006/main">
            <a:off x="838200" y="1809750"/>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625" b="1">
                <a:solidFill>
                  <a:srgbClr val="00A58A"/>
                </a:solidFill>
                <a:latin typeface="Noto Sans KR"/>
                <a:ea typeface="Noto Sans KR"/>
                <a:cs typeface="Noto Sans KR"/>
              </a:defRPr>
            </a:pPr>
            <a:r>
              <a:rPr sz="2625" b="1">
                <a:solidFill>
                  <a:srgbClr val="00A58A"/>
                </a:solidFill>
                <a:latin typeface="Noto Sans KR"/>
                <a:ea typeface="Noto Sans KR"/>
                <a:cs typeface="Noto Sans KR"/>
              </a:rPr>
              <a:t>고객별로 다른 “다음 결정”</a:t>
            </a:r>
          </a:p>
        </p:txBody>
      </p:sp>
      <p:sp>
        <p:nvSpPr>
          <p:cNvPr id="10" name="">
            <a:extLst xmlns:a="http://schemas.openxmlformats.org/drawingml/2006/main">
              <a:ext uri="{FF2B5EF4-FFF2-40B4-BE49-F238E27FC236}">
                <a16:creationId xmlns:a16="http://schemas.microsoft.com/office/drawing/2014/main" id="{67F61533-86D5-4D0E-87F1-2C31E4C781F4}"/>
              </a:ext>
            </a:extLst>
          </p:cNvPr>
          <p:cNvSpPr>
            <a:spLocks xmlns:a="http://schemas.openxmlformats.org/drawingml/2006/main" noGrp="1"/>
          </p:cNvSpPr>
          <p:nvPr/>
        </p:nvSpPr>
        <p:spPr>
          <a:xfrm xmlns:a="http://schemas.openxmlformats.org/drawingml/2006/main">
            <a:off x="838200" y="2533650"/>
            <a:ext cx="371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0">
                <a:solidFill>
                  <a:srgbClr val="5F6B73"/>
                </a:solidFill>
                <a:latin typeface="Noto Sans KR"/>
                <a:ea typeface="Noto Sans KR"/>
                <a:cs typeface="Noto Sans KR"/>
              </a:defRPr>
            </a:pPr>
            <a:r>
              <a:rPr sz="1425" b="0">
                <a:solidFill>
                  <a:srgbClr val="5F6B73"/>
                </a:solidFill>
                <a:latin typeface="Noto Sans KR"/>
                <a:ea typeface="Noto Sans KR"/>
                <a:cs typeface="Noto Sans KR"/>
              </a:rPr>
              <a:t>1차 도입은 수출 전담 인력이 부족한</a:t>
            </a:r>
          </a:p>
          <a:p xmlns:a="http://schemas.openxmlformats.org/drawingml/2006/main">
            <a:pPr algn="l">
              <a:defRPr sz="1425" b="0">
                <a:solidFill>
                  <a:srgbClr val="5F6B73"/>
                </a:solidFill>
                <a:latin typeface="Noto Sans KR"/>
                <a:ea typeface="Noto Sans KR"/>
                <a:cs typeface="Noto Sans KR"/>
              </a:defRPr>
            </a:pPr>
            <a:r>
              <a:rPr sz="1425" b="0">
                <a:solidFill>
                  <a:srgbClr val="5F6B73"/>
                </a:solidFill>
                <a:latin typeface="Noto Sans KR"/>
                <a:ea typeface="Noto Sans KR"/>
                <a:cs typeface="Noto Sans KR"/>
              </a:rPr>
              <a:t>산업단지 제조기업에서 시작합니다.</a:t>
            </a:r>
          </a:p>
        </p:txBody>
      </p:sp>
      <p:sp>
        <p:nvSpPr>
          <p:cNvPr id="11" name="">
            <a:extLst xmlns:a="http://schemas.openxmlformats.org/drawingml/2006/main">
              <a:ext uri="{FF2B5EF4-FFF2-40B4-BE49-F238E27FC236}">
                <a16:creationId xmlns:a16="http://schemas.microsoft.com/office/drawing/2014/main" id="{17E0308E-E6C9-4616-A0E8-D8C128A55FEA}"/>
              </a:ext>
            </a:extLst>
          </p:cNvPr>
          <p:cNvSpPr>
            <a:spLocks xmlns:a="http://schemas.openxmlformats.org/drawingml/2006/main" noGrp="1"/>
          </p:cNvSpPr>
          <p:nvPr/>
        </p:nvSpPr>
        <p:spPr>
          <a:xfrm xmlns:a="http://schemas.openxmlformats.org/drawingml/2006/main">
            <a:off x="5676900" y="1352550"/>
            <a:ext cx="723900" cy="7239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b25282580ecf4603"/>
          <a:stretch xmlns:a="http://schemas.openxmlformats.org/drawingml/2006/main"/>
        </p:blipFill>
        <p:spPr>
          <a:xfrm xmlns:a="http://schemas.openxmlformats.org/drawingml/2006/main">
            <a:off x="5772150" y="1447800"/>
            <a:ext cx="533400" cy="5334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BFD91FE-B490-459F-BF57-47DD41E4F876}"/>
              </a:ext>
            </a:extLst>
          </p:cNvPr>
          <p:cNvSpPr>
            <a:spLocks xmlns:a="http://schemas.openxmlformats.org/drawingml/2006/main" noGrp="1"/>
          </p:cNvSpPr>
          <p:nvPr/>
        </p:nvSpPr>
        <p:spPr>
          <a:xfrm xmlns:a="http://schemas.openxmlformats.org/drawingml/2006/main">
            <a:off x="5048250" y="21526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01</a:t>
            </a:r>
          </a:p>
        </p:txBody>
      </p:sp>
      <p:sp>
        <p:nvSpPr>
          <p:cNvPr id="14" name="">
            <a:extLst xmlns:a="http://schemas.openxmlformats.org/drawingml/2006/main">
              <a:ext uri="{FF2B5EF4-FFF2-40B4-BE49-F238E27FC236}">
                <a16:creationId xmlns:a16="http://schemas.microsoft.com/office/drawing/2014/main" id="{4ED3837F-F785-4324-A57C-BC53FCD7A6F6}"/>
              </a:ext>
            </a:extLst>
          </p:cNvPr>
          <p:cNvSpPr>
            <a:spLocks xmlns:a="http://schemas.openxmlformats.org/drawingml/2006/main" noGrp="1"/>
          </p:cNvSpPr>
          <p:nvPr/>
        </p:nvSpPr>
        <p:spPr>
          <a:xfrm xmlns:a="http://schemas.openxmlformats.org/drawingml/2006/main">
            <a:off x="5048250" y="2419350"/>
            <a:ext cx="1981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제조기업 대표·실무자</a:t>
            </a:r>
          </a:p>
        </p:txBody>
      </p:sp>
      <p:sp>
        <p:nvSpPr>
          <p:cNvPr id="15" name="">
            <a:extLst xmlns:a="http://schemas.openxmlformats.org/drawingml/2006/main">
              <a:ext uri="{FF2B5EF4-FFF2-40B4-BE49-F238E27FC236}">
                <a16:creationId xmlns:a16="http://schemas.microsoft.com/office/drawing/2014/main" id="{B020A92C-46B3-4FC5-BC88-76DD8B796589}"/>
              </a:ext>
            </a:extLst>
          </p:cNvPr>
          <p:cNvSpPr>
            <a:spLocks xmlns:a="http://schemas.openxmlformats.org/drawingml/2006/main" noGrp="1"/>
          </p:cNvSpPr>
          <p:nvPr/>
        </p:nvSpPr>
        <p:spPr>
          <a:xfrm xmlns:a="http://schemas.openxmlformats.org/drawingml/2006/main">
            <a:off x="5048250" y="3067050"/>
            <a:ext cx="19812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16" name="">
            <a:extLst xmlns:a="http://schemas.openxmlformats.org/drawingml/2006/main">
              <a:ext uri="{FF2B5EF4-FFF2-40B4-BE49-F238E27FC236}">
                <a16:creationId xmlns:a16="http://schemas.microsoft.com/office/drawing/2014/main" id="{F9C11956-2165-4F12-B219-AA92CE8CF798}"/>
              </a:ext>
            </a:extLst>
          </p:cNvPr>
          <p:cNvSpPr>
            <a:spLocks xmlns:a="http://schemas.openxmlformats.org/drawingml/2006/main" noGrp="1"/>
          </p:cNvSpPr>
          <p:nvPr/>
        </p:nvSpPr>
        <p:spPr>
          <a:xfrm xmlns:a="http://schemas.openxmlformats.org/drawingml/2006/main">
            <a:off x="5048250" y="3238500"/>
            <a:ext cx="1981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어디로, 어떤 조건으로</a:t>
            </a:r>
          </a:p>
          <a:p xmlns:a="http://schemas.openxmlformats.org/drawingml/2006/main">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추진할 것인가?</a:t>
            </a:r>
          </a:p>
        </p:txBody>
      </p:sp>
      <p:sp>
        <p:nvSpPr>
          <p:cNvPr id="17" name="">
            <a:extLst xmlns:a="http://schemas.openxmlformats.org/drawingml/2006/main">
              <a:ext uri="{FF2B5EF4-FFF2-40B4-BE49-F238E27FC236}">
                <a16:creationId xmlns:a16="http://schemas.microsoft.com/office/drawing/2014/main" id="{E15948D8-DC3E-4CB7-AFF5-FED64C456BFE}"/>
              </a:ext>
            </a:extLst>
          </p:cNvPr>
          <p:cNvSpPr>
            <a:spLocks xmlns:a="http://schemas.openxmlformats.org/drawingml/2006/main" noGrp="1"/>
          </p:cNvSpPr>
          <p:nvPr/>
        </p:nvSpPr>
        <p:spPr>
          <a:xfrm xmlns:a="http://schemas.openxmlformats.org/drawingml/2006/main">
            <a:off x="5048250" y="4343400"/>
            <a:ext cx="1981200" cy="723900"/>
          </a:xfrm>
          <a:prstGeom xmlns:a="http://schemas.openxmlformats.org/drawingml/2006/main" prst="rect">
            <a:avLst/>
          </a:prstGeom>
          <a:solidFill xmlns:a="http://schemas.openxmlformats.org/drawingml/2006/main">
            <a:srgbClr val="F3F6F7"/>
          </a:solidFill>
          <a:ln xmlns:a="http://schemas.openxmlformats.org/drawingml/2006/main" w="0">
            <a:solidFill>
              <a:srgbClr val="F3F6F7"/>
            </a:solidFill>
            <a:prstDash val="solid"/>
          </a:ln>
        </p:spPr>
      </p:sp>
      <p:sp>
        <p:nvSpPr>
          <p:cNvPr id="18" name="">
            <a:extLst xmlns:a="http://schemas.openxmlformats.org/drawingml/2006/main">
              <a:ext uri="{FF2B5EF4-FFF2-40B4-BE49-F238E27FC236}">
                <a16:creationId xmlns:a16="http://schemas.microsoft.com/office/drawing/2014/main" id="{D2D1A99C-02F5-48A3-80A4-8B63D4FB1FFD}"/>
              </a:ext>
            </a:extLst>
          </p:cNvPr>
          <p:cNvSpPr>
            <a:spLocks xmlns:a="http://schemas.openxmlformats.org/drawingml/2006/main" noGrp="1"/>
          </p:cNvSpPr>
          <p:nvPr/>
        </p:nvSpPr>
        <p:spPr>
          <a:xfrm xmlns:a="http://schemas.openxmlformats.org/drawingml/2006/main">
            <a:off x="5162550" y="4438650"/>
            <a:ext cx="1752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051C2C"/>
                </a:solidFill>
                <a:latin typeface="Noto Sans KR"/>
                <a:ea typeface="Noto Sans KR"/>
                <a:cs typeface="Noto Sans KR"/>
              </a:defRPr>
            </a:pPr>
            <a:r>
              <a:rPr sz="1050" b="1">
                <a:solidFill>
                  <a:srgbClr val="051C2C"/>
                </a:solidFill>
                <a:latin typeface="Noto Sans KR"/>
                <a:ea typeface="Noto Sans KR"/>
                <a:cs typeface="Noto Sans KR"/>
              </a:rPr>
              <a:t>후보국 · 인증 · 관세 · 결제</a:t>
            </a:r>
          </a:p>
        </p:txBody>
      </p:sp>
      <p:sp>
        <p:nvSpPr>
          <p:cNvPr id="19" name="">
            <a:extLst xmlns:a="http://schemas.openxmlformats.org/drawingml/2006/main">
              <a:ext uri="{FF2B5EF4-FFF2-40B4-BE49-F238E27FC236}">
                <a16:creationId xmlns:a16="http://schemas.microsoft.com/office/drawing/2014/main" id="{E8E2A783-75C5-4107-9E78-7B8245EFF6A3}"/>
              </a:ext>
            </a:extLst>
          </p:cNvPr>
          <p:cNvSpPr>
            <a:spLocks xmlns:a="http://schemas.openxmlformats.org/drawingml/2006/main" noGrp="1"/>
          </p:cNvSpPr>
          <p:nvPr/>
        </p:nvSpPr>
        <p:spPr>
          <a:xfrm xmlns:a="http://schemas.openxmlformats.org/drawingml/2006/main">
            <a:off x="7867650" y="1352550"/>
            <a:ext cx="723900" cy="723900"/>
          </a:xfrm>
          <a:prstGeom xmlns:a="http://schemas.openxmlformats.org/drawingml/2006/main" prst="ellipse">
            <a:avLst/>
          </a:prstGeom>
          <a:solidFill xmlns:a="http://schemas.openxmlformats.org/drawingml/2006/main">
            <a:srgbClr val="00A58A"/>
          </a:solidFill>
          <a:ln xmlns:a="http://schemas.openxmlformats.org/drawingml/2006/main" w="0">
            <a:solidFill>
              <a:srgbClr val="00A58A"/>
            </a:solid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796dca42ab944bbe"/>
          <a:stretch xmlns:a="http://schemas.openxmlformats.org/drawingml/2006/main"/>
        </p:blipFill>
        <p:spPr>
          <a:xfrm xmlns:a="http://schemas.openxmlformats.org/drawingml/2006/main">
            <a:off x="7962900" y="1447800"/>
            <a:ext cx="533400" cy="533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73553AE3-C27B-4AB8-B236-1DD47169EFA0}"/>
              </a:ext>
            </a:extLst>
          </p:cNvPr>
          <p:cNvSpPr>
            <a:spLocks xmlns:a="http://schemas.openxmlformats.org/drawingml/2006/main" noGrp="1"/>
          </p:cNvSpPr>
          <p:nvPr/>
        </p:nvSpPr>
        <p:spPr>
          <a:xfrm xmlns:a="http://schemas.openxmlformats.org/drawingml/2006/main">
            <a:off x="7239000" y="21526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02</a:t>
            </a:r>
          </a:p>
        </p:txBody>
      </p:sp>
      <p:sp>
        <p:nvSpPr>
          <p:cNvPr id="22" name="">
            <a:extLst xmlns:a="http://schemas.openxmlformats.org/drawingml/2006/main">
              <a:ext uri="{FF2B5EF4-FFF2-40B4-BE49-F238E27FC236}">
                <a16:creationId xmlns:a16="http://schemas.microsoft.com/office/drawing/2014/main" id="{9D6B9B11-4BA7-4EF8-831F-BF67B9F7659E}"/>
              </a:ext>
            </a:extLst>
          </p:cNvPr>
          <p:cNvSpPr>
            <a:spLocks xmlns:a="http://schemas.openxmlformats.org/drawingml/2006/main" noGrp="1"/>
          </p:cNvSpPr>
          <p:nvPr/>
        </p:nvSpPr>
        <p:spPr>
          <a:xfrm xmlns:a="http://schemas.openxmlformats.org/drawingml/2006/main">
            <a:off x="7239000" y="2419350"/>
            <a:ext cx="1981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산단·지자체·TP</a:t>
            </a:r>
          </a:p>
        </p:txBody>
      </p:sp>
      <p:sp>
        <p:nvSpPr>
          <p:cNvPr id="23" name="">
            <a:extLst xmlns:a="http://schemas.openxmlformats.org/drawingml/2006/main">
              <a:ext uri="{FF2B5EF4-FFF2-40B4-BE49-F238E27FC236}">
                <a16:creationId xmlns:a16="http://schemas.microsoft.com/office/drawing/2014/main" id="{B633B5C3-C9A2-450A-8519-68C952E742FE}"/>
              </a:ext>
            </a:extLst>
          </p:cNvPr>
          <p:cNvSpPr>
            <a:spLocks xmlns:a="http://schemas.openxmlformats.org/drawingml/2006/main" noGrp="1"/>
          </p:cNvSpPr>
          <p:nvPr/>
        </p:nvSpPr>
        <p:spPr>
          <a:xfrm xmlns:a="http://schemas.openxmlformats.org/drawingml/2006/main">
            <a:off x="7239000" y="3067050"/>
            <a:ext cx="19812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4" name="">
            <a:extLst xmlns:a="http://schemas.openxmlformats.org/drawingml/2006/main">
              <a:ext uri="{FF2B5EF4-FFF2-40B4-BE49-F238E27FC236}">
                <a16:creationId xmlns:a16="http://schemas.microsoft.com/office/drawing/2014/main" id="{EA67E680-8902-409E-8067-5F6371034797}"/>
              </a:ext>
            </a:extLst>
          </p:cNvPr>
          <p:cNvSpPr>
            <a:spLocks xmlns:a="http://schemas.openxmlformats.org/drawingml/2006/main" noGrp="1"/>
          </p:cNvSpPr>
          <p:nvPr/>
        </p:nvSpPr>
        <p:spPr>
          <a:xfrm xmlns:a="http://schemas.openxmlformats.org/drawingml/2006/main">
            <a:off x="7239000" y="3238500"/>
            <a:ext cx="1981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누구를 먼저 지원하고</a:t>
            </a:r>
          </a:p>
          <a:p xmlns:a="http://schemas.openxmlformats.org/drawingml/2006/main">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무엇을 보완할 것인가?</a:t>
            </a:r>
          </a:p>
        </p:txBody>
      </p:sp>
      <p:sp>
        <p:nvSpPr>
          <p:cNvPr id="25" name="">
            <a:extLst xmlns:a="http://schemas.openxmlformats.org/drawingml/2006/main">
              <a:ext uri="{FF2B5EF4-FFF2-40B4-BE49-F238E27FC236}">
                <a16:creationId xmlns:a16="http://schemas.microsoft.com/office/drawing/2014/main" id="{8A85DA00-50E8-443F-9CD5-DD23A1EA7B91}"/>
              </a:ext>
            </a:extLst>
          </p:cNvPr>
          <p:cNvSpPr>
            <a:spLocks xmlns:a="http://schemas.openxmlformats.org/drawingml/2006/main" noGrp="1"/>
          </p:cNvSpPr>
          <p:nvPr/>
        </p:nvSpPr>
        <p:spPr>
          <a:xfrm xmlns:a="http://schemas.openxmlformats.org/drawingml/2006/main">
            <a:off x="7239000" y="4343400"/>
            <a:ext cx="1981200" cy="723900"/>
          </a:xfrm>
          <a:prstGeom xmlns:a="http://schemas.openxmlformats.org/drawingml/2006/main" prst="rect">
            <a:avLst/>
          </a:prstGeom>
          <a:solidFill xmlns:a="http://schemas.openxmlformats.org/drawingml/2006/main">
            <a:srgbClr val="F3F6F7"/>
          </a:solidFill>
          <a:ln xmlns:a="http://schemas.openxmlformats.org/drawingml/2006/main" w="0">
            <a:solidFill>
              <a:srgbClr val="F3F6F7"/>
            </a:solidFill>
            <a:prstDash val="solid"/>
          </a:ln>
        </p:spPr>
      </p:sp>
      <p:sp>
        <p:nvSpPr>
          <p:cNvPr id="26" name="">
            <a:extLst xmlns:a="http://schemas.openxmlformats.org/drawingml/2006/main">
              <a:ext uri="{FF2B5EF4-FFF2-40B4-BE49-F238E27FC236}">
                <a16:creationId xmlns:a16="http://schemas.microsoft.com/office/drawing/2014/main" id="{7A49E845-8D53-4C15-B4B7-164D5E70A329}"/>
              </a:ext>
            </a:extLst>
          </p:cNvPr>
          <p:cNvSpPr>
            <a:spLocks xmlns:a="http://schemas.openxmlformats.org/drawingml/2006/main" noGrp="1"/>
          </p:cNvSpPr>
          <p:nvPr/>
        </p:nvSpPr>
        <p:spPr>
          <a:xfrm xmlns:a="http://schemas.openxmlformats.org/drawingml/2006/main">
            <a:off x="7353300" y="4438650"/>
            <a:ext cx="1752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051C2C"/>
                </a:solidFill>
                <a:latin typeface="Noto Sans KR"/>
                <a:ea typeface="Noto Sans KR"/>
                <a:cs typeface="Noto Sans KR"/>
              </a:defRPr>
            </a:pPr>
            <a:r>
              <a:rPr sz="1050" b="1">
                <a:solidFill>
                  <a:srgbClr val="051C2C"/>
                </a:solidFill>
                <a:latin typeface="Noto Sans KR"/>
                <a:ea typeface="Noto Sans KR"/>
                <a:cs typeface="Noto Sans KR"/>
              </a:rPr>
              <a:t>표준 진단 · 지원 우선순위</a:t>
            </a:r>
          </a:p>
        </p:txBody>
      </p:sp>
      <p:sp>
        <p:nvSpPr>
          <p:cNvPr id="27" name="">
            <a:extLst xmlns:a="http://schemas.openxmlformats.org/drawingml/2006/main">
              <a:ext uri="{FF2B5EF4-FFF2-40B4-BE49-F238E27FC236}">
                <a16:creationId xmlns:a16="http://schemas.microsoft.com/office/drawing/2014/main" id="{832D54BE-E586-4E12-96CE-F9C519F5E87E}"/>
              </a:ext>
            </a:extLst>
          </p:cNvPr>
          <p:cNvSpPr>
            <a:spLocks xmlns:a="http://schemas.openxmlformats.org/drawingml/2006/main" noGrp="1"/>
          </p:cNvSpPr>
          <p:nvPr/>
        </p:nvSpPr>
        <p:spPr>
          <a:xfrm xmlns:a="http://schemas.openxmlformats.org/drawingml/2006/main">
            <a:off x="10058400" y="1352550"/>
            <a:ext cx="723900" cy="7239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a9620a22f30e4fba"/>
          <a:stretch xmlns:a="http://schemas.openxmlformats.org/drawingml/2006/main"/>
        </p:blipFill>
        <p:spPr>
          <a:xfrm xmlns:a="http://schemas.openxmlformats.org/drawingml/2006/main">
            <a:off x="10153650" y="1447800"/>
            <a:ext cx="533400" cy="5334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31D0C881-33F1-41FA-9172-BA8C95233BA7}"/>
              </a:ext>
            </a:extLst>
          </p:cNvPr>
          <p:cNvSpPr>
            <a:spLocks xmlns:a="http://schemas.openxmlformats.org/drawingml/2006/main" noGrp="1"/>
          </p:cNvSpPr>
          <p:nvPr/>
        </p:nvSpPr>
        <p:spPr>
          <a:xfrm xmlns:a="http://schemas.openxmlformats.org/drawingml/2006/main">
            <a:off x="9429750" y="21526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03</a:t>
            </a:r>
          </a:p>
        </p:txBody>
      </p:sp>
      <p:sp>
        <p:nvSpPr>
          <p:cNvPr id="30" name="">
            <a:extLst xmlns:a="http://schemas.openxmlformats.org/drawingml/2006/main">
              <a:ext uri="{FF2B5EF4-FFF2-40B4-BE49-F238E27FC236}">
                <a16:creationId xmlns:a16="http://schemas.microsoft.com/office/drawing/2014/main" id="{8F1D6445-7D49-470A-BBDC-51E0A15780A5}"/>
              </a:ext>
            </a:extLst>
          </p:cNvPr>
          <p:cNvSpPr>
            <a:spLocks xmlns:a="http://schemas.openxmlformats.org/drawingml/2006/main" noGrp="1"/>
          </p:cNvSpPr>
          <p:nvPr/>
        </p:nvSpPr>
        <p:spPr>
          <a:xfrm xmlns:a="http://schemas.openxmlformats.org/drawingml/2006/main">
            <a:off x="9429750" y="2419350"/>
            <a:ext cx="1981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관세·인증·무역 전문가</a:t>
            </a:r>
          </a:p>
        </p:txBody>
      </p:sp>
      <p:sp>
        <p:nvSpPr>
          <p:cNvPr id="31" name="">
            <a:extLst xmlns:a="http://schemas.openxmlformats.org/drawingml/2006/main">
              <a:ext uri="{FF2B5EF4-FFF2-40B4-BE49-F238E27FC236}">
                <a16:creationId xmlns:a16="http://schemas.microsoft.com/office/drawing/2014/main" id="{6DE35D12-BA5E-431D-AEC9-5EA93497FA47}"/>
              </a:ext>
            </a:extLst>
          </p:cNvPr>
          <p:cNvSpPr>
            <a:spLocks xmlns:a="http://schemas.openxmlformats.org/drawingml/2006/main" noGrp="1"/>
          </p:cNvSpPr>
          <p:nvPr/>
        </p:nvSpPr>
        <p:spPr>
          <a:xfrm xmlns:a="http://schemas.openxmlformats.org/drawingml/2006/main">
            <a:off x="9429750" y="3067050"/>
            <a:ext cx="19812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32" name="">
            <a:extLst xmlns:a="http://schemas.openxmlformats.org/drawingml/2006/main">
              <a:ext uri="{FF2B5EF4-FFF2-40B4-BE49-F238E27FC236}">
                <a16:creationId xmlns:a16="http://schemas.microsoft.com/office/drawing/2014/main" id="{857E7DF3-0E37-4270-BC0A-8EBF49F2C1BF}"/>
              </a:ext>
            </a:extLst>
          </p:cNvPr>
          <p:cNvSpPr>
            <a:spLocks xmlns:a="http://schemas.openxmlformats.org/drawingml/2006/main" noGrp="1"/>
          </p:cNvSpPr>
          <p:nvPr/>
        </p:nvSpPr>
        <p:spPr>
          <a:xfrm xmlns:a="http://schemas.openxmlformats.org/drawingml/2006/main">
            <a:off x="9429750" y="3238500"/>
            <a:ext cx="1981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어떤 근거를 확인하고</a:t>
            </a:r>
          </a:p>
          <a:p xmlns:a="http://schemas.openxmlformats.org/drawingml/2006/main">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어디에 자문할 것인가?</a:t>
            </a:r>
          </a:p>
        </p:txBody>
      </p:sp>
      <p:sp>
        <p:nvSpPr>
          <p:cNvPr id="33" name="">
            <a:extLst xmlns:a="http://schemas.openxmlformats.org/drawingml/2006/main">
              <a:ext uri="{FF2B5EF4-FFF2-40B4-BE49-F238E27FC236}">
                <a16:creationId xmlns:a16="http://schemas.microsoft.com/office/drawing/2014/main" id="{4F0CBF78-1D2E-4BFB-B00F-B4B0B0355E8C}"/>
              </a:ext>
            </a:extLst>
          </p:cNvPr>
          <p:cNvSpPr>
            <a:spLocks xmlns:a="http://schemas.openxmlformats.org/drawingml/2006/main" noGrp="1"/>
          </p:cNvSpPr>
          <p:nvPr/>
        </p:nvSpPr>
        <p:spPr>
          <a:xfrm xmlns:a="http://schemas.openxmlformats.org/drawingml/2006/main">
            <a:off x="9429750" y="4343400"/>
            <a:ext cx="1981200" cy="723900"/>
          </a:xfrm>
          <a:prstGeom xmlns:a="http://schemas.openxmlformats.org/drawingml/2006/main" prst="rect">
            <a:avLst/>
          </a:prstGeom>
          <a:solidFill xmlns:a="http://schemas.openxmlformats.org/drawingml/2006/main">
            <a:srgbClr val="F3F6F7"/>
          </a:solidFill>
          <a:ln xmlns:a="http://schemas.openxmlformats.org/drawingml/2006/main" w="0">
            <a:solidFill>
              <a:srgbClr val="F3F6F7"/>
            </a:solidFill>
            <a:prstDash val="solid"/>
          </a:ln>
        </p:spPr>
      </p:sp>
      <p:sp>
        <p:nvSpPr>
          <p:cNvPr id="34" name="">
            <a:extLst xmlns:a="http://schemas.openxmlformats.org/drawingml/2006/main">
              <a:ext uri="{FF2B5EF4-FFF2-40B4-BE49-F238E27FC236}">
                <a16:creationId xmlns:a16="http://schemas.microsoft.com/office/drawing/2014/main" id="{02983D17-CF98-466B-8BE9-9A5E2889C9CB}"/>
              </a:ext>
            </a:extLst>
          </p:cNvPr>
          <p:cNvSpPr>
            <a:spLocks xmlns:a="http://schemas.openxmlformats.org/drawingml/2006/main" noGrp="1"/>
          </p:cNvSpPr>
          <p:nvPr/>
        </p:nvSpPr>
        <p:spPr>
          <a:xfrm xmlns:a="http://schemas.openxmlformats.org/drawingml/2006/main">
            <a:off x="9544050" y="4438650"/>
            <a:ext cx="1752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051C2C"/>
                </a:solidFill>
                <a:latin typeface="Noto Sans KR"/>
                <a:ea typeface="Noto Sans KR"/>
                <a:cs typeface="Noto Sans KR"/>
              </a:defRPr>
            </a:pPr>
            <a:r>
              <a:rPr sz="1050" b="1">
                <a:solidFill>
                  <a:srgbClr val="051C2C"/>
                </a:solidFill>
                <a:latin typeface="Noto Sans KR"/>
                <a:ea typeface="Noto Sans KR"/>
                <a:cs typeface="Noto Sans KR"/>
              </a:rPr>
              <a:t>근거 확인 · 고부가 자문</a:t>
            </a:r>
          </a:p>
        </p:txBody>
      </p:sp>
      <p:sp>
        <p:nvSpPr>
          <p:cNvPr id="35" name="">
            <a:extLst xmlns:a="http://schemas.openxmlformats.org/drawingml/2006/main">
              <a:ext uri="{FF2B5EF4-FFF2-40B4-BE49-F238E27FC236}">
                <a16:creationId xmlns:a16="http://schemas.microsoft.com/office/drawing/2014/main" id="{9FF83F89-373F-450E-8285-3A67BA24F81E}"/>
              </a:ext>
            </a:extLst>
          </p:cNvPr>
          <p:cNvSpPr>
            <a:spLocks xmlns:a="http://schemas.openxmlformats.org/drawingml/2006/main" noGrp="1"/>
          </p:cNvSpPr>
          <p:nvPr/>
        </p:nvSpPr>
        <p:spPr>
          <a:xfrm xmlns:a="http://schemas.openxmlformats.org/drawingml/2006/main">
            <a:off x="838200" y="5353050"/>
            <a:ext cx="10572750" cy="590550"/>
          </a:xfrm>
          <a:prstGeom xmlns:a="http://schemas.openxmlformats.org/drawingml/2006/main" prst="roundRect">
            <a:avLst>
              <a:gd name="adj" fmla="val 19355"/>
            </a:avLst>
          </a:prstGeom>
          <a:solidFill xmlns:a="http://schemas.openxmlformats.org/drawingml/2006/main">
            <a:srgbClr val="051C2C"/>
          </a:solidFill>
          <a:ln xmlns:a="http://schemas.openxmlformats.org/drawingml/2006/main" w="0">
            <a:solidFill>
              <a:srgbClr val="051C2C"/>
            </a:solidFill>
            <a:prstDash val="solid"/>
          </a:ln>
        </p:spPr>
      </p:sp>
      <p:sp>
        <p:nvSpPr>
          <p:cNvPr id="36" name="">
            <a:extLst xmlns:a="http://schemas.openxmlformats.org/drawingml/2006/main">
              <a:ext uri="{FF2B5EF4-FFF2-40B4-BE49-F238E27FC236}">
                <a16:creationId xmlns:a16="http://schemas.microsoft.com/office/drawing/2014/main" id="{BDED23E4-CD38-4C36-969C-DFAB45BD329B}"/>
              </a:ext>
            </a:extLst>
          </p:cNvPr>
          <p:cNvSpPr>
            <a:spLocks xmlns:a="http://schemas.openxmlformats.org/drawingml/2006/main" noGrp="1"/>
          </p:cNvSpPr>
          <p:nvPr/>
        </p:nvSpPr>
        <p:spPr>
          <a:xfrm xmlns:a="http://schemas.openxmlformats.org/drawingml/2006/main">
            <a:off x="1066800" y="5467350"/>
            <a:ext cx="10115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공통 산출물  |  출처가 연결된 실행 리포트</a:t>
            </a:r>
          </a:p>
        </p:txBody>
      </p:sp>
    </p:spTree>
    <p:extLst>
      <p:ext uri="{BB962C8B-B14F-4D97-AF65-F5344CB8AC3E}">
        <p14:creationId xmlns:p14="http://schemas.microsoft.com/office/powerpoint/2010/main" val="21430413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1C734DB1-B71E-457E-8242-43191A6B7EE8}"/>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HOW IT WORKS</a:t>
            </a:r>
          </a:p>
        </p:txBody>
      </p:sp>
      <p:sp>
        <p:nvSpPr>
          <p:cNvPr id="2" name="slide-5-title">
            <a:extLst xmlns:a="http://schemas.openxmlformats.org/drawingml/2006/main">
              <a:ext uri="{FF2B5EF4-FFF2-40B4-BE49-F238E27FC236}">
                <a16:creationId xmlns:a16="http://schemas.microsoft.com/office/drawing/2014/main" id="{68FEB02F-1CBB-4B9D-AF92-E15A267D6D66}"/>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기업·제품 입력부터 실행 리포트까지 다섯 단계로 연결됩니다</a:t>
            </a:r>
          </a:p>
        </p:txBody>
      </p:sp>
      <p:sp>
        <p:nvSpPr>
          <p:cNvPr id="3" name="">
            <a:extLst xmlns:a="http://schemas.openxmlformats.org/drawingml/2006/main">
              <a:ext uri="{FF2B5EF4-FFF2-40B4-BE49-F238E27FC236}">
                <a16:creationId xmlns:a16="http://schemas.microsoft.com/office/drawing/2014/main" id="{BBB37D1E-BA74-478C-AFE9-F49973C40D37}"/>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F60D6602-4063-4E5C-B4CB-DE51140F96A6}"/>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A2DE3872-48F5-496E-9877-055EEA1BBD88}"/>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DA5519C6-D5B7-4F8A-A0E7-BC3FC964450D}"/>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사용자 흐름</a:t>
            </a:r>
          </a:p>
        </p:txBody>
      </p:sp>
      <p:sp>
        <p:nvSpPr>
          <p:cNvPr id="7" name="">
            <a:extLst xmlns:a="http://schemas.openxmlformats.org/drawingml/2006/main">
              <a:ext uri="{FF2B5EF4-FFF2-40B4-BE49-F238E27FC236}">
                <a16:creationId xmlns:a16="http://schemas.microsoft.com/office/drawing/2014/main" id="{E6C22554-6E95-49BF-9D68-2036764BA844}"/>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05</a:t>
            </a:r>
          </a:p>
        </p:txBody>
      </p:sp>
      <p:sp>
        <p:nvSpPr>
          <p:cNvPr id="8" name="">
            <a:extLst xmlns:a="http://schemas.openxmlformats.org/drawingml/2006/main">
              <a:ext uri="{FF2B5EF4-FFF2-40B4-BE49-F238E27FC236}">
                <a16:creationId xmlns:a16="http://schemas.microsoft.com/office/drawing/2014/main" id="{31533116-B2B7-4171-984D-99950BE9DED1}"/>
              </a:ext>
            </a:extLst>
          </p:cNvPr>
          <p:cNvSpPr>
            <a:spLocks xmlns:a="http://schemas.openxmlformats.org/drawingml/2006/main" noGrp="1"/>
          </p:cNvSpPr>
          <p:nvPr/>
        </p:nvSpPr>
        <p:spPr>
          <a:xfrm xmlns:a="http://schemas.openxmlformats.org/drawingml/2006/main">
            <a:off x="1143000" y="2876550"/>
            <a:ext cx="9906000" cy="38100"/>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9" name="">
            <a:extLst xmlns:a="http://schemas.openxmlformats.org/drawingml/2006/main">
              <a:ext uri="{FF2B5EF4-FFF2-40B4-BE49-F238E27FC236}">
                <a16:creationId xmlns:a16="http://schemas.microsoft.com/office/drawing/2014/main" id="{714C4FD1-92E8-49D7-BFDE-6F809645E299}"/>
              </a:ext>
            </a:extLst>
          </p:cNvPr>
          <p:cNvSpPr>
            <a:spLocks xmlns:a="http://schemas.openxmlformats.org/drawingml/2006/main" noGrp="1"/>
          </p:cNvSpPr>
          <p:nvPr/>
        </p:nvSpPr>
        <p:spPr>
          <a:xfrm xmlns:a="http://schemas.openxmlformats.org/drawingml/2006/main">
            <a:off x="1581150" y="2476500"/>
            <a:ext cx="800100" cy="8001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sp>
        <p:nvSpPr>
          <p:cNvPr id="10" name="">
            <a:extLst xmlns:a="http://schemas.openxmlformats.org/drawingml/2006/main">
              <a:ext uri="{FF2B5EF4-FFF2-40B4-BE49-F238E27FC236}">
                <a16:creationId xmlns:a16="http://schemas.microsoft.com/office/drawing/2014/main" id="{39484587-3D8F-4649-88A6-FA211E786FB1}"/>
              </a:ext>
            </a:extLst>
          </p:cNvPr>
          <p:cNvSpPr>
            <a:spLocks xmlns:a="http://schemas.openxmlformats.org/drawingml/2006/main" noGrp="1"/>
          </p:cNvSpPr>
          <p:nvPr/>
        </p:nvSpPr>
        <p:spPr>
          <a:xfrm xmlns:a="http://schemas.openxmlformats.org/drawingml/2006/main">
            <a:off x="1581150" y="2476500"/>
            <a:ext cx="800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1</a:t>
            </a:r>
          </a:p>
        </p:txBody>
      </p:sp>
      <p:sp>
        <p:nvSpPr>
          <p:cNvPr id="11" name="">
            <a:extLst xmlns:a="http://schemas.openxmlformats.org/drawingml/2006/main">
              <a:ext uri="{FF2B5EF4-FFF2-40B4-BE49-F238E27FC236}">
                <a16:creationId xmlns:a16="http://schemas.microsoft.com/office/drawing/2014/main" id="{17640F5E-4CEA-4D0A-BA92-295827AA518F}"/>
              </a:ext>
            </a:extLst>
          </p:cNvPr>
          <p:cNvSpPr>
            <a:spLocks xmlns:a="http://schemas.openxmlformats.org/drawingml/2006/main" noGrp="1"/>
          </p:cNvSpPr>
          <p:nvPr/>
        </p:nvSpPr>
        <p:spPr>
          <a:xfrm xmlns:a="http://schemas.openxmlformats.org/drawingml/2006/main">
            <a:off x="914400" y="354330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기업 확인</a:t>
            </a:r>
          </a:p>
        </p:txBody>
      </p:sp>
      <p:sp>
        <p:nvSpPr>
          <p:cNvPr id="12" name="">
            <a:extLst xmlns:a="http://schemas.openxmlformats.org/drawingml/2006/main">
              <a:ext uri="{FF2B5EF4-FFF2-40B4-BE49-F238E27FC236}">
                <a16:creationId xmlns:a16="http://schemas.microsoft.com/office/drawing/2014/main" id="{73A625E3-BDE2-4108-9D92-DD859A5A778D}"/>
              </a:ext>
            </a:extLst>
          </p:cNvPr>
          <p:cNvSpPr>
            <a:spLocks xmlns:a="http://schemas.openxmlformats.org/drawingml/2006/main" noGrp="1"/>
          </p:cNvSpPr>
          <p:nvPr/>
        </p:nvSpPr>
        <p:spPr>
          <a:xfrm xmlns:a="http://schemas.openxmlformats.org/drawingml/2006/main">
            <a:off x="1028700" y="39814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KICOX 공장·생산품</a:t>
            </a:r>
          </a:p>
        </p:txBody>
      </p:sp>
      <p:sp>
        <p:nvSpPr>
          <p:cNvPr id="13" name="">
            <a:extLst xmlns:a="http://schemas.openxmlformats.org/drawingml/2006/main">
              <a:ext uri="{FF2B5EF4-FFF2-40B4-BE49-F238E27FC236}">
                <a16:creationId xmlns:a16="http://schemas.microsoft.com/office/drawing/2014/main" id="{25B45D54-5071-4F5C-9D18-5B9224FAC763}"/>
              </a:ext>
            </a:extLst>
          </p:cNvPr>
          <p:cNvSpPr>
            <a:spLocks xmlns:a="http://schemas.openxmlformats.org/drawingml/2006/main" noGrp="1"/>
          </p:cNvSpPr>
          <p:nvPr/>
        </p:nvSpPr>
        <p:spPr>
          <a:xfrm xmlns:a="http://schemas.openxmlformats.org/drawingml/2006/main">
            <a:off x="2781300" y="2571750"/>
            <a:ext cx="552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14" name="">
            <a:extLst xmlns:a="http://schemas.openxmlformats.org/drawingml/2006/main">
              <a:ext uri="{FF2B5EF4-FFF2-40B4-BE49-F238E27FC236}">
                <a16:creationId xmlns:a16="http://schemas.microsoft.com/office/drawing/2014/main" id="{ED626EAE-5A15-434C-8DEB-0C4B838D7949}"/>
              </a:ext>
            </a:extLst>
          </p:cNvPr>
          <p:cNvSpPr>
            <a:spLocks xmlns:a="http://schemas.openxmlformats.org/drawingml/2006/main" noGrp="1"/>
          </p:cNvSpPr>
          <p:nvPr/>
        </p:nvSpPr>
        <p:spPr>
          <a:xfrm xmlns:a="http://schemas.openxmlformats.org/drawingml/2006/main">
            <a:off x="3714750" y="2476500"/>
            <a:ext cx="800100" cy="8001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sp>
        <p:nvSpPr>
          <p:cNvPr id="15" name="">
            <a:extLst xmlns:a="http://schemas.openxmlformats.org/drawingml/2006/main">
              <a:ext uri="{FF2B5EF4-FFF2-40B4-BE49-F238E27FC236}">
                <a16:creationId xmlns:a16="http://schemas.microsoft.com/office/drawing/2014/main" id="{550CB843-E02A-447C-83BE-544BCA38079D}"/>
              </a:ext>
            </a:extLst>
          </p:cNvPr>
          <p:cNvSpPr>
            <a:spLocks xmlns:a="http://schemas.openxmlformats.org/drawingml/2006/main" noGrp="1"/>
          </p:cNvSpPr>
          <p:nvPr/>
        </p:nvSpPr>
        <p:spPr>
          <a:xfrm xmlns:a="http://schemas.openxmlformats.org/drawingml/2006/main">
            <a:off x="3714750" y="2476500"/>
            <a:ext cx="800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2</a:t>
            </a:r>
          </a:p>
        </p:txBody>
      </p:sp>
      <p:sp>
        <p:nvSpPr>
          <p:cNvPr id="16" name="">
            <a:extLst xmlns:a="http://schemas.openxmlformats.org/drawingml/2006/main">
              <a:ext uri="{FF2B5EF4-FFF2-40B4-BE49-F238E27FC236}">
                <a16:creationId xmlns:a16="http://schemas.microsoft.com/office/drawing/2014/main" id="{E3831528-E534-4B4C-8F16-177A25A32EAC}"/>
              </a:ext>
            </a:extLst>
          </p:cNvPr>
          <p:cNvSpPr>
            <a:spLocks xmlns:a="http://schemas.openxmlformats.org/drawingml/2006/main" noGrp="1"/>
          </p:cNvSpPr>
          <p:nvPr/>
        </p:nvSpPr>
        <p:spPr>
          <a:xfrm xmlns:a="http://schemas.openxmlformats.org/drawingml/2006/main">
            <a:off x="3048000" y="354330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품목 확정</a:t>
            </a:r>
          </a:p>
        </p:txBody>
      </p:sp>
      <p:sp>
        <p:nvSpPr>
          <p:cNvPr id="17" name="">
            <a:extLst xmlns:a="http://schemas.openxmlformats.org/drawingml/2006/main">
              <a:ext uri="{FF2B5EF4-FFF2-40B4-BE49-F238E27FC236}">
                <a16:creationId xmlns:a16="http://schemas.microsoft.com/office/drawing/2014/main" id="{F455F97C-3687-473B-A549-86D1A1DE71B4}"/>
              </a:ext>
            </a:extLst>
          </p:cNvPr>
          <p:cNvSpPr>
            <a:spLocks xmlns:a="http://schemas.openxmlformats.org/drawingml/2006/main" noGrp="1"/>
          </p:cNvSpPr>
          <p:nvPr/>
        </p:nvSpPr>
        <p:spPr>
          <a:xfrm xmlns:a="http://schemas.openxmlformats.org/drawingml/2006/main">
            <a:off x="3162300" y="39814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HS·HSK 사용자 확인</a:t>
            </a:r>
          </a:p>
        </p:txBody>
      </p:sp>
      <p:sp>
        <p:nvSpPr>
          <p:cNvPr id="18" name="">
            <a:extLst xmlns:a="http://schemas.openxmlformats.org/drawingml/2006/main">
              <a:ext uri="{FF2B5EF4-FFF2-40B4-BE49-F238E27FC236}">
                <a16:creationId xmlns:a16="http://schemas.microsoft.com/office/drawing/2014/main" id="{A74DED65-3455-48AB-A145-4810E2486C80}"/>
              </a:ext>
            </a:extLst>
          </p:cNvPr>
          <p:cNvSpPr>
            <a:spLocks xmlns:a="http://schemas.openxmlformats.org/drawingml/2006/main" noGrp="1"/>
          </p:cNvSpPr>
          <p:nvPr/>
        </p:nvSpPr>
        <p:spPr>
          <a:xfrm xmlns:a="http://schemas.openxmlformats.org/drawingml/2006/main">
            <a:off x="4914900" y="2571750"/>
            <a:ext cx="552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19" name="">
            <a:extLst xmlns:a="http://schemas.openxmlformats.org/drawingml/2006/main">
              <a:ext uri="{FF2B5EF4-FFF2-40B4-BE49-F238E27FC236}">
                <a16:creationId xmlns:a16="http://schemas.microsoft.com/office/drawing/2014/main" id="{9CB17123-E7B4-4D70-99B3-E608429ED511}"/>
              </a:ext>
            </a:extLst>
          </p:cNvPr>
          <p:cNvSpPr>
            <a:spLocks xmlns:a="http://schemas.openxmlformats.org/drawingml/2006/main" noGrp="1"/>
          </p:cNvSpPr>
          <p:nvPr/>
        </p:nvSpPr>
        <p:spPr>
          <a:xfrm xmlns:a="http://schemas.openxmlformats.org/drawingml/2006/main">
            <a:off x="5848350" y="2476500"/>
            <a:ext cx="800100" cy="8001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sp>
        <p:nvSpPr>
          <p:cNvPr id="20" name="">
            <a:extLst xmlns:a="http://schemas.openxmlformats.org/drawingml/2006/main">
              <a:ext uri="{FF2B5EF4-FFF2-40B4-BE49-F238E27FC236}">
                <a16:creationId xmlns:a16="http://schemas.microsoft.com/office/drawing/2014/main" id="{F79B94C3-8416-49E9-B55E-A4342F082F04}"/>
              </a:ext>
            </a:extLst>
          </p:cNvPr>
          <p:cNvSpPr>
            <a:spLocks xmlns:a="http://schemas.openxmlformats.org/drawingml/2006/main" noGrp="1"/>
          </p:cNvSpPr>
          <p:nvPr/>
        </p:nvSpPr>
        <p:spPr>
          <a:xfrm xmlns:a="http://schemas.openxmlformats.org/drawingml/2006/main">
            <a:off x="5848350" y="2476500"/>
            <a:ext cx="800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3</a:t>
            </a:r>
          </a:p>
        </p:txBody>
      </p:sp>
      <p:sp>
        <p:nvSpPr>
          <p:cNvPr id="21" name="">
            <a:extLst xmlns:a="http://schemas.openxmlformats.org/drawingml/2006/main">
              <a:ext uri="{FF2B5EF4-FFF2-40B4-BE49-F238E27FC236}">
                <a16:creationId xmlns:a16="http://schemas.microsoft.com/office/drawing/2014/main" id="{B5B86602-ED9E-4420-8576-C8BF8B4BDCAD}"/>
              </a:ext>
            </a:extLst>
          </p:cNvPr>
          <p:cNvSpPr>
            <a:spLocks xmlns:a="http://schemas.openxmlformats.org/drawingml/2006/main" noGrp="1"/>
          </p:cNvSpPr>
          <p:nvPr/>
        </p:nvSpPr>
        <p:spPr>
          <a:xfrm xmlns:a="http://schemas.openxmlformats.org/drawingml/2006/main">
            <a:off x="5181600" y="354330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후보국 Top 3</a:t>
            </a:r>
          </a:p>
        </p:txBody>
      </p:sp>
      <p:sp>
        <p:nvSpPr>
          <p:cNvPr id="22" name="">
            <a:extLst xmlns:a="http://schemas.openxmlformats.org/drawingml/2006/main">
              <a:ext uri="{FF2B5EF4-FFF2-40B4-BE49-F238E27FC236}">
                <a16:creationId xmlns:a16="http://schemas.microsoft.com/office/drawing/2014/main" id="{13FC1CBF-83B9-47B6-B561-5E32D3A029AF}"/>
              </a:ext>
            </a:extLst>
          </p:cNvPr>
          <p:cNvSpPr>
            <a:spLocks xmlns:a="http://schemas.openxmlformats.org/drawingml/2006/main" noGrp="1"/>
          </p:cNvSpPr>
          <p:nvPr/>
        </p:nvSpPr>
        <p:spPr>
          <a:xfrm xmlns:a="http://schemas.openxmlformats.org/drawingml/2006/main">
            <a:off x="5295900" y="39814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시장·규제·결제 근거</a:t>
            </a:r>
          </a:p>
        </p:txBody>
      </p:sp>
      <p:sp>
        <p:nvSpPr>
          <p:cNvPr id="23" name="">
            <a:extLst xmlns:a="http://schemas.openxmlformats.org/drawingml/2006/main">
              <a:ext uri="{FF2B5EF4-FFF2-40B4-BE49-F238E27FC236}">
                <a16:creationId xmlns:a16="http://schemas.microsoft.com/office/drawing/2014/main" id="{0871844E-B298-4898-87A1-49CB3D5BCF2C}"/>
              </a:ext>
            </a:extLst>
          </p:cNvPr>
          <p:cNvSpPr>
            <a:spLocks xmlns:a="http://schemas.openxmlformats.org/drawingml/2006/main" noGrp="1"/>
          </p:cNvSpPr>
          <p:nvPr/>
        </p:nvSpPr>
        <p:spPr>
          <a:xfrm xmlns:a="http://schemas.openxmlformats.org/drawingml/2006/main">
            <a:off x="7048500" y="2571750"/>
            <a:ext cx="552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24" name="">
            <a:extLst xmlns:a="http://schemas.openxmlformats.org/drawingml/2006/main">
              <a:ext uri="{FF2B5EF4-FFF2-40B4-BE49-F238E27FC236}">
                <a16:creationId xmlns:a16="http://schemas.microsoft.com/office/drawing/2014/main" id="{7C674E69-30A5-49E2-855C-7C06C8C6CF6A}"/>
              </a:ext>
            </a:extLst>
          </p:cNvPr>
          <p:cNvSpPr>
            <a:spLocks xmlns:a="http://schemas.openxmlformats.org/drawingml/2006/main" noGrp="1"/>
          </p:cNvSpPr>
          <p:nvPr/>
        </p:nvSpPr>
        <p:spPr>
          <a:xfrm xmlns:a="http://schemas.openxmlformats.org/drawingml/2006/main">
            <a:off x="7981950" y="2476500"/>
            <a:ext cx="800100" cy="8001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sp>
        <p:nvSpPr>
          <p:cNvPr id="25" name="">
            <a:extLst xmlns:a="http://schemas.openxmlformats.org/drawingml/2006/main">
              <a:ext uri="{FF2B5EF4-FFF2-40B4-BE49-F238E27FC236}">
                <a16:creationId xmlns:a16="http://schemas.microsoft.com/office/drawing/2014/main" id="{69293322-7BF1-4CB0-A673-DF266C861C77}"/>
              </a:ext>
            </a:extLst>
          </p:cNvPr>
          <p:cNvSpPr>
            <a:spLocks xmlns:a="http://schemas.openxmlformats.org/drawingml/2006/main" noGrp="1"/>
          </p:cNvSpPr>
          <p:nvPr/>
        </p:nvSpPr>
        <p:spPr>
          <a:xfrm xmlns:a="http://schemas.openxmlformats.org/drawingml/2006/main">
            <a:off x="7981950" y="2476500"/>
            <a:ext cx="800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4</a:t>
            </a:r>
          </a:p>
        </p:txBody>
      </p:sp>
      <p:sp>
        <p:nvSpPr>
          <p:cNvPr id="26" name="">
            <a:extLst xmlns:a="http://schemas.openxmlformats.org/drawingml/2006/main">
              <a:ext uri="{FF2B5EF4-FFF2-40B4-BE49-F238E27FC236}">
                <a16:creationId xmlns:a16="http://schemas.microsoft.com/office/drawing/2014/main" id="{ECE9ED2D-D1C6-4D46-9079-FE8DA9176CA3}"/>
              </a:ext>
            </a:extLst>
          </p:cNvPr>
          <p:cNvSpPr>
            <a:spLocks xmlns:a="http://schemas.openxmlformats.org/drawingml/2006/main" noGrp="1"/>
          </p:cNvSpPr>
          <p:nvPr/>
        </p:nvSpPr>
        <p:spPr>
          <a:xfrm xmlns:a="http://schemas.openxmlformats.org/drawingml/2006/main">
            <a:off x="7315200" y="354330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국가 상세</a:t>
            </a:r>
          </a:p>
        </p:txBody>
      </p:sp>
      <p:sp>
        <p:nvSpPr>
          <p:cNvPr id="27" name="">
            <a:extLst xmlns:a="http://schemas.openxmlformats.org/drawingml/2006/main">
              <a:ext uri="{FF2B5EF4-FFF2-40B4-BE49-F238E27FC236}">
                <a16:creationId xmlns:a16="http://schemas.microsoft.com/office/drawing/2014/main" id="{DA68934D-E405-4D56-A659-C8DB01C15062}"/>
              </a:ext>
            </a:extLst>
          </p:cNvPr>
          <p:cNvSpPr>
            <a:spLocks xmlns:a="http://schemas.openxmlformats.org/drawingml/2006/main" noGrp="1"/>
          </p:cNvSpPr>
          <p:nvPr/>
        </p:nvSpPr>
        <p:spPr>
          <a:xfrm xmlns:a="http://schemas.openxmlformats.org/drawingml/2006/main">
            <a:off x="7429500" y="39814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기회와 준비도 분리</a:t>
            </a:r>
          </a:p>
        </p:txBody>
      </p:sp>
      <p:sp>
        <p:nvSpPr>
          <p:cNvPr id="28" name="">
            <a:extLst xmlns:a="http://schemas.openxmlformats.org/drawingml/2006/main">
              <a:ext uri="{FF2B5EF4-FFF2-40B4-BE49-F238E27FC236}">
                <a16:creationId xmlns:a16="http://schemas.microsoft.com/office/drawing/2014/main" id="{0C2226F2-AD79-46D3-A303-62666570A41C}"/>
              </a:ext>
            </a:extLst>
          </p:cNvPr>
          <p:cNvSpPr>
            <a:spLocks xmlns:a="http://schemas.openxmlformats.org/drawingml/2006/main" noGrp="1"/>
          </p:cNvSpPr>
          <p:nvPr/>
        </p:nvSpPr>
        <p:spPr>
          <a:xfrm xmlns:a="http://schemas.openxmlformats.org/drawingml/2006/main">
            <a:off x="9182100" y="2571750"/>
            <a:ext cx="552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29" name="">
            <a:extLst xmlns:a="http://schemas.openxmlformats.org/drawingml/2006/main">
              <a:ext uri="{FF2B5EF4-FFF2-40B4-BE49-F238E27FC236}">
                <a16:creationId xmlns:a16="http://schemas.microsoft.com/office/drawing/2014/main" id="{07A6AB54-8E31-4CD2-B694-65612C9D88CA}"/>
              </a:ext>
            </a:extLst>
          </p:cNvPr>
          <p:cNvSpPr>
            <a:spLocks xmlns:a="http://schemas.openxmlformats.org/drawingml/2006/main" noGrp="1"/>
          </p:cNvSpPr>
          <p:nvPr/>
        </p:nvSpPr>
        <p:spPr>
          <a:xfrm xmlns:a="http://schemas.openxmlformats.org/drawingml/2006/main">
            <a:off x="10115550" y="2476500"/>
            <a:ext cx="800100" cy="800100"/>
          </a:xfrm>
          <a:prstGeom xmlns:a="http://schemas.openxmlformats.org/drawingml/2006/main" prst="ellipse">
            <a:avLst/>
          </a:prstGeom>
          <a:solidFill xmlns:a="http://schemas.openxmlformats.org/drawingml/2006/main">
            <a:srgbClr val="00A58A"/>
          </a:solidFill>
          <a:ln xmlns:a="http://schemas.openxmlformats.org/drawingml/2006/main" w="0">
            <a:solidFill>
              <a:srgbClr val="00A58A"/>
            </a:solidFill>
            <a:prstDash val="solid"/>
          </a:ln>
        </p:spPr>
      </p:sp>
      <p:sp>
        <p:nvSpPr>
          <p:cNvPr id="30" name="">
            <a:extLst xmlns:a="http://schemas.openxmlformats.org/drawingml/2006/main">
              <a:ext uri="{FF2B5EF4-FFF2-40B4-BE49-F238E27FC236}">
                <a16:creationId xmlns:a16="http://schemas.microsoft.com/office/drawing/2014/main" id="{25BE8E5F-D3AE-4C49-B58D-6723CD9D1BD2}"/>
              </a:ext>
            </a:extLst>
          </p:cNvPr>
          <p:cNvSpPr>
            <a:spLocks xmlns:a="http://schemas.openxmlformats.org/drawingml/2006/main" noGrp="1"/>
          </p:cNvSpPr>
          <p:nvPr/>
        </p:nvSpPr>
        <p:spPr>
          <a:xfrm xmlns:a="http://schemas.openxmlformats.org/drawingml/2006/main">
            <a:off x="10115550" y="2476500"/>
            <a:ext cx="800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5</a:t>
            </a:r>
          </a:p>
        </p:txBody>
      </p:sp>
      <p:sp>
        <p:nvSpPr>
          <p:cNvPr id="31" name="">
            <a:extLst xmlns:a="http://schemas.openxmlformats.org/drawingml/2006/main">
              <a:ext uri="{FF2B5EF4-FFF2-40B4-BE49-F238E27FC236}">
                <a16:creationId xmlns:a16="http://schemas.microsoft.com/office/drawing/2014/main" id="{61622B23-1EEF-4960-9ACF-7207DF7CF304}"/>
              </a:ext>
            </a:extLst>
          </p:cNvPr>
          <p:cNvSpPr>
            <a:spLocks xmlns:a="http://schemas.openxmlformats.org/drawingml/2006/main" noGrp="1"/>
          </p:cNvSpPr>
          <p:nvPr/>
        </p:nvSpPr>
        <p:spPr>
          <a:xfrm xmlns:a="http://schemas.openxmlformats.org/drawingml/2006/main">
            <a:off x="9448800" y="354330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실행 리포트</a:t>
            </a:r>
          </a:p>
        </p:txBody>
      </p:sp>
      <p:sp>
        <p:nvSpPr>
          <p:cNvPr id="32" name="">
            <a:extLst xmlns:a="http://schemas.openxmlformats.org/drawingml/2006/main">
              <a:ext uri="{FF2B5EF4-FFF2-40B4-BE49-F238E27FC236}">
                <a16:creationId xmlns:a16="http://schemas.microsoft.com/office/drawing/2014/main" id="{9BDC2941-68EF-48CF-8522-4AE4817C43CF}"/>
              </a:ext>
            </a:extLst>
          </p:cNvPr>
          <p:cNvSpPr>
            <a:spLocks xmlns:a="http://schemas.openxmlformats.org/drawingml/2006/main" noGrp="1"/>
          </p:cNvSpPr>
          <p:nvPr/>
        </p:nvSpPr>
        <p:spPr>
          <a:xfrm xmlns:a="http://schemas.openxmlformats.org/drawingml/2006/main">
            <a:off x="9563100" y="39814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조건부 판단·행동·PDF</a:t>
            </a:r>
          </a:p>
        </p:txBody>
      </p:sp>
      <p:sp>
        <p:nvSpPr>
          <p:cNvPr id="33" name="">
            <a:extLst xmlns:a="http://schemas.openxmlformats.org/drawingml/2006/main">
              <a:ext uri="{FF2B5EF4-FFF2-40B4-BE49-F238E27FC236}">
                <a16:creationId xmlns:a16="http://schemas.microsoft.com/office/drawing/2014/main" id="{2DFEC829-210A-4246-A61C-8E796D23AA45}"/>
              </a:ext>
            </a:extLst>
          </p:cNvPr>
          <p:cNvSpPr>
            <a:spLocks xmlns:a="http://schemas.openxmlformats.org/drawingml/2006/main" noGrp="1"/>
          </p:cNvSpPr>
          <p:nvPr/>
        </p:nvSpPr>
        <p:spPr>
          <a:xfrm xmlns:a="http://schemas.openxmlformats.org/drawingml/2006/main">
            <a:off x="1524000" y="5124450"/>
            <a:ext cx="9144000" cy="666750"/>
          </a:xfrm>
          <a:prstGeom xmlns:a="http://schemas.openxmlformats.org/drawingml/2006/main" prst="roundRect">
            <a:avLst>
              <a:gd name="adj" fmla="val 17143"/>
            </a:avLst>
          </a:prstGeom>
          <a:solidFill xmlns:a="http://schemas.openxmlformats.org/drawingml/2006/main">
            <a:srgbClr val="E3F6F2"/>
          </a:solidFill>
          <a:ln xmlns:a="http://schemas.openxmlformats.org/drawingml/2006/main" w="0">
            <a:solidFill>
              <a:srgbClr val="E3F6F2"/>
            </a:solidFill>
            <a:prstDash val="solid"/>
          </a:ln>
        </p:spPr>
      </p:sp>
      <p:sp>
        <p:nvSpPr>
          <p:cNvPr id="34" name="">
            <a:extLst xmlns:a="http://schemas.openxmlformats.org/drawingml/2006/main">
              <a:ext uri="{FF2B5EF4-FFF2-40B4-BE49-F238E27FC236}">
                <a16:creationId xmlns:a16="http://schemas.microsoft.com/office/drawing/2014/main" id="{CC82406E-8B0A-4EA4-954F-B09527A03606}"/>
              </a:ext>
            </a:extLst>
          </p:cNvPr>
          <p:cNvSpPr>
            <a:spLocks xmlns:a="http://schemas.openxmlformats.org/drawingml/2006/main" noGrp="1"/>
          </p:cNvSpPr>
          <p:nvPr/>
        </p:nvSpPr>
        <p:spPr>
          <a:xfrm xmlns:a="http://schemas.openxmlformats.org/drawingml/2006/main">
            <a:off x="1866900" y="52387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INPUT</a:t>
            </a:r>
          </a:p>
        </p:txBody>
      </p:sp>
      <p:sp>
        <p:nvSpPr>
          <p:cNvPr id="35" name="">
            <a:extLst xmlns:a="http://schemas.openxmlformats.org/drawingml/2006/main">
              <a:ext uri="{FF2B5EF4-FFF2-40B4-BE49-F238E27FC236}">
                <a16:creationId xmlns:a16="http://schemas.microsoft.com/office/drawing/2014/main" id="{9363615D-97FC-4DF8-A0C3-64010D79F397}"/>
              </a:ext>
            </a:extLst>
          </p:cNvPr>
          <p:cNvSpPr>
            <a:spLocks xmlns:a="http://schemas.openxmlformats.org/drawingml/2006/main" noGrp="1"/>
          </p:cNvSpPr>
          <p:nvPr/>
        </p:nvSpPr>
        <p:spPr>
          <a:xfrm xmlns:a="http://schemas.openxmlformats.org/drawingml/2006/main">
            <a:off x="4781550" y="5238750"/>
            <a:ext cx="2628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  JUDGMENT  →</a:t>
            </a:r>
          </a:p>
        </p:txBody>
      </p:sp>
      <p:sp>
        <p:nvSpPr>
          <p:cNvPr id="36" name="">
            <a:extLst xmlns:a="http://schemas.openxmlformats.org/drawingml/2006/main">
              <a:ext uri="{FF2B5EF4-FFF2-40B4-BE49-F238E27FC236}">
                <a16:creationId xmlns:a16="http://schemas.microsoft.com/office/drawing/2014/main" id="{53236C55-3AB7-43DE-AC08-FEA9E312C2EA}"/>
              </a:ext>
            </a:extLst>
          </p:cNvPr>
          <p:cNvSpPr>
            <a:spLocks xmlns:a="http://schemas.openxmlformats.org/drawingml/2006/main" noGrp="1"/>
          </p:cNvSpPr>
          <p:nvPr/>
        </p:nvSpPr>
        <p:spPr>
          <a:xfrm xmlns:a="http://schemas.openxmlformats.org/drawingml/2006/main">
            <a:off x="8572500" y="52387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ACTION</a:t>
            </a:r>
          </a:p>
        </p:txBody>
      </p:sp>
    </p:spTree>
    <p:extLst>
      <p:ext uri="{BB962C8B-B14F-4D97-AF65-F5344CB8AC3E}">
        <p14:creationId xmlns:p14="http://schemas.microsoft.com/office/powerpoint/2010/main" val="12948078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6AF42D0-7762-4D5E-BD83-8CA08BECDF08}"/>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1–2</a:t>
            </a:r>
          </a:p>
        </p:txBody>
      </p:sp>
      <p:sp>
        <p:nvSpPr>
          <p:cNvPr id="2" name="slide-6-title">
            <a:extLst xmlns:a="http://schemas.openxmlformats.org/drawingml/2006/main">
              <a:ext uri="{FF2B5EF4-FFF2-40B4-BE49-F238E27FC236}">
                <a16:creationId xmlns:a16="http://schemas.microsoft.com/office/drawing/2014/main" id="{895DB8D0-B914-4FA7-A6B9-3ED010E9ABD1}"/>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기업과 HSK10을 먼저 확정해 AI 분석의 기준을 고정합니다</a:t>
            </a:r>
          </a:p>
        </p:txBody>
      </p:sp>
      <p:sp>
        <p:nvSpPr>
          <p:cNvPr id="3" name="">
            <a:extLst xmlns:a="http://schemas.openxmlformats.org/drawingml/2006/main">
              <a:ext uri="{FF2B5EF4-FFF2-40B4-BE49-F238E27FC236}">
                <a16:creationId xmlns:a16="http://schemas.microsoft.com/office/drawing/2014/main" id="{A78AFF25-5F14-4C60-90A6-0A1A111B2233}"/>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5D9D715A-347A-4D6D-B156-5D9E35AEF577}"/>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663CC075-D9C2-468F-9F2C-0390BE8134EF}"/>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2FA002C7-B43A-4D8B-AD6C-58B3D19332C7}"/>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영상 · KICOX 기업정보 + 관세청 품목코드</a:t>
            </a:r>
          </a:p>
        </p:txBody>
      </p:sp>
      <p:sp>
        <p:nvSpPr>
          <p:cNvPr id="7" name="">
            <a:extLst xmlns:a="http://schemas.openxmlformats.org/drawingml/2006/main">
              <a:ext uri="{FF2B5EF4-FFF2-40B4-BE49-F238E27FC236}">
                <a16:creationId xmlns:a16="http://schemas.microsoft.com/office/drawing/2014/main" id="{8927E12F-15DC-4952-B076-312DE86A64B5}"/>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06</a:t>
            </a:r>
          </a:p>
        </p:txBody>
      </p:sp>
      <p:sp>
        <p:nvSpPr>
          <p:cNvPr id="8" name="">
            <a:extLst xmlns:a="http://schemas.openxmlformats.org/drawingml/2006/main">
              <a:ext uri="{FF2B5EF4-FFF2-40B4-BE49-F238E27FC236}">
                <a16:creationId xmlns:a16="http://schemas.microsoft.com/office/drawing/2014/main" id="{64C3C25F-0814-4403-80EF-2212A8AA3485}"/>
              </a:ext>
            </a:extLst>
          </p:cNvPr>
          <p:cNvSpPr>
            <a:spLocks xmlns:a="http://schemas.openxmlformats.org/drawingml/2006/main" noGrp="1"/>
          </p:cNvSpPr>
          <p:nvPr/>
        </p:nvSpPr>
        <p:spPr>
          <a:xfrm xmlns:a="http://schemas.openxmlformats.org/drawingml/2006/main">
            <a:off x="552450" y="1409700"/>
            <a:ext cx="7353300" cy="3219450"/>
          </a:xfrm>
          <a:prstGeom xmlns:a="http://schemas.openxmlformats.org/drawingml/2006/main" prst="roundRect">
            <a:avLst>
              <a:gd name="adj" fmla="val 3550"/>
            </a:avLst>
          </a:prstGeom>
          <a:solidFill xmlns:a="http://schemas.openxmlformats.org/drawingml/2006/main">
            <a:srgbClr val="FFFFFF"/>
          </a:solidFill>
          <a:ln xmlns:a="http://schemas.openxmlformats.org/drawingml/2006/main" w="9525">
            <a:solidFill>
              <a:srgbClr val="D7DEE2"/>
            </a:solidFill>
            <a:prstDash val="solid"/>
          </a:ln>
        </p:spPr>
      </p:sp>
      <p:sp>
        <p:nvSpPr>
          <p:cNvPr id="9" name="">
            <a:extLst xmlns:a="http://schemas.openxmlformats.org/drawingml/2006/main">
              <a:ext uri="{FF2B5EF4-FFF2-40B4-BE49-F238E27FC236}">
                <a16:creationId xmlns:a16="http://schemas.microsoft.com/office/drawing/2014/main" id="{0EB0E1B4-57EF-4604-9969-D5917659802A}"/>
              </a:ext>
            </a:extLst>
          </p:cNvPr>
          <p:cNvSpPr>
            <a:spLocks xmlns:a="http://schemas.openxmlformats.org/drawingml/2006/main" noGrp="1"/>
          </p:cNvSpPr>
          <p:nvPr/>
        </p:nvSpPr>
        <p:spPr>
          <a:xfrm xmlns:a="http://schemas.openxmlformats.org/drawingml/2006/main">
            <a:off x="742950" y="1600200"/>
            <a:ext cx="2247900" cy="285750"/>
          </a:xfrm>
          <a:prstGeom xmlns:a="http://schemas.openxmlformats.org/drawingml/2006/main" prst="roundRect">
            <a:avLst>
              <a:gd name="adj" fmla="val 40000"/>
            </a:avLst>
          </a:prstGeom>
          <a:solidFill xmlns:a="http://schemas.openxmlformats.org/drawingml/2006/main">
            <a:srgbClr val="051C2C"/>
          </a:solidFill>
          <a:ln xmlns:a="http://schemas.openxmlformats.org/drawingml/2006/main" w="0">
            <a:solidFill>
              <a:srgbClr val="051C2C"/>
            </a:solidFill>
            <a:prstDash val="solid"/>
          </a:ln>
        </p:spPr>
      </p:sp>
      <p:sp>
        <p:nvSpPr>
          <p:cNvPr id="10" name="">
            <a:extLst xmlns:a="http://schemas.openxmlformats.org/drawingml/2006/main">
              <a:ext uri="{FF2B5EF4-FFF2-40B4-BE49-F238E27FC236}">
                <a16:creationId xmlns:a16="http://schemas.microsoft.com/office/drawing/2014/main" id="{D7F3D3B9-926B-488F-A626-D4FCDA792A7D}"/>
              </a:ext>
            </a:extLst>
          </p:cNvPr>
          <p:cNvSpPr>
            <a:spLocks xmlns:a="http://schemas.openxmlformats.org/drawingml/2006/main" noGrp="1"/>
          </p:cNvSpPr>
          <p:nvPr/>
        </p:nvSpPr>
        <p:spPr>
          <a:xfrm xmlns:a="http://schemas.openxmlformats.org/drawingml/2006/main">
            <a:off x="742950" y="16002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실제 데모 · 기업 확인 → 품목 확정</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972674fbc3e424b"/>
          <a:stretch xmlns:a="http://schemas.openxmlformats.org/drawingml/2006/main"/>
        </p:blipFill>
        <p:spPr>
          <a:xfrm xmlns:a="http://schemas.openxmlformats.org/drawingml/2006/main">
            <a:off x="1762652" y="1466850"/>
            <a:ext cx="4932897" cy="3105150"/>
          </a:xfrm>
          <a:prstGeom xmlns:a="http://schemas.openxmlformats.org/drawingml/2006/main" prst="roundRect">
            <a:avLst>
              <a:gd name="adj" fmla="val 3681"/>
            </a:avLst>
          </a:prstGeom>
        </p:spPr>
      </p:pic>
      <p:sp>
        <p:nvSpPr>
          <p:cNvPr id="12" name="">
            <a:extLst xmlns:a="http://schemas.openxmlformats.org/drawingml/2006/main">
              <a:ext uri="{FF2B5EF4-FFF2-40B4-BE49-F238E27FC236}">
                <a16:creationId xmlns:a16="http://schemas.microsoft.com/office/drawing/2014/main" id="{F2C32973-938D-4259-AA02-EE22CDCEB468}"/>
              </a:ext>
            </a:extLst>
          </p:cNvPr>
          <p:cNvSpPr>
            <a:spLocks xmlns:a="http://schemas.openxmlformats.org/drawingml/2006/main" noGrp="1"/>
          </p:cNvSpPr>
          <p:nvPr/>
        </p:nvSpPr>
        <p:spPr>
          <a:xfrm xmlns:a="http://schemas.openxmlformats.org/drawingml/2006/main">
            <a:off x="8248650" y="14668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분석 기준값</a:t>
            </a:r>
          </a:p>
        </p:txBody>
      </p:sp>
      <p:sp>
        <p:nvSpPr>
          <p:cNvPr id="13" name="">
            <a:extLst xmlns:a="http://schemas.openxmlformats.org/drawingml/2006/main">
              <a:ext uri="{FF2B5EF4-FFF2-40B4-BE49-F238E27FC236}">
                <a16:creationId xmlns:a16="http://schemas.microsoft.com/office/drawing/2014/main" id="{E5B06A90-1179-4A48-95E0-E50C4D9F288E}"/>
              </a:ext>
            </a:extLst>
          </p:cNvPr>
          <p:cNvSpPr>
            <a:spLocks xmlns:a="http://schemas.openxmlformats.org/drawingml/2006/main" noGrp="1"/>
          </p:cNvSpPr>
          <p:nvPr/>
        </p:nvSpPr>
        <p:spPr>
          <a:xfrm xmlns:a="http://schemas.openxmlformats.org/drawingml/2006/main">
            <a:off x="8248650" y="175260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250" b="1">
                <a:solidFill>
                  <a:srgbClr val="051C2C"/>
                </a:solidFill>
                <a:latin typeface="Noto Sans KR"/>
                <a:ea typeface="Noto Sans KR"/>
                <a:cs typeface="Noto Sans KR"/>
              </a:defRPr>
            </a:pPr>
            <a:r>
              <a:rPr sz="2250" b="1">
                <a:solidFill>
                  <a:srgbClr val="051C2C"/>
                </a:solidFill>
                <a:latin typeface="Noto Sans KR"/>
                <a:ea typeface="Noto Sans KR"/>
                <a:cs typeface="Noto Sans KR"/>
              </a:rPr>
              <a:t>넥센타이어</a:t>
            </a:r>
          </a:p>
        </p:txBody>
      </p:sp>
      <p:sp>
        <p:nvSpPr>
          <p:cNvPr id="14" name="">
            <a:extLst xmlns:a="http://schemas.openxmlformats.org/drawingml/2006/main">
              <a:ext uri="{FF2B5EF4-FFF2-40B4-BE49-F238E27FC236}">
                <a16:creationId xmlns:a16="http://schemas.microsoft.com/office/drawing/2014/main" id="{042DC7BD-19C9-4AB4-8DAA-283AAC104BE9}"/>
              </a:ext>
            </a:extLst>
          </p:cNvPr>
          <p:cNvSpPr>
            <a:spLocks xmlns:a="http://schemas.openxmlformats.org/drawingml/2006/main" noGrp="1"/>
          </p:cNvSpPr>
          <p:nvPr/>
        </p:nvSpPr>
        <p:spPr>
          <a:xfrm xmlns:a="http://schemas.openxmlformats.org/drawingml/2006/main">
            <a:off x="8248650" y="22669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양산일반산업단지 · 제품 타이어</a:t>
            </a:r>
          </a:p>
        </p:txBody>
      </p:sp>
      <p:sp>
        <p:nvSpPr>
          <p:cNvPr id="15" name="">
            <a:extLst xmlns:a="http://schemas.openxmlformats.org/drawingml/2006/main">
              <a:ext uri="{FF2B5EF4-FFF2-40B4-BE49-F238E27FC236}">
                <a16:creationId xmlns:a16="http://schemas.microsoft.com/office/drawing/2014/main" id="{DA65F7EA-CC50-40C1-906E-E1E0FB9BF93E}"/>
              </a:ext>
            </a:extLst>
          </p:cNvPr>
          <p:cNvSpPr>
            <a:spLocks xmlns:a="http://schemas.openxmlformats.org/drawingml/2006/main" noGrp="1"/>
          </p:cNvSpPr>
          <p:nvPr/>
        </p:nvSpPr>
        <p:spPr>
          <a:xfrm xmlns:a="http://schemas.openxmlformats.org/drawingml/2006/main">
            <a:off x="8248650" y="2686050"/>
            <a:ext cx="333375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16" name="">
            <a:extLst xmlns:a="http://schemas.openxmlformats.org/drawingml/2006/main">
              <a:ext uri="{FF2B5EF4-FFF2-40B4-BE49-F238E27FC236}">
                <a16:creationId xmlns:a16="http://schemas.microsoft.com/office/drawing/2014/main" id="{23023E13-C690-400D-8A6E-14926EBDFFCA}"/>
              </a:ext>
            </a:extLst>
          </p:cNvPr>
          <p:cNvSpPr>
            <a:spLocks xmlns:a="http://schemas.openxmlformats.org/drawingml/2006/main" noGrp="1"/>
          </p:cNvSpPr>
          <p:nvPr/>
        </p:nvSpPr>
        <p:spPr>
          <a:xfrm xmlns:a="http://schemas.openxmlformats.org/drawingml/2006/main">
            <a:off x="8248650" y="2857500"/>
            <a:ext cx="333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HS 401110</a:t>
            </a:r>
          </a:p>
        </p:txBody>
      </p:sp>
      <p:sp>
        <p:nvSpPr>
          <p:cNvPr id="17" name="">
            <a:extLst xmlns:a="http://schemas.openxmlformats.org/drawingml/2006/main">
              <a:ext uri="{FF2B5EF4-FFF2-40B4-BE49-F238E27FC236}">
                <a16:creationId xmlns:a16="http://schemas.microsoft.com/office/drawing/2014/main" id="{F25EC3A6-46C5-443F-8ABF-E27E07D105CE}"/>
              </a:ext>
            </a:extLst>
          </p:cNvPr>
          <p:cNvSpPr>
            <a:spLocks xmlns:a="http://schemas.openxmlformats.org/drawingml/2006/main" noGrp="1"/>
          </p:cNvSpPr>
          <p:nvPr/>
        </p:nvSpPr>
        <p:spPr>
          <a:xfrm xmlns:a="http://schemas.openxmlformats.org/drawingml/2006/main">
            <a:off x="8248650" y="333375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HSK 4011100000</a:t>
            </a:r>
          </a:p>
        </p:txBody>
      </p:sp>
      <p:sp>
        <p:nvSpPr>
          <p:cNvPr id="18" name="">
            <a:extLst xmlns:a="http://schemas.openxmlformats.org/drawingml/2006/main">
              <a:ext uri="{FF2B5EF4-FFF2-40B4-BE49-F238E27FC236}">
                <a16:creationId xmlns:a16="http://schemas.microsoft.com/office/drawing/2014/main" id="{C19181C4-6E6A-44C8-9298-E02D95AEB9D2}"/>
              </a:ext>
            </a:extLst>
          </p:cNvPr>
          <p:cNvSpPr>
            <a:spLocks xmlns:a="http://schemas.openxmlformats.org/drawingml/2006/main" noGrp="1"/>
          </p:cNvSpPr>
          <p:nvPr/>
        </p:nvSpPr>
        <p:spPr>
          <a:xfrm xmlns:a="http://schemas.openxmlformats.org/drawingml/2006/main">
            <a:off x="8248650" y="39814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공장·산단·생산품은 KICOX에서 확인하고</a:t>
            </a:r>
          </a:p>
          <a:p xmlns:a="http://schemas.openxmlformats.org/drawingml/2006/main">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품목코드는 공식 코드표와 사용자 확인으로 확정합니다.</a:t>
            </a:r>
          </a:p>
        </p:txBody>
      </p:sp>
      <p:sp>
        <p:nvSpPr>
          <p:cNvPr id="19" name="">
            <a:extLst xmlns:a="http://schemas.openxmlformats.org/drawingml/2006/main">
              <a:ext uri="{FF2B5EF4-FFF2-40B4-BE49-F238E27FC236}">
                <a16:creationId xmlns:a16="http://schemas.microsoft.com/office/drawing/2014/main" id="{2A089CC0-9B7F-42E0-B431-744D18C5DEA9}"/>
              </a:ext>
            </a:extLst>
          </p:cNvPr>
          <p:cNvSpPr>
            <a:spLocks xmlns:a="http://schemas.openxmlformats.org/drawingml/2006/main" noGrp="1"/>
          </p:cNvSpPr>
          <p:nvPr/>
        </p:nvSpPr>
        <p:spPr>
          <a:xfrm xmlns:a="http://schemas.openxmlformats.org/drawingml/2006/main">
            <a:off x="609600" y="4953000"/>
            <a:ext cx="10972800" cy="1066800"/>
          </a:xfrm>
          <a:prstGeom xmlns:a="http://schemas.openxmlformats.org/drawingml/2006/main" prst="roundRect">
            <a:avLst>
              <a:gd name="adj" fmla="val 10714"/>
            </a:avLst>
          </a:prstGeom>
          <a:solidFill xmlns:a="http://schemas.openxmlformats.org/drawingml/2006/main">
            <a:srgbClr val="051C2C"/>
          </a:solidFill>
          <a:ln xmlns:a="http://schemas.openxmlformats.org/drawingml/2006/main" w="0">
            <a:solidFill>
              <a:srgbClr val="051C2C"/>
            </a:solidFill>
            <a:prstDash val="solid"/>
          </a:ln>
        </p:spPr>
      </p:sp>
      <p:sp>
        <p:nvSpPr>
          <p:cNvPr id="20" name="">
            <a:extLst xmlns:a="http://schemas.openxmlformats.org/drawingml/2006/main">
              <a:ext uri="{FF2B5EF4-FFF2-40B4-BE49-F238E27FC236}">
                <a16:creationId xmlns:a16="http://schemas.microsoft.com/office/drawing/2014/main" id="{A535D397-D5EE-4F4E-B3CB-5340B9B0414C}"/>
              </a:ext>
            </a:extLst>
          </p:cNvPr>
          <p:cNvSpPr>
            <a:spLocks xmlns:a="http://schemas.openxmlformats.org/drawingml/2006/main" noGrp="1"/>
          </p:cNvSpPr>
          <p:nvPr/>
        </p:nvSpPr>
        <p:spPr>
          <a:xfrm xmlns:a="http://schemas.openxmlformats.org/drawingml/2006/main">
            <a:off x="876300" y="51816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FFFFFF"/>
                </a:solidFill>
                <a:latin typeface="Noto Sans KR"/>
                <a:ea typeface="Noto Sans KR"/>
                <a:cs typeface="Noto Sans KR"/>
              </a:defRPr>
            </a:pPr>
            <a:r>
              <a:rPr sz="1425" b="1">
                <a:solidFill>
                  <a:srgbClr val="FFFFFF"/>
                </a:solidFill>
                <a:latin typeface="Noto Sans KR"/>
                <a:ea typeface="Noto Sans KR"/>
                <a:cs typeface="Noto Sans KR"/>
              </a:rPr>
              <a:t>공식 기업정보</a:t>
            </a:r>
          </a:p>
        </p:txBody>
      </p:sp>
      <p:sp>
        <p:nvSpPr>
          <p:cNvPr id="21" name="">
            <a:extLst xmlns:a="http://schemas.openxmlformats.org/drawingml/2006/main">
              <a:ext uri="{FF2B5EF4-FFF2-40B4-BE49-F238E27FC236}">
                <a16:creationId xmlns:a16="http://schemas.microsoft.com/office/drawing/2014/main" id="{7AE91BFA-C6D9-4D02-8110-6F742812CE8E}"/>
              </a:ext>
            </a:extLst>
          </p:cNvPr>
          <p:cNvSpPr>
            <a:spLocks xmlns:a="http://schemas.openxmlformats.org/drawingml/2006/main" noGrp="1"/>
          </p:cNvSpPr>
          <p:nvPr/>
        </p:nvSpPr>
        <p:spPr>
          <a:xfrm xmlns:a="http://schemas.openxmlformats.org/drawingml/2006/main">
            <a:off x="3333750" y="5162550"/>
            <a:ext cx="685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22" name="">
            <a:extLst xmlns:a="http://schemas.openxmlformats.org/drawingml/2006/main">
              <a:ext uri="{FF2B5EF4-FFF2-40B4-BE49-F238E27FC236}">
                <a16:creationId xmlns:a16="http://schemas.microsoft.com/office/drawing/2014/main" id="{7DB9720D-FE87-4CDF-BC0B-80212C16ED75}"/>
              </a:ext>
            </a:extLst>
          </p:cNvPr>
          <p:cNvSpPr>
            <a:spLocks xmlns:a="http://schemas.openxmlformats.org/drawingml/2006/main" noGrp="1"/>
          </p:cNvSpPr>
          <p:nvPr/>
        </p:nvSpPr>
        <p:spPr>
          <a:xfrm xmlns:a="http://schemas.openxmlformats.org/drawingml/2006/main">
            <a:off x="4171950" y="51816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FFFFFF"/>
                </a:solidFill>
                <a:latin typeface="Noto Sans KR"/>
                <a:ea typeface="Noto Sans KR"/>
                <a:cs typeface="Noto Sans KR"/>
              </a:defRPr>
            </a:pPr>
            <a:r>
              <a:rPr sz="1425" b="1">
                <a:solidFill>
                  <a:srgbClr val="FFFFFF"/>
                </a:solidFill>
                <a:latin typeface="Noto Sans KR"/>
                <a:ea typeface="Noto Sans KR"/>
                <a:cs typeface="Noto Sans KR"/>
              </a:rPr>
              <a:t>AI 코드 후보</a:t>
            </a:r>
          </a:p>
        </p:txBody>
      </p:sp>
      <p:sp>
        <p:nvSpPr>
          <p:cNvPr id="23" name="">
            <a:extLst xmlns:a="http://schemas.openxmlformats.org/drawingml/2006/main">
              <a:ext uri="{FF2B5EF4-FFF2-40B4-BE49-F238E27FC236}">
                <a16:creationId xmlns:a16="http://schemas.microsoft.com/office/drawing/2014/main" id="{2111DB13-8AE4-4BBC-8DCE-0D211B44B3EF}"/>
              </a:ext>
            </a:extLst>
          </p:cNvPr>
          <p:cNvSpPr>
            <a:spLocks xmlns:a="http://schemas.openxmlformats.org/drawingml/2006/main" noGrp="1"/>
          </p:cNvSpPr>
          <p:nvPr/>
        </p:nvSpPr>
        <p:spPr>
          <a:xfrm xmlns:a="http://schemas.openxmlformats.org/drawingml/2006/main">
            <a:off x="6629400" y="5162550"/>
            <a:ext cx="685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24" name="">
            <a:extLst xmlns:a="http://schemas.openxmlformats.org/drawingml/2006/main">
              <a:ext uri="{FF2B5EF4-FFF2-40B4-BE49-F238E27FC236}">
                <a16:creationId xmlns:a16="http://schemas.microsoft.com/office/drawing/2014/main" id="{0C6F9330-69F2-409B-A05A-782D8874A1AC}"/>
              </a:ext>
            </a:extLst>
          </p:cNvPr>
          <p:cNvSpPr>
            <a:spLocks xmlns:a="http://schemas.openxmlformats.org/drawingml/2006/main" noGrp="1"/>
          </p:cNvSpPr>
          <p:nvPr/>
        </p:nvSpPr>
        <p:spPr>
          <a:xfrm xmlns:a="http://schemas.openxmlformats.org/drawingml/2006/main">
            <a:off x="7486650" y="5181600"/>
            <a:ext cx="3676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사용자 HSK10 확정</a:t>
            </a:r>
          </a:p>
        </p:txBody>
      </p:sp>
      <p:sp>
        <p:nvSpPr>
          <p:cNvPr id="25" name="">
            <a:extLst xmlns:a="http://schemas.openxmlformats.org/drawingml/2006/main">
              <a:ext uri="{FF2B5EF4-FFF2-40B4-BE49-F238E27FC236}">
                <a16:creationId xmlns:a16="http://schemas.microsoft.com/office/drawing/2014/main" id="{E426FE87-D040-4C09-A649-7588B7FD522A}"/>
              </a:ext>
            </a:extLst>
          </p:cNvPr>
          <p:cNvSpPr>
            <a:spLocks xmlns:a="http://schemas.openxmlformats.org/drawingml/2006/main" noGrp="1"/>
          </p:cNvSpPr>
          <p:nvPr/>
        </p:nvSpPr>
        <p:spPr>
          <a:xfrm xmlns:a="http://schemas.openxmlformats.org/drawingml/2006/main">
            <a:off x="2628900" y="5657850"/>
            <a:ext cx="693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0">
                <a:solidFill>
                  <a:srgbClr val="C5D7DE"/>
                </a:solidFill>
                <a:latin typeface="Noto Sans KR"/>
                <a:ea typeface="Noto Sans KR"/>
                <a:cs typeface="Noto Sans KR"/>
              </a:defRPr>
            </a:pPr>
            <a:r>
              <a:rPr sz="975" b="0">
                <a:solidFill>
                  <a:srgbClr val="C5D7DE"/>
                </a:solidFill>
                <a:latin typeface="Noto Sans KR"/>
                <a:ea typeface="Noto Sans KR"/>
                <a:cs typeface="Noto Sans KR"/>
              </a:rPr>
              <a:t>AI가 임의로 정하지 않고, 확정된 코드만 다음 분석에 사용</a:t>
            </a:r>
          </a:p>
        </p:txBody>
      </p:sp>
      <p:pic xmlns:a="http://schemas.openxmlformats.org/drawingml/2006/main" xmlns:r="http://schemas.openxmlformats.org/officeDocument/2006/relationships">
        <p:nvPicPr>
          <p:cNvPr id="906" name="LIVE DEMO 01" descr="Embedded product demonstration video"/>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09600" y="1466850"/>
            <a:ext cx="7239000" cy="3105150"/>
          </a:xfrm>
          <a:prstGeom prst="rect">
            <a:avLst/>
          </a:prstGeom>
          <a:ln w="12700">
            <a:solidFill>
              <a:srgbClr val="D9E2F3"/>
            </a:solidFill>
          </a:ln>
        </p:spPr>
      </p:pic>
    </p:spTree>
    <p:extLst>
      <p:ext uri="{BB962C8B-B14F-4D97-AF65-F5344CB8AC3E}">
        <p14:creationId xmlns:p14="http://schemas.microsoft.com/office/powerpoint/2010/main" val="19402123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04C1737-D3CF-487B-A24A-31C39A1C4F7B}"/>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3</a:t>
            </a:r>
          </a:p>
        </p:txBody>
      </p:sp>
      <p:sp>
        <p:nvSpPr>
          <p:cNvPr id="2" name="slide-7-title">
            <a:extLst xmlns:a="http://schemas.openxmlformats.org/drawingml/2006/main">
              <a:ext uri="{FF2B5EF4-FFF2-40B4-BE49-F238E27FC236}">
                <a16:creationId xmlns:a16="http://schemas.microsoft.com/office/drawing/2014/main" id="{CDB517E9-9F64-4AF7-A67B-C1355068F282}"/>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후보국은 시장성뿐 아니라 규제·결제·안전 근거로 좁혀집니다</a:t>
            </a:r>
          </a:p>
        </p:txBody>
      </p:sp>
      <p:sp>
        <p:nvSpPr>
          <p:cNvPr id="3" name="">
            <a:extLst xmlns:a="http://schemas.openxmlformats.org/drawingml/2006/main">
              <a:ext uri="{FF2B5EF4-FFF2-40B4-BE49-F238E27FC236}">
                <a16:creationId xmlns:a16="http://schemas.microsoft.com/office/drawing/2014/main" id="{DEEA675F-F9E2-4B70-A3FB-444636667434}"/>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D491269D-35A7-4B26-B05B-E200877BD7B4}"/>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F038277A-7DC1-4F63-B36C-3A20D4D5C77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1AB42F4A-D298-45E0-9A9F-2FA5A4F22252}"/>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화면 countries.png</a:t>
            </a:r>
          </a:p>
        </p:txBody>
      </p:sp>
      <p:sp>
        <p:nvSpPr>
          <p:cNvPr id="7" name="">
            <a:extLst xmlns:a="http://schemas.openxmlformats.org/drawingml/2006/main">
              <a:ext uri="{FF2B5EF4-FFF2-40B4-BE49-F238E27FC236}">
                <a16:creationId xmlns:a16="http://schemas.microsoft.com/office/drawing/2014/main" id="{04ACC19D-7160-424D-B1DC-4045F4C7F697}"/>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07</a:t>
            </a:r>
          </a:p>
        </p:txBody>
      </p:sp>
      <p:sp>
        <p:nvSpPr>
          <p:cNvPr id="8" name="">
            <a:extLst xmlns:a="http://schemas.openxmlformats.org/drawingml/2006/main">
              <a:ext uri="{FF2B5EF4-FFF2-40B4-BE49-F238E27FC236}">
                <a16:creationId xmlns:a16="http://schemas.microsoft.com/office/drawing/2014/main" id="{432765EC-030A-4C5D-BF5E-5E26E52D498D}"/>
              </a:ext>
            </a:extLst>
          </p:cNvPr>
          <p:cNvSpPr>
            <a:spLocks xmlns:a="http://schemas.openxmlformats.org/drawingml/2006/main" noGrp="1"/>
          </p:cNvSpPr>
          <p:nvPr/>
        </p:nvSpPr>
        <p:spPr>
          <a:xfrm xmlns:a="http://schemas.openxmlformats.org/drawingml/2006/main">
            <a:off x="685800" y="14287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00A58A"/>
                </a:solidFill>
                <a:latin typeface="Noto Sans KR"/>
                <a:ea typeface="Noto Sans KR"/>
                <a:cs typeface="Noto Sans KR"/>
              </a:defRPr>
            </a:pPr>
            <a:r>
              <a:rPr sz="1200" b="1">
                <a:solidFill>
                  <a:srgbClr val="00A58A"/>
                </a:solidFill>
                <a:latin typeface="Noto Sans KR"/>
                <a:ea typeface="Noto Sans KR"/>
                <a:cs typeface="Noto Sans KR"/>
              </a:rPr>
              <a:t>TOP 3</a:t>
            </a:r>
          </a:p>
        </p:txBody>
      </p:sp>
      <p:sp>
        <p:nvSpPr>
          <p:cNvPr id="9" name="">
            <a:extLst xmlns:a="http://schemas.openxmlformats.org/drawingml/2006/main">
              <a:ext uri="{FF2B5EF4-FFF2-40B4-BE49-F238E27FC236}">
                <a16:creationId xmlns:a16="http://schemas.microsoft.com/office/drawing/2014/main" id="{6778D9E8-5B2E-41D6-BA93-F705AE548A54}"/>
              </a:ext>
            </a:extLst>
          </p:cNvPr>
          <p:cNvSpPr>
            <a:spLocks xmlns:a="http://schemas.openxmlformats.org/drawingml/2006/main" noGrp="1"/>
          </p:cNvSpPr>
          <p:nvPr/>
        </p:nvSpPr>
        <p:spPr>
          <a:xfrm xmlns:a="http://schemas.openxmlformats.org/drawingml/2006/main">
            <a:off x="685800" y="20193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01</a:t>
            </a:r>
          </a:p>
        </p:txBody>
      </p:sp>
      <p:sp>
        <p:nvSpPr>
          <p:cNvPr id="10" name="">
            <a:extLst xmlns:a="http://schemas.openxmlformats.org/drawingml/2006/main">
              <a:ext uri="{FF2B5EF4-FFF2-40B4-BE49-F238E27FC236}">
                <a16:creationId xmlns:a16="http://schemas.microsoft.com/office/drawing/2014/main" id="{B9BF535B-4C94-469D-A601-DB75DDADADCC}"/>
              </a:ext>
            </a:extLst>
          </p:cNvPr>
          <p:cNvSpPr>
            <a:spLocks xmlns:a="http://schemas.openxmlformats.org/drawingml/2006/main" noGrp="1"/>
          </p:cNvSpPr>
          <p:nvPr/>
        </p:nvSpPr>
        <p:spPr>
          <a:xfrm xmlns:a="http://schemas.openxmlformats.org/drawingml/2006/main">
            <a:off x="1181100" y="19812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미국</a:t>
            </a:r>
          </a:p>
        </p:txBody>
      </p:sp>
      <p:sp>
        <p:nvSpPr>
          <p:cNvPr id="11" name="">
            <a:extLst xmlns:a="http://schemas.openxmlformats.org/drawingml/2006/main">
              <a:ext uri="{FF2B5EF4-FFF2-40B4-BE49-F238E27FC236}">
                <a16:creationId xmlns:a16="http://schemas.microsoft.com/office/drawing/2014/main" id="{E9393EC5-025B-49DB-8D83-4480A4267502}"/>
              </a:ext>
            </a:extLst>
          </p:cNvPr>
          <p:cNvSpPr>
            <a:spLocks xmlns:a="http://schemas.openxmlformats.org/drawingml/2006/main" noGrp="1"/>
          </p:cNvSpPr>
          <p:nvPr/>
        </p:nvSpPr>
        <p:spPr>
          <a:xfrm xmlns:a="http://schemas.openxmlformats.org/drawingml/2006/main">
            <a:off x="1181100" y="2400300"/>
            <a:ext cx="2343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기회와 진입장벽 동시 검토</a:t>
            </a:r>
          </a:p>
        </p:txBody>
      </p:sp>
      <p:sp>
        <p:nvSpPr>
          <p:cNvPr id="12" name="">
            <a:extLst xmlns:a="http://schemas.openxmlformats.org/drawingml/2006/main">
              <a:ext uri="{FF2B5EF4-FFF2-40B4-BE49-F238E27FC236}">
                <a16:creationId xmlns:a16="http://schemas.microsoft.com/office/drawing/2014/main" id="{1EF7C42C-C1F3-4588-8377-4C2355BCD04F}"/>
              </a:ext>
            </a:extLst>
          </p:cNvPr>
          <p:cNvSpPr>
            <a:spLocks xmlns:a="http://schemas.openxmlformats.org/drawingml/2006/main" noGrp="1"/>
          </p:cNvSpPr>
          <p:nvPr/>
        </p:nvSpPr>
        <p:spPr>
          <a:xfrm xmlns:a="http://schemas.openxmlformats.org/drawingml/2006/main">
            <a:off x="685800" y="2819400"/>
            <a:ext cx="28575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13" name="">
            <a:extLst xmlns:a="http://schemas.openxmlformats.org/drawingml/2006/main">
              <a:ext uri="{FF2B5EF4-FFF2-40B4-BE49-F238E27FC236}">
                <a16:creationId xmlns:a16="http://schemas.microsoft.com/office/drawing/2014/main" id="{B20C5DC5-094C-41BD-8402-4EB379F73AF4}"/>
              </a:ext>
            </a:extLst>
          </p:cNvPr>
          <p:cNvSpPr>
            <a:spLocks xmlns:a="http://schemas.openxmlformats.org/drawingml/2006/main" noGrp="1"/>
          </p:cNvSpPr>
          <p:nvPr/>
        </p:nvSpPr>
        <p:spPr>
          <a:xfrm xmlns:a="http://schemas.openxmlformats.org/drawingml/2006/main">
            <a:off x="685800" y="30099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02</a:t>
            </a:r>
          </a:p>
        </p:txBody>
      </p:sp>
      <p:sp>
        <p:nvSpPr>
          <p:cNvPr id="14" name="">
            <a:extLst xmlns:a="http://schemas.openxmlformats.org/drawingml/2006/main">
              <a:ext uri="{FF2B5EF4-FFF2-40B4-BE49-F238E27FC236}">
                <a16:creationId xmlns:a16="http://schemas.microsoft.com/office/drawing/2014/main" id="{44633CE5-CCC6-428B-845B-6E369BD06E6B}"/>
              </a:ext>
            </a:extLst>
          </p:cNvPr>
          <p:cNvSpPr>
            <a:spLocks xmlns:a="http://schemas.openxmlformats.org/drawingml/2006/main" noGrp="1"/>
          </p:cNvSpPr>
          <p:nvPr/>
        </p:nvSpPr>
        <p:spPr>
          <a:xfrm xmlns:a="http://schemas.openxmlformats.org/drawingml/2006/main">
            <a:off x="1181100" y="29718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베트남</a:t>
            </a:r>
          </a:p>
        </p:txBody>
      </p:sp>
      <p:sp>
        <p:nvSpPr>
          <p:cNvPr id="15" name="">
            <a:extLst xmlns:a="http://schemas.openxmlformats.org/drawingml/2006/main">
              <a:ext uri="{FF2B5EF4-FFF2-40B4-BE49-F238E27FC236}">
                <a16:creationId xmlns:a16="http://schemas.microsoft.com/office/drawing/2014/main" id="{A7E28166-E04B-42A3-961A-0A07C4DAE293}"/>
              </a:ext>
            </a:extLst>
          </p:cNvPr>
          <p:cNvSpPr>
            <a:spLocks xmlns:a="http://schemas.openxmlformats.org/drawingml/2006/main" noGrp="1"/>
          </p:cNvSpPr>
          <p:nvPr/>
        </p:nvSpPr>
        <p:spPr>
          <a:xfrm xmlns:a="http://schemas.openxmlformats.org/drawingml/2006/main">
            <a:off x="1181100" y="3390900"/>
            <a:ext cx="2343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성장성과 조건 비교</a:t>
            </a:r>
          </a:p>
        </p:txBody>
      </p:sp>
      <p:sp>
        <p:nvSpPr>
          <p:cNvPr id="16" name="">
            <a:extLst xmlns:a="http://schemas.openxmlformats.org/drawingml/2006/main">
              <a:ext uri="{FF2B5EF4-FFF2-40B4-BE49-F238E27FC236}">
                <a16:creationId xmlns:a16="http://schemas.microsoft.com/office/drawing/2014/main" id="{9AAA05B5-B109-4AC3-8F9A-4A836CA3DF5D}"/>
              </a:ext>
            </a:extLst>
          </p:cNvPr>
          <p:cNvSpPr>
            <a:spLocks xmlns:a="http://schemas.openxmlformats.org/drawingml/2006/main" noGrp="1"/>
          </p:cNvSpPr>
          <p:nvPr/>
        </p:nvSpPr>
        <p:spPr>
          <a:xfrm xmlns:a="http://schemas.openxmlformats.org/drawingml/2006/main">
            <a:off x="685800" y="3810000"/>
            <a:ext cx="28575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17" name="">
            <a:extLst xmlns:a="http://schemas.openxmlformats.org/drawingml/2006/main">
              <a:ext uri="{FF2B5EF4-FFF2-40B4-BE49-F238E27FC236}">
                <a16:creationId xmlns:a16="http://schemas.microsoft.com/office/drawing/2014/main" id="{F4AC843E-71EF-43E3-B8C6-5AAD1A21AD1E}"/>
              </a:ext>
            </a:extLst>
          </p:cNvPr>
          <p:cNvSpPr>
            <a:spLocks xmlns:a="http://schemas.openxmlformats.org/drawingml/2006/main" noGrp="1"/>
          </p:cNvSpPr>
          <p:nvPr/>
        </p:nvSpPr>
        <p:spPr>
          <a:xfrm xmlns:a="http://schemas.openxmlformats.org/drawingml/2006/main">
            <a:off x="685800" y="40005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03</a:t>
            </a:r>
          </a:p>
        </p:txBody>
      </p:sp>
      <p:sp>
        <p:nvSpPr>
          <p:cNvPr id="18" name="">
            <a:extLst xmlns:a="http://schemas.openxmlformats.org/drawingml/2006/main">
              <a:ext uri="{FF2B5EF4-FFF2-40B4-BE49-F238E27FC236}">
                <a16:creationId xmlns:a16="http://schemas.microsoft.com/office/drawing/2014/main" id="{C0346EDB-09B6-4E81-97DC-93400A85C0DC}"/>
              </a:ext>
            </a:extLst>
          </p:cNvPr>
          <p:cNvSpPr>
            <a:spLocks xmlns:a="http://schemas.openxmlformats.org/drawingml/2006/main" noGrp="1"/>
          </p:cNvSpPr>
          <p:nvPr/>
        </p:nvSpPr>
        <p:spPr>
          <a:xfrm xmlns:a="http://schemas.openxmlformats.org/drawingml/2006/main">
            <a:off x="1181100" y="39624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브라질</a:t>
            </a:r>
          </a:p>
        </p:txBody>
      </p:sp>
      <p:sp>
        <p:nvSpPr>
          <p:cNvPr id="19" name="">
            <a:extLst xmlns:a="http://schemas.openxmlformats.org/drawingml/2006/main">
              <a:ext uri="{FF2B5EF4-FFF2-40B4-BE49-F238E27FC236}">
                <a16:creationId xmlns:a16="http://schemas.microsoft.com/office/drawing/2014/main" id="{CF28F352-8098-42C6-B86B-CCFD98DF068B}"/>
              </a:ext>
            </a:extLst>
          </p:cNvPr>
          <p:cNvSpPr>
            <a:spLocks xmlns:a="http://schemas.openxmlformats.org/drawingml/2006/main" noGrp="1"/>
          </p:cNvSpPr>
          <p:nvPr/>
        </p:nvSpPr>
        <p:spPr>
          <a:xfrm xmlns:a="http://schemas.openxmlformats.org/drawingml/2006/main">
            <a:off x="1181100" y="4381500"/>
            <a:ext cx="2343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시장성과 위험 비교</a:t>
            </a:r>
          </a:p>
        </p:txBody>
      </p:sp>
      <p:sp>
        <p:nvSpPr>
          <p:cNvPr id="20" name="">
            <a:extLst xmlns:a="http://schemas.openxmlformats.org/drawingml/2006/main">
              <a:ext uri="{FF2B5EF4-FFF2-40B4-BE49-F238E27FC236}">
                <a16:creationId xmlns:a16="http://schemas.microsoft.com/office/drawing/2014/main" id="{831C0DA9-A10C-4CB5-87B6-AA3D4BE795F0}"/>
              </a:ext>
            </a:extLst>
          </p:cNvPr>
          <p:cNvSpPr>
            <a:spLocks xmlns:a="http://schemas.openxmlformats.org/drawingml/2006/main" noGrp="1"/>
          </p:cNvSpPr>
          <p:nvPr/>
        </p:nvSpPr>
        <p:spPr>
          <a:xfrm xmlns:a="http://schemas.openxmlformats.org/drawingml/2006/main">
            <a:off x="685800" y="4800600"/>
            <a:ext cx="28575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1" name="">
            <a:extLst xmlns:a="http://schemas.openxmlformats.org/drawingml/2006/main">
              <a:ext uri="{FF2B5EF4-FFF2-40B4-BE49-F238E27FC236}">
                <a16:creationId xmlns:a16="http://schemas.microsoft.com/office/drawing/2014/main" id="{99E60FFC-76B0-43F4-A495-A289979C42D6}"/>
              </a:ext>
            </a:extLst>
          </p:cNvPr>
          <p:cNvSpPr>
            <a:spLocks xmlns:a="http://schemas.openxmlformats.org/drawingml/2006/main" noGrp="1"/>
          </p:cNvSpPr>
          <p:nvPr/>
        </p:nvSpPr>
        <p:spPr>
          <a:xfrm xmlns:a="http://schemas.openxmlformats.org/drawingml/2006/main">
            <a:off x="685800" y="5219700"/>
            <a:ext cx="2857500" cy="781050"/>
          </a:xfrm>
          <a:prstGeom xmlns:a="http://schemas.openxmlformats.org/drawingml/2006/main" prst="roundRect">
            <a:avLst>
              <a:gd name="adj" fmla="val 14634"/>
            </a:avLst>
          </a:prstGeom>
          <a:solidFill xmlns:a="http://schemas.openxmlformats.org/drawingml/2006/main">
            <a:srgbClr val="E3F6F2"/>
          </a:solidFill>
          <a:ln xmlns:a="http://schemas.openxmlformats.org/drawingml/2006/main" w="0">
            <a:solidFill>
              <a:srgbClr val="E3F6F2"/>
            </a:solidFill>
            <a:prstDash val="solid"/>
          </a:ln>
        </p:spPr>
      </p:sp>
      <p:sp>
        <p:nvSpPr>
          <p:cNvPr id="22" name="">
            <a:extLst xmlns:a="http://schemas.openxmlformats.org/drawingml/2006/main">
              <a:ext uri="{FF2B5EF4-FFF2-40B4-BE49-F238E27FC236}">
                <a16:creationId xmlns:a16="http://schemas.microsoft.com/office/drawing/2014/main" id="{9D453049-7031-4BC4-BA76-09A6181A9F2B}"/>
              </a:ext>
            </a:extLst>
          </p:cNvPr>
          <p:cNvSpPr>
            <a:spLocks xmlns:a="http://schemas.openxmlformats.org/drawingml/2006/main" noGrp="1"/>
          </p:cNvSpPr>
          <p:nvPr/>
        </p:nvSpPr>
        <p:spPr>
          <a:xfrm xmlns:a="http://schemas.openxmlformats.org/drawingml/2006/main">
            <a:off x="838200" y="5314950"/>
            <a:ext cx="2552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1">
                <a:solidFill>
                  <a:srgbClr val="051C2C"/>
                </a:solidFill>
                <a:latin typeface="Noto Sans KR"/>
                <a:ea typeface="Noto Sans KR"/>
                <a:cs typeface="Noto Sans KR"/>
              </a:defRPr>
            </a:pPr>
            <a:r>
              <a:rPr sz="1275" b="1">
                <a:solidFill>
                  <a:srgbClr val="051C2C"/>
                </a:solidFill>
                <a:latin typeface="Noto Sans KR"/>
                <a:ea typeface="Noto Sans KR"/>
                <a:cs typeface="Noto Sans KR"/>
              </a:rPr>
              <a:t>추천 이유 + 낮은 점수 이유를</a:t>
            </a:r>
          </a:p>
          <a:p xmlns:a="http://schemas.openxmlformats.org/drawingml/2006/main">
            <a:pPr algn="ctr">
              <a:defRPr sz="1275" b="1">
                <a:solidFill>
                  <a:srgbClr val="051C2C"/>
                </a:solidFill>
                <a:latin typeface="Noto Sans KR"/>
                <a:ea typeface="Noto Sans KR"/>
                <a:cs typeface="Noto Sans KR"/>
              </a:defRPr>
            </a:pPr>
            <a:r>
              <a:rPr sz="1275" b="1">
                <a:solidFill>
                  <a:srgbClr val="051C2C"/>
                </a:solidFill>
                <a:latin typeface="Noto Sans KR"/>
                <a:ea typeface="Noto Sans KR"/>
                <a:cs typeface="Noto Sans KR"/>
              </a:rPr>
              <a:t>함께 공개합니다.</a:t>
            </a:r>
          </a:p>
        </p:txBody>
      </p:sp>
      <p:sp>
        <p:nvSpPr>
          <p:cNvPr id="23" name="">
            <a:extLst xmlns:a="http://schemas.openxmlformats.org/drawingml/2006/main">
              <a:ext uri="{FF2B5EF4-FFF2-40B4-BE49-F238E27FC236}">
                <a16:creationId xmlns:a16="http://schemas.microsoft.com/office/drawing/2014/main" id="{14EDEAAF-21D5-4392-86F8-E3F0C3C90E97}"/>
              </a:ext>
            </a:extLst>
          </p:cNvPr>
          <p:cNvSpPr>
            <a:spLocks xmlns:a="http://schemas.openxmlformats.org/drawingml/2006/main" noGrp="1"/>
          </p:cNvSpPr>
          <p:nvPr/>
        </p:nvSpPr>
        <p:spPr>
          <a:xfrm xmlns:a="http://schemas.openxmlformats.org/drawingml/2006/main">
            <a:off x="3981450" y="1371600"/>
            <a:ext cx="7658100" cy="4686300"/>
          </a:xfrm>
          <a:prstGeom xmlns:a="http://schemas.openxmlformats.org/drawingml/2006/main" prst="roundRect">
            <a:avLst>
              <a:gd name="adj" fmla="val 2439"/>
            </a:avLst>
          </a:prstGeom>
          <a:solidFill xmlns:a="http://schemas.openxmlformats.org/drawingml/2006/main">
            <a:srgbClr val="FFFFFF"/>
          </a:solidFill>
          <a:ln xmlns:a="http://schemas.openxmlformats.org/drawingml/2006/main" w="9525">
            <a:solidFill>
              <a:srgbClr val="D7DEE2"/>
            </a:solidFill>
            <a:prstDash val="solid"/>
          </a:ln>
        </p:spPr>
      </p:sp>
      <p:sp>
        <p:nvSpPr>
          <p:cNvPr id="24" name="">
            <a:extLst xmlns:a="http://schemas.openxmlformats.org/drawingml/2006/main">
              <a:ext uri="{FF2B5EF4-FFF2-40B4-BE49-F238E27FC236}">
                <a16:creationId xmlns:a16="http://schemas.microsoft.com/office/drawing/2014/main" id="{D79EE2EA-65DA-4A28-9369-720462F3711A}"/>
              </a:ext>
            </a:extLst>
          </p:cNvPr>
          <p:cNvSpPr>
            <a:spLocks xmlns:a="http://schemas.openxmlformats.org/drawingml/2006/main" noGrp="1"/>
          </p:cNvSpPr>
          <p:nvPr/>
        </p:nvSpPr>
        <p:spPr>
          <a:xfrm xmlns:a="http://schemas.openxmlformats.org/drawingml/2006/main">
            <a:off x="4171950" y="1562100"/>
            <a:ext cx="1390650" cy="285750"/>
          </a:xfrm>
          <a:prstGeom xmlns:a="http://schemas.openxmlformats.org/drawingml/2006/main" prst="roundRect">
            <a:avLst>
              <a:gd name="adj" fmla="val 40000"/>
            </a:avLst>
          </a:prstGeom>
          <a:solidFill xmlns:a="http://schemas.openxmlformats.org/drawingml/2006/main">
            <a:srgbClr val="051C2C"/>
          </a:solidFill>
          <a:ln xmlns:a="http://schemas.openxmlformats.org/drawingml/2006/main" w="0">
            <a:solidFill>
              <a:srgbClr val="051C2C"/>
            </a:solidFill>
            <a:prstDash val="solid"/>
          </a:ln>
        </p:spPr>
      </p:sp>
      <p:sp>
        <p:nvSpPr>
          <p:cNvPr id="25" name="">
            <a:extLst xmlns:a="http://schemas.openxmlformats.org/drawingml/2006/main">
              <a:ext uri="{FF2B5EF4-FFF2-40B4-BE49-F238E27FC236}">
                <a16:creationId xmlns:a16="http://schemas.microsoft.com/office/drawing/2014/main" id="{9AA65611-BD9A-46EF-8ACE-93042F84F897}"/>
              </a:ext>
            </a:extLst>
          </p:cNvPr>
          <p:cNvSpPr>
            <a:spLocks xmlns:a="http://schemas.openxmlformats.org/drawingml/2006/main" noGrp="1"/>
          </p:cNvSpPr>
          <p:nvPr/>
        </p:nvSpPr>
        <p:spPr>
          <a:xfrm xmlns:a="http://schemas.openxmlformats.org/drawingml/2006/main">
            <a:off x="4171950" y="15621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실제 후보국 추천 화면</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c6f4349fac34a51"/>
          <a:stretch xmlns:a="http://schemas.openxmlformats.org/drawingml/2006/main"/>
        </p:blipFill>
        <p:spPr>
          <a:xfrm xmlns:a="http://schemas.openxmlformats.org/drawingml/2006/main">
            <a:off x="4178920" y="1428750"/>
            <a:ext cx="7263161" cy="4572000"/>
          </a:xfrm>
          <a:prstGeom xmlns:a="http://schemas.openxmlformats.org/drawingml/2006/main" prst="roundRect">
            <a:avLst>
              <a:gd name="adj" fmla="val 2500"/>
            </a:avLst>
          </a:prstGeom>
        </p:spPr>
      </p:pic>
      <p:pic xmlns:a="http://schemas.openxmlformats.org/drawingml/2006/main" xmlns:r="http://schemas.openxmlformats.org/officeDocument/2006/relationships">
        <p:nvPicPr>
          <p:cNvPr id="907" name="LIVE DEMO 02" descr="Embedded product demonstration video"/>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038600" y="1428750"/>
            <a:ext cx="7543800" cy="4572000"/>
          </a:xfrm>
          <a:prstGeom prst="rect">
            <a:avLst/>
          </a:prstGeom>
          <a:ln w="12700">
            <a:solidFill>
              <a:srgbClr val="D9E2F3"/>
            </a:solidFill>
          </a:ln>
        </p:spPr>
      </p:pic>
    </p:spTree>
    <p:extLst>
      <p:ext uri="{BB962C8B-B14F-4D97-AF65-F5344CB8AC3E}">
        <p14:creationId xmlns:p14="http://schemas.microsoft.com/office/powerpoint/2010/main" val="2658230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936F543-1C1B-4F86-ADEB-AFD5EDEDA0F0}"/>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4</a:t>
            </a:r>
          </a:p>
        </p:txBody>
      </p:sp>
      <p:sp>
        <p:nvSpPr>
          <p:cNvPr id="2" name="slide-8-title">
            <a:extLst xmlns:a="http://schemas.openxmlformats.org/drawingml/2006/main">
              <a:ext uri="{FF2B5EF4-FFF2-40B4-BE49-F238E27FC236}">
                <a16:creationId xmlns:a16="http://schemas.microsoft.com/office/drawing/2014/main" id="{63C3678D-DD0F-4BA6-9599-CD3631AC91DF}"/>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미국 상세 화면에서 시장·관세·인증·결제 근거를 함께 검증합니다</a:t>
            </a:r>
          </a:p>
        </p:txBody>
      </p:sp>
      <p:sp>
        <p:nvSpPr>
          <p:cNvPr id="3" name="">
            <a:extLst xmlns:a="http://schemas.openxmlformats.org/drawingml/2006/main">
              <a:ext uri="{FF2B5EF4-FFF2-40B4-BE49-F238E27FC236}">
                <a16:creationId xmlns:a16="http://schemas.microsoft.com/office/drawing/2014/main" id="{08A46FB8-1836-46E2-8F57-27429E5751D3}"/>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ECB4FD1E-A895-44D6-B7D5-E97DC5A77FA1}"/>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9E5F7272-824F-4405-A1C9-887F64C21AC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6E082188-DB03-49F5-BD34-B3750A54920E}"/>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UN Comtrade·USITC·KOTRA·World Bank·K-SURE</a:t>
            </a:r>
          </a:p>
        </p:txBody>
      </p:sp>
      <p:sp>
        <p:nvSpPr>
          <p:cNvPr id="7" name="">
            <a:extLst xmlns:a="http://schemas.openxmlformats.org/drawingml/2006/main">
              <a:ext uri="{FF2B5EF4-FFF2-40B4-BE49-F238E27FC236}">
                <a16:creationId xmlns:a16="http://schemas.microsoft.com/office/drawing/2014/main" id="{989623F7-DB92-4B56-B939-B4765C6BF850}"/>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08</a:t>
            </a:r>
          </a:p>
        </p:txBody>
      </p:sp>
      <p:sp>
        <p:nvSpPr>
          <p:cNvPr id="8" name="">
            <a:extLst xmlns:a="http://schemas.openxmlformats.org/drawingml/2006/main">
              <a:ext uri="{FF2B5EF4-FFF2-40B4-BE49-F238E27FC236}">
                <a16:creationId xmlns:a16="http://schemas.microsoft.com/office/drawing/2014/main" id="{E3BFE363-48D7-44D9-A70D-39CF132AF66C}"/>
              </a:ext>
            </a:extLst>
          </p:cNvPr>
          <p:cNvSpPr>
            <a:spLocks xmlns:a="http://schemas.openxmlformats.org/drawingml/2006/main" noGrp="1"/>
          </p:cNvSpPr>
          <p:nvPr/>
        </p:nvSpPr>
        <p:spPr>
          <a:xfrm xmlns:a="http://schemas.openxmlformats.org/drawingml/2006/main">
            <a:off x="552450" y="1447800"/>
            <a:ext cx="6305550" cy="2771775"/>
          </a:xfrm>
          <a:prstGeom xmlns:a="http://schemas.openxmlformats.org/drawingml/2006/main" prst="roundRect">
            <a:avLst>
              <a:gd name="adj" fmla="val 4124"/>
            </a:avLst>
          </a:prstGeom>
          <a:solidFill xmlns:a="http://schemas.openxmlformats.org/drawingml/2006/main">
            <a:srgbClr val="FFFFFF"/>
          </a:solidFill>
          <a:ln xmlns:a="http://schemas.openxmlformats.org/drawingml/2006/main" w="9525">
            <a:solidFill>
              <a:srgbClr val="D7DEE2"/>
            </a:solidFill>
            <a:prstDash val="solid"/>
          </a:ln>
        </p:spPr>
      </p:sp>
      <p:sp>
        <p:nvSpPr>
          <p:cNvPr id="9" name="">
            <a:extLst xmlns:a="http://schemas.openxmlformats.org/drawingml/2006/main">
              <a:ext uri="{FF2B5EF4-FFF2-40B4-BE49-F238E27FC236}">
                <a16:creationId xmlns:a16="http://schemas.microsoft.com/office/drawing/2014/main" id="{A1A71DDE-5856-46E0-B6DA-5E091BB12A43}"/>
              </a:ext>
            </a:extLst>
          </p:cNvPr>
          <p:cNvSpPr>
            <a:spLocks xmlns:a="http://schemas.openxmlformats.org/drawingml/2006/main" noGrp="1"/>
          </p:cNvSpPr>
          <p:nvPr/>
        </p:nvSpPr>
        <p:spPr>
          <a:xfrm xmlns:a="http://schemas.openxmlformats.org/drawingml/2006/main">
            <a:off x="742950" y="1638300"/>
            <a:ext cx="1676400" cy="285750"/>
          </a:xfrm>
          <a:prstGeom xmlns:a="http://schemas.openxmlformats.org/drawingml/2006/main" prst="roundRect">
            <a:avLst>
              <a:gd name="adj" fmla="val 40000"/>
            </a:avLst>
          </a:prstGeom>
          <a:solidFill xmlns:a="http://schemas.openxmlformats.org/drawingml/2006/main">
            <a:srgbClr val="051C2C"/>
          </a:solidFill>
          <a:ln xmlns:a="http://schemas.openxmlformats.org/drawingml/2006/main" w="0">
            <a:solidFill>
              <a:srgbClr val="051C2C"/>
            </a:solidFill>
            <a:prstDash val="solid"/>
          </a:ln>
        </p:spPr>
      </p:sp>
      <p:sp>
        <p:nvSpPr>
          <p:cNvPr id="10" name="">
            <a:extLst xmlns:a="http://schemas.openxmlformats.org/drawingml/2006/main">
              <a:ext uri="{FF2B5EF4-FFF2-40B4-BE49-F238E27FC236}">
                <a16:creationId xmlns:a16="http://schemas.microsoft.com/office/drawing/2014/main" id="{A981CDA8-3758-4659-B652-E7074B9EAF46}"/>
              </a:ext>
            </a:extLst>
          </p:cNvPr>
          <p:cNvSpPr>
            <a:spLocks xmlns:a="http://schemas.openxmlformats.org/drawingml/2006/main" noGrp="1"/>
          </p:cNvSpPr>
          <p:nvPr/>
        </p:nvSpPr>
        <p:spPr>
          <a:xfrm xmlns:a="http://schemas.openxmlformats.org/drawingml/2006/main">
            <a:off x="742950" y="1638300"/>
            <a:ext cx="167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실제 데모 · 미국 국가상세</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e262cc1250c469b"/>
          <a:stretch xmlns:a="http://schemas.openxmlformats.org/drawingml/2006/main"/>
        </p:blipFill>
        <p:spPr>
          <a:xfrm xmlns:a="http://schemas.openxmlformats.org/drawingml/2006/main">
            <a:off x="1594369" y="1504950"/>
            <a:ext cx="4221712" cy="2657475"/>
          </a:xfrm>
          <a:prstGeom xmlns:a="http://schemas.openxmlformats.org/drawingml/2006/main" prst="roundRect">
            <a:avLst>
              <a:gd name="adj" fmla="val 4301"/>
            </a:avLst>
          </a:prstGeom>
        </p:spPr>
      </p:pic>
      <p:sp>
        <p:nvSpPr>
          <p:cNvPr id="12" name="">
            <a:extLst xmlns:a="http://schemas.openxmlformats.org/drawingml/2006/main">
              <a:ext uri="{FF2B5EF4-FFF2-40B4-BE49-F238E27FC236}">
                <a16:creationId xmlns:a16="http://schemas.microsoft.com/office/drawing/2014/main" id="{225889D9-2733-4BA0-96D5-F7255DA40192}"/>
              </a:ext>
            </a:extLst>
          </p:cNvPr>
          <p:cNvSpPr>
            <a:spLocks xmlns:a="http://schemas.openxmlformats.org/drawingml/2006/main" noGrp="1"/>
          </p:cNvSpPr>
          <p:nvPr/>
        </p:nvSpPr>
        <p:spPr>
          <a:xfrm xmlns:a="http://schemas.openxmlformats.org/drawingml/2006/main">
            <a:off x="685800" y="4476750"/>
            <a:ext cx="6038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국가 추천 이후, 실제 수출 판단에 필요한 시장·관세·인증·거래 조건을 출처와 함께 확인합니다.</a:t>
            </a:r>
          </a:p>
        </p:txBody>
      </p:sp>
      <p:sp>
        <p:nvSpPr>
          <p:cNvPr id="13" name="">
            <a:extLst xmlns:a="http://schemas.openxmlformats.org/drawingml/2006/main">
              <a:ext uri="{FF2B5EF4-FFF2-40B4-BE49-F238E27FC236}">
                <a16:creationId xmlns:a16="http://schemas.microsoft.com/office/drawing/2014/main" id="{A584BB29-E55C-4FA6-A2F9-3155C7127FAE}"/>
              </a:ext>
            </a:extLst>
          </p:cNvPr>
          <p:cNvSpPr>
            <a:spLocks xmlns:a="http://schemas.openxmlformats.org/drawingml/2006/main" noGrp="1"/>
          </p:cNvSpPr>
          <p:nvPr/>
        </p:nvSpPr>
        <p:spPr>
          <a:xfrm xmlns:a="http://schemas.openxmlformats.org/drawingml/2006/main">
            <a:off x="609600" y="5219700"/>
            <a:ext cx="6191250" cy="781050"/>
          </a:xfrm>
          <a:prstGeom xmlns:a="http://schemas.openxmlformats.org/drawingml/2006/main" prst="roundRect">
            <a:avLst>
              <a:gd name="adj" fmla="val 14634"/>
            </a:avLst>
          </a:prstGeom>
          <a:solidFill xmlns:a="http://schemas.openxmlformats.org/drawingml/2006/main">
            <a:srgbClr val="E3F6F2"/>
          </a:solidFill>
          <a:ln xmlns:a="http://schemas.openxmlformats.org/drawingml/2006/main" w="0">
            <a:solidFill>
              <a:srgbClr val="E3F6F2"/>
            </a:solidFill>
            <a:prstDash val="solid"/>
          </a:ln>
        </p:spPr>
      </p:sp>
      <p:sp>
        <p:nvSpPr>
          <p:cNvPr id="14" name="">
            <a:extLst xmlns:a="http://schemas.openxmlformats.org/drawingml/2006/main">
              <a:ext uri="{FF2B5EF4-FFF2-40B4-BE49-F238E27FC236}">
                <a16:creationId xmlns:a16="http://schemas.microsoft.com/office/drawing/2014/main" id="{B68964D1-9CA2-493C-95EF-D5EB643E845A}"/>
              </a:ext>
            </a:extLst>
          </p:cNvPr>
          <p:cNvSpPr>
            <a:spLocks xmlns:a="http://schemas.openxmlformats.org/drawingml/2006/main" noGrp="1"/>
          </p:cNvSpPr>
          <p:nvPr/>
        </p:nvSpPr>
        <p:spPr>
          <a:xfrm xmlns:a="http://schemas.openxmlformats.org/drawingml/2006/main">
            <a:off x="838200" y="533400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00A58A"/>
                </a:solidFill>
                <a:latin typeface="Noto Sans KR"/>
                <a:ea typeface="Noto Sans KR"/>
                <a:cs typeface="Noto Sans KR"/>
              </a:defRPr>
            </a:pPr>
            <a:r>
              <a:rPr sz="1500" b="1">
                <a:solidFill>
                  <a:srgbClr val="00A58A"/>
                </a:solidFill>
                <a:latin typeface="Noto Sans KR"/>
                <a:ea typeface="Noto Sans KR"/>
                <a:cs typeface="Noto Sans KR"/>
              </a:rPr>
              <a:t>조건부 진출 가능</a:t>
            </a:r>
          </a:p>
        </p:txBody>
      </p:sp>
      <p:sp>
        <p:nvSpPr>
          <p:cNvPr id="15" name="">
            <a:extLst xmlns:a="http://schemas.openxmlformats.org/drawingml/2006/main">
              <a:ext uri="{FF2B5EF4-FFF2-40B4-BE49-F238E27FC236}">
                <a16:creationId xmlns:a16="http://schemas.microsoft.com/office/drawing/2014/main" id="{2C7FAF0E-5BAD-4F3C-808D-21784DF39DCE}"/>
              </a:ext>
            </a:extLst>
          </p:cNvPr>
          <p:cNvSpPr>
            <a:spLocks xmlns:a="http://schemas.openxmlformats.org/drawingml/2006/main" noGrp="1"/>
          </p:cNvSpPr>
          <p:nvPr/>
        </p:nvSpPr>
        <p:spPr>
          <a:xfrm xmlns:a="http://schemas.openxmlformats.org/drawingml/2006/main">
            <a:off x="2895600" y="5314950"/>
            <a:ext cx="3638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HTS 세번 · 반덤핑 관세율 · 인증 요건을 최종 확인</a:t>
            </a:r>
          </a:p>
        </p:txBody>
      </p:sp>
      <p:sp>
        <p:nvSpPr>
          <p:cNvPr id="16" name="">
            <a:extLst xmlns:a="http://schemas.openxmlformats.org/drawingml/2006/main">
              <a:ext uri="{FF2B5EF4-FFF2-40B4-BE49-F238E27FC236}">
                <a16:creationId xmlns:a16="http://schemas.microsoft.com/office/drawing/2014/main" id="{9081A51D-9A42-45D7-904D-90104534575C}"/>
              </a:ext>
            </a:extLst>
          </p:cNvPr>
          <p:cNvSpPr>
            <a:spLocks xmlns:a="http://schemas.openxmlformats.org/drawingml/2006/main" noGrp="1"/>
          </p:cNvSpPr>
          <p:nvPr/>
        </p:nvSpPr>
        <p:spPr>
          <a:xfrm xmlns:a="http://schemas.openxmlformats.org/drawingml/2006/main">
            <a:off x="7219950" y="1466850"/>
            <a:ext cx="436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미국 타이어 · HS 401110</a:t>
            </a:r>
          </a:p>
        </p:txBody>
      </p:sp>
      <p:sp>
        <p:nvSpPr>
          <p:cNvPr id="17" name="">
            <a:extLst xmlns:a="http://schemas.openxmlformats.org/drawingml/2006/main">
              <a:ext uri="{FF2B5EF4-FFF2-40B4-BE49-F238E27FC236}">
                <a16:creationId xmlns:a16="http://schemas.microsoft.com/office/drawing/2014/main" id="{99F586E6-C9DC-403F-9EA1-AD9192D12F8D}"/>
              </a:ext>
            </a:extLst>
          </p:cNvPr>
          <p:cNvSpPr>
            <a:spLocks xmlns:a="http://schemas.openxmlformats.org/drawingml/2006/main" noGrp="1"/>
          </p:cNvSpPr>
          <p:nvPr/>
        </p:nvSpPr>
        <p:spPr>
          <a:xfrm xmlns:a="http://schemas.openxmlformats.org/drawingml/2006/main">
            <a:off x="7219950" y="19812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시장</a:t>
            </a:r>
          </a:p>
        </p:txBody>
      </p:sp>
      <p:sp>
        <p:nvSpPr>
          <p:cNvPr id="18" name="">
            <a:extLst xmlns:a="http://schemas.openxmlformats.org/drawingml/2006/main">
              <a:ext uri="{FF2B5EF4-FFF2-40B4-BE49-F238E27FC236}">
                <a16:creationId xmlns:a16="http://schemas.microsoft.com/office/drawing/2014/main" id="{ED1CD3CD-384D-4965-9E03-B866A65CDCD3}"/>
              </a:ext>
            </a:extLst>
          </p:cNvPr>
          <p:cNvSpPr>
            <a:spLocks xmlns:a="http://schemas.openxmlformats.org/drawingml/2006/main" noGrp="1"/>
          </p:cNvSpPr>
          <p:nvPr/>
        </p:nvSpPr>
        <p:spPr>
          <a:xfrm xmlns:a="http://schemas.openxmlformats.org/drawingml/2006/main">
            <a:off x="7219950" y="21907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051C2C"/>
                </a:solidFill>
                <a:latin typeface="Noto Sans KR"/>
                <a:ea typeface="Noto Sans KR"/>
                <a:cs typeface="Noto Sans KR"/>
              </a:defRPr>
            </a:pPr>
            <a:r>
              <a:rPr sz="2100" b="1">
                <a:solidFill>
                  <a:srgbClr val="051C2C"/>
                </a:solidFill>
                <a:latin typeface="Noto Sans KR"/>
                <a:ea typeface="Noto Sans KR"/>
                <a:cs typeface="Noto Sans KR"/>
              </a:rPr>
              <a:t>$10.51B</a:t>
            </a:r>
          </a:p>
        </p:txBody>
      </p:sp>
      <p:sp>
        <p:nvSpPr>
          <p:cNvPr id="19" name="">
            <a:extLst xmlns:a="http://schemas.openxmlformats.org/drawingml/2006/main">
              <a:ext uri="{FF2B5EF4-FFF2-40B4-BE49-F238E27FC236}">
                <a16:creationId xmlns:a16="http://schemas.microsoft.com/office/drawing/2014/main" id="{1F9F1D98-498D-465E-B94B-9AD59154AB80}"/>
              </a:ext>
            </a:extLst>
          </p:cNvPr>
          <p:cNvSpPr>
            <a:spLocks xmlns:a="http://schemas.openxmlformats.org/drawingml/2006/main" noGrp="1"/>
          </p:cNvSpPr>
          <p:nvPr/>
        </p:nvSpPr>
        <p:spPr>
          <a:xfrm xmlns:a="http://schemas.openxmlformats.org/drawingml/2006/main">
            <a:off x="8991600" y="2171700"/>
            <a:ext cx="2590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2025 수입시장 · 한국산 점유율 5.57%</a:t>
            </a:r>
          </a:p>
        </p:txBody>
      </p:sp>
      <p:sp>
        <p:nvSpPr>
          <p:cNvPr id="20" name="">
            <a:extLst xmlns:a="http://schemas.openxmlformats.org/drawingml/2006/main">
              <a:ext uri="{FF2B5EF4-FFF2-40B4-BE49-F238E27FC236}">
                <a16:creationId xmlns:a16="http://schemas.microsoft.com/office/drawing/2014/main" id="{B3EA6483-542C-4D8D-93D9-60C58E7EF32D}"/>
              </a:ext>
            </a:extLst>
          </p:cNvPr>
          <p:cNvSpPr>
            <a:spLocks xmlns:a="http://schemas.openxmlformats.org/drawingml/2006/main" noGrp="1"/>
          </p:cNvSpPr>
          <p:nvPr/>
        </p:nvSpPr>
        <p:spPr>
          <a:xfrm xmlns:a="http://schemas.openxmlformats.org/drawingml/2006/main">
            <a:off x="7219950" y="2762250"/>
            <a:ext cx="436245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1" name="">
            <a:extLst xmlns:a="http://schemas.openxmlformats.org/drawingml/2006/main">
              <a:ext uri="{FF2B5EF4-FFF2-40B4-BE49-F238E27FC236}">
                <a16:creationId xmlns:a16="http://schemas.microsoft.com/office/drawing/2014/main" id="{CF77BE6F-ED90-4127-B8FB-E748440A0F53}"/>
              </a:ext>
            </a:extLst>
          </p:cNvPr>
          <p:cNvSpPr>
            <a:spLocks xmlns:a="http://schemas.openxmlformats.org/drawingml/2006/main" noGrp="1"/>
          </p:cNvSpPr>
          <p:nvPr/>
        </p:nvSpPr>
        <p:spPr>
          <a:xfrm xmlns:a="http://schemas.openxmlformats.org/drawingml/2006/main">
            <a:off x="7219950" y="28956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관세·분류</a:t>
            </a:r>
          </a:p>
        </p:txBody>
      </p:sp>
      <p:sp>
        <p:nvSpPr>
          <p:cNvPr id="22" name="">
            <a:extLst xmlns:a="http://schemas.openxmlformats.org/drawingml/2006/main">
              <a:ext uri="{FF2B5EF4-FFF2-40B4-BE49-F238E27FC236}">
                <a16:creationId xmlns:a16="http://schemas.microsoft.com/office/drawing/2014/main" id="{F82FA9BA-3C53-4BEC-B1F1-4C034A4698A6}"/>
              </a:ext>
            </a:extLst>
          </p:cNvPr>
          <p:cNvSpPr>
            <a:spLocks xmlns:a="http://schemas.openxmlformats.org/drawingml/2006/main" noGrp="1"/>
          </p:cNvSpPr>
          <p:nvPr/>
        </p:nvSpPr>
        <p:spPr>
          <a:xfrm xmlns:a="http://schemas.openxmlformats.org/drawingml/2006/main">
            <a:off x="7219950" y="31051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051C2C"/>
                </a:solidFill>
                <a:latin typeface="Noto Sans KR"/>
                <a:ea typeface="Noto Sans KR"/>
                <a:cs typeface="Noto Sans KR"/>
              </a:defRPr>
            </a:pPr>
            <a:r>
              <a:rPr sz="2100" b="1">
                <a:solidFill>
                  <a:srgbClr val="051C2C"/>
                </a:solidFill>
                <a:latin typeface="Noto Sans KR"/>
                <a:ea typeface="Noto Sans KR"/>
                <a:cs typeface="Noto Sans KR"/>
              </a:rPr>
              <a:t>HTS 10건</a:t>
            </a:r>
          </a:p>
        </p:txBody>
      </p:sp>
      <p:sp>
        <p:nvSpPr>
          <p:cNvPr id="23" name="">
            <a:extLst xmlns:a="http://schemas.openxmlformats.org/drawingml/2006/main">
              <a:ext uri="{FF2B5EF4-FFF2-40B4-BE49-F238E27FC236}">
                <a16:creationId xmlns:a16="http://schemas.microsoft.com/office/drawing/2014/main" id="{E0FA0270-C727-4484-9D0F-3B6C78A972B9}"/>
              </a:ext>
            </a:extLst>
          </p:cNvPr>
          <p:cNvSpPr>
            <a:spLocks xmlns:a="http://schemas.openxmlformats.org/drawingml/2006/main" noGrp="1"/>
          </p:cNvSpPr>
          <p:nvPr/>
        </p:nvSpPr>
        <p:spPr>
          <a:xfrm xmlns:a="http://schemas.openxmlformats.org/drawingml/2006/main">
            <a:off x="8991600" y="3086100"/>
            <a:ext cx="2590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10자리 후보 확인 · 한미 FTA 특혜 가능</a:t>
            </a:r>
          </a:p>
        </p:txBody>
      </p:sp>
      <p:sp>
        <p:nvSpPr>
          <p:cNvPr id="24" name="">
            <a:extLst xmlns:a="http://schemas.openxmlformats.org/drawingml/2006/main">
              <a:ext uri="{FF2B5EF4-FFF2-40B4-BE49-F238E27FC236}">
                <a16:creationId xmlns:a16="http://schemas.microsoft.com/office/drawing/2014/main" id="{38D8C36E-FFB9-42CB-B010-C650D3BF75CD}"/>
              </a:ext>
            </a:extLst>
          </p:cNvPr>
          <p:cNvSpPr>
            <a:spLocks xmlns:a="http://schemas.openxmlformats.org/drawingml/2006/main" noGrp="1"/>
          </p:cNvSpPr>
          <p:nvPr/>
        </p:nvSpPr>
        <p:spPr>
          <a:xfrm xmlns:a="http://schemas.openxmlformats.org/drawingml/2006/main">
            <a:off x="7219950" y="3676650"/>
            <a:ext cx="436245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5" name="">
            <a:extLst xmlns:a="http://schemas.openxmlformats.org/drawingml/2006/main">
              <a:ext uri="{FF2B5EF4-FFF2-40B4-BE49-F238E27FC236}">
                <a16:creationId xmlns:a16="http://schemas.microsoft.com/office/drawing/2014/main" id="{11DB716F-ED7A-487C-80E9-4AE4E0A2EA7E}"/>
              </a:ext>
            </a:extLst>
          </p:cNvPr>
          <p:cNvSpPr>
            <a:spLocks xmlns:a="http://schemas.openxmlformats.org/drawingml/2006/main" noGrp="1"/>
          </p:cNvSpPr>
          <p:nvPr/>
        </p:nvSpPr>
        <p:spPr>
          <a:xfrm xmlns:a="http://schemas.openxmlformats.org/drawingml/2006/main">
            <a:off x="7219950" y="38100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인증·규제</a:t>
            </a:r>
          </a:p>
        </p:txBody>
      </p:sp>
      <p:sp>
        <p:nvSpPr>
          <p:cNvPr id="26" name="">
            <a:extLst xmlns:a="http://schemas.openxmlformats.org/drawingml/2006/main">
              <a:ext uri="{FF2B5EF4-FFF2-40B4-BE49-F238E27FC236}">
                <a16:creationId xmlns:a16="http://schemas.microsoft.com/office/drawing/2014/main" id="{F5EFADF5-B221-4DB6-9266-0BB73AA9E854}"/>
              </a:ext>
            </a:extLst>
          </p:cNvPr>
          <p:cNvSpPr>
            <a:spLocks xmlns:a="http://schemas.openxmlformats.org/drawingml/2006/main" noGrp="1"/>
          </p:cNvSpPr>
          <p:nvPr/>
        </p:nvSpPr>
        <p:spPr>
          <a:xfrm xmlns:a="http://schemas.openxmlformats.org/drawingml/2006/main">
            <a:off x="7219950" y="40195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C62828"/>
                </a:solidFill>
                <a:latin typeface="Noto Sans KR"/>
                <a:ea typeface="Noto Sans KR"/>
                <a:cs typeface="Noto Sans KR"/>
              </a:defRPr>
            </a:pPr>
            <a:r>
              <a:rPr sz="2100" b="1">
                <a:solidFill>
                  <a:srgbClr val="C62828"/>
                </a:solidFill>
                <a:latin typeface="Noto Sans KR"/>
                <a:ea typeface="Noto Sans KR"/>
                <a:cs typeface="Noto Sans KR"/>
              </a:rPr>
              <a:t>DOT·FMVSS</a:t>
            </a:r>
          </a:p>
        </p:txBody>
      </p:sp>
      <p:sp>
        <p:nvSpPr>
          <p:cNvPr id="27" name="">
            <a:extLst xmlns:a="http://schemas.openxmlformats.org/drawingml/2006/main">
              <a:ext uri="{FF2B5EF4-FFF2-40B4-BE49-F238E27FC236}">
                <a16:creationId xmlns:a16="http://schemas.microsoft.com/office/drawing/2014/main" id="{25CD5943-8A86-4719-B829-F364A8D47369}"/>
              </a:ext>
            </a:extLst>
          </p:cNvPr>
          <p:cNvSpPr>
            <a:spLocks xmlns:a="http://schemas.openxmlformats.org/drawingml/2006/main" noGrp="1"/>
          </p:cNvSpPr>
          <p:nvPr/>
        </p:nvSpPr>
        <p:spPr>
          <a:xfrm xmlns:a="http://schemas.openxmlformats.org/drawingml/2006/main">
            <a:off x="8991600" y="4000500"/>
            <a:ext cx="2590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KOTRA 직접일치 · 반덤핑 규제중</a:t>
            </a:r>
          </a:p>
        </p:txBody>
      </p:sp>
      <p:sp>
        <p:nvSpPr>
          <p:cNvPr id="28" name="">
            <a:extLst xmlns:a="http://schemas.openxmlformats.org/drawingml/2006/main">
              <a:ext uri="{FF2B5EF4-FFF2-40B4-BE49-F238E27FC236}">
                <a16:creationId xmlns:a16="http://schemas.microsoft.com/office/drawing/2014/main" id="{3AE131B9-3995-4FE5-BB76-86616B687245}"/>
              </a:ext>
            </a:extLst>
          </p:cNvPr>
          <p:cNvSpPr>
            <a:spLocks xmlns:a="http://schemas.openxmlformats.org/drawingml/2006/main" noGrp="1"/>
          </p:cNvSpPr>
          <p:nvPr/>
        </p:nvSpPr>
        <p:spPr>
          <a:xfrm xmlns:a="http://schemas.openxmlformats.org/drawingml/2006/main">
            <a:off x="7219950" y="4591050"/>
            <a:ext cx="436245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9" name="">
            <a:extLst xmlns:a="http://schemas.openxmlformats.org/drawingml/2006/main">
              <a:ext uri="{FF2B5EF4-FFF2-40B4-BE49-F238E27FC236}">
                <a16:creationId xmlns:a16="http://schemas.microsoft.com/office/drawing/2014/main" id="{21D60685-4EEF-4835-94EF-1CA771235596}"/>
              </a:ext>
            </a:extLst>
          </p:cNvPr>
          <p:cNvSpPr>
            <a:spLocks xmlns:a="http://schemas.openxmlformats.org/drawingml/2006/main" noGrp="1"/>
          </p:cNvSpPr>
          <p:nvPr/>
        </p:nvSpPr>
        <p:spPr>
          <a:xfrm xmlns:a="http://schemas.openxmlformats.org/drawingml/2006/main">
            <a:off x="7219950" y="47244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물류·결제</a:t>
            </a:r>
          </a:p>
        </p:txBody>
      </p:sp>
      <p:sp>
        <p:nvSpPr>
          <p:cNvPr id="30" name="">
            <a:extLst xmlns:a="http://schemas.openxmlformats.org/drawingml/2006/main">
              <a:ext uri="{FF2B5EF4-FFF2-40B4-BE49-F238E27FC236}">
                <a16:creationId xmlns:a16="http://schemas.microsoft.com/office/drawing/2014/main" id="{C5BB3E51-A5E2-424A-82A0-F4882A6A5F4A}"/>
              </a:ext>
            </a:extLst>
          </p:cNvPr>
          <p:cNvSpPr>
            <a:spLocks xmlns:a="http://schemas.openxmlformats.org/drawingml/2006/main" noGrp="1"/>
          </p:cNvSpPr>
          <p:nvPr/>
        </p:nvSpPr>
        <p:spPr>
          <a:xfrm xmlns:a="http://schemas.openxmlformats.org/drawingml/2006/main">
            <a:off x="7219950" y="49339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051C2C"/>
                </a:solidFill>
                <a:latin typeface="Noto Sans KR"/>
                <a:ea typeface="Noto Sans KR"/>
                <a:cs typeface="Noto Sans KR"/>
              </a:defRPr>
            </a:pPr>
            <a:r>
              <a:rPr sz="2100" b="1">
                <a:solidFill>
                  <a:srgbClr val="051C2C"/>
                </a:solidFill>
                <a:latin typeface="Noto Sans KR"/>
                <a:ea typeface="Noto Sans KR"/>
                <a:cs typeface="Noto Sans KR"/>
              </a:rPr>
              <a:t>LPI 3.8</a:t>
            </a:r>
          </a:p>
        </p:txBody>
      </p:sp>
      <p:sp>
        <p:nvSpPr>
          <p:cNvPr id="31" name="">
            <a:extLst xmlns:a="http://schemas.openxmlformats.org/drawingml/2006/main">
              <a:ext uri="{FF2B5EF4-FFF2-40B4-BE49-F238E27FC236}">
                <a16:creationId xmlns:a16="http://schemas.microsoft.com/office/drawing/2014/main" id="{5B1A6DCE-985C-4878-8567-9EE05A1D0BCB}"/>
              </a:ext>
            </a:extLst>
          </p:cNvPr>
          <p:cNvSpPr>
            <a:spLocks xmlns:a="http://schemas.openxmlformats.org/drawingml/2006/main" noGrp="1"/>
          </p:cNvSpPr>
          <p:nvPr/>
        </p:nvSpPr>
        <p:spPr>
          <a:xfrm xmlns:a="http://schemas.openxmlformats.org/drawingml/2006/main">
            <a:off x="8991600" y="4914900"/>
            <a:ext cx="2590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결제 지연 18.9% · 실제 운송비 확인</a:t>
            </a:r>
          </a:p>
        </p:txBody>
      </p:sp>
      <p:pic xmlns:a="http://schemas.openxmlformats.org/drawingml/2006/main" xmlns:r="http://schemas.openxmlformats.org/officeDocument/2006/relationships">
        <p:nvPicPr>
          <p:cNvPr id="908" name="LIVE DEMO 03" descr="Embedded product demonstration video"/>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09600" y="1504950"/>
            <a:ext cx="6191250" cy="2657475"/>
          </a:xfrm>
          <a:prstGeom prst="rect">
            <a:avLst/>
          </a:prstGeom>
          <a:ln w="12700">
            <a:solidFill>
              <a:srgbClr val="D9E2F3"/>
            </a:solidFill>
          </a:ln>
        </p:spPr>
      </p:pic>
    </p:spTree>
    <p:extLst>
      <p:ext uri="{BB962C8B-B14F-4D97-AF65-F5344CB8AC3E}">
        <p14:creationId xmlns:p14="http://schemas.microsoft.com/office/powerpoint/2010/main" val="7413981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68CAFCE-26B2-4A46-B0B6-B88BD47D0294}"/>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5</a:t>
            </a:r>
          </a:p>
        </p:txBody>
      </p:sp>
      <p:sp>
        <p:nvSpPr>
          <p:cNvPr id="2" name="slide-9-title">
            <a:extLst xmlns:a="http://schemas.openxmlformats.org/drawingml/2006/main">
              <a:ext uri="{FF2B5EF4-FFF2-40B4-BE49-F238E27FC236}">
                <a16:creationId xmlns:a16="http://schemas.microsoft.com/office/drawing/2014/main" id="{985B11C7-02F8-4147-8615-533C7FC88FA7}"/>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AI는 요약문이 아니라 조건부 추진과 다음 행동을 만듭니다</a:t>
            </a:r>
          </a:p>
        </p:txBody>
      </p:sp>
      <p:sp>
        <p:nvSpPr>
          <p:cNvPr id="3" name="">
            <a:extLst xmlns:a="http://schemas.openxmlformats.org/drawingml/2006/main">
              <a:ext uri="{FF2B5EF4-FFF2-40B4-BE49-F238E27FC236}">
                <a16:creationId xmlns:a16="http://schemas.microsoft.com/office/drawing/2014/main" id="{F91E5409-1C53-483F-A195-745B8DD4B74E}"/>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71EF6D47-083D-4E1C-A3B6-9504201EB827}"/>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E2B7E539-F8AA-44D7-AC81-33250AAED7E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A216C400-E8BD-4F02-9B5F-AB53BFD40EC7}"/>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화면 report.png</a:t>
            </a:r>
          </a:p>
        </p:txBody>
      </p:sp>
      <p:sp>
        <p:nvSpPr>
          <p:cNvPr id="7" name="">
            <a:extLst xmlns:a="http://schemas.openxmlformats.org/drawingml/2006/main">
              <a:ext uri="{FF2B5EF4-FFF2-40B4-BE49-F238E27FC236}">
                <a16:creationId xmlns:a16="http://schemas.microsoft.com/office/drawing/2014/main" id="{3D76C08A-01CC-4D47-A852-5919CD68D94F}"/>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09</a:t>
            </a:r>
          </a:p>
        </p:txBody>
      </p:sp>
      <p:sp>
        <p:nvSpPr>
          <p:cNvPr id="8" name="">
            <a:extLst xmlns:a="http://schemas.openxmlformats.org/drawingml/2006/main">
              <a:ext uri="{FF2B5EF4-FFF2-40B4-BE49-F238E27FC236}">
                <a16:creationId xmlns:a16="http://schemas.microsoft.com/office/drawing/2014/main" id="{AE4C42A1-C738-4254-8742-DC9F210D1287}"/>
              </a:ext>
            </a:extLst>
          </p:cNvPr>
          <p:cNvSpPr>
            <a:spLocks xmlns:a="http://schemas.openxmlformats.org/drawingml/2006/main" noGrp="1"/>
          </p:cNvSpPr>
          <p:nvPr/>
        </p:nvSpPr>
        <p:spPr>
          <a:xfrm xmlns:a="http://schemas.openxmlformats.org/drawingml/2006/main">
            <a:off x="685800" y="142875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조건부 추진</a:t>
            </a:r>
          </a:p>
        </p:txBody>
      </p:sp>
      <p:sp>
        <p:nvSpPr>
          <p:cNvPr id="9" name="">
            <a:extLst xmlns:a="http://schemas.openxmlformats.org/drawingml/2006/main">
              <a:ext uri="{FF2B5EF4-FFF2-40B4-BE49-F238E27FC236}">
                <a16:creationId xmlns:a16="http://schemas.microsoft.com/office/drawing/2014/main" id="{9768F08A-4760-461E-A401-CEBB407AF086}"/>
              </a:ext>
            </a:extLst>
          </p:cNvPr>
          <p:cNvSpPr>
            <a:spLocks xmlns:a="http://schemas.openxmlformats.org/drawingml/2006/main" noGrp="1"/>
          </p:cNvSpPr>
          <p:nvPr/>
        </p:nvSpPr>
        <p:spPr>
          <a:xfrm xmlns:a="http://schemas.openxmlformats.org/drawingml/2006/main">
            <a:off x="685800" y="2038350"/>
            <a:ext cx="3105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0">
                <a:solidFill>
                  <a:srgbClr val="5F6B73"/>
                </a:solidFill>
                <a:latin typeface="Noto Sans KR"/>
                <a:ea typeface="Noto Sans KR"/>
                <a:cs typeface="Noto Sans KR"/>
              </a:defRPr>
            </a:pPr>
            <a:r>
              <a:rPr sz="1500" b="0">
                <a:solidFill>
                  <a:srgbClr val="5F6B73"/>
                </a:solidFill>
                <a:latin typeface="Noto Sans KR"/>
                <a:ea typeface="Noto Sans KR"/>
                <a:cs typeface="Noto Sans KR"/>
              </a:rPr>
              <a:t>근거가 있는 조건을</a:t>
            </a:r>
          </a:p>
          <a:p xmlns:a="http://schemas.openxmlformats.org/drawingml/2006/main">
            <a:pPr algn="l">
              <a:defRPr sz="1500" b="0">
                <a:solidFill>
                  <a:srgbClr val="5F6B73"/>
                </a:solidFill>
                <a:latin typeface="Noto Sans KR"/>
                <a:ea typeface="Noto Sans KR"/>
                <a:cs typeface="Noto Sans KR"/>
              </a:defRPr>
            </a:pPr>
            <a:r>
              <a:rPr sz="1500" b="0">
                <a:solidFill>
                  <a:srgbClr val="5F6B73"/>
                </a:solidFill>
                <a:latin typeface="Noto Sans KR"/>
                <a:ea typeface="Noto Sans KR"/>
                <a:cs typeface="Noto Sans KR"/>
              </a:rPr>
              <a:t>실행 항목으로 전환</a:t>
            </a:r>
          </a:p>
        </p:txBody>
      </p:sp>
      <p:sp>
        <p:nvSpPr>
          <p:cNvPr id="10" name="">
            <a:extLst xmlns:a="http://schemas.openxmlformats.org/drawingml/2006/main">
              <a:ext uri="{FF2B5EF4-FFF2-40B4-BE49-F238E27FC236}">
                <a16:creationId xmlns:a16="http://schemas.microsoft.com/office/drawing/2014/main" id="{3BD3D74F-9E3A-46E8-99A2-CCE00D5F9961}"/>
              </a:ext>
            </a:extLst>
          </p:cNvPr>
          <p:cNvSpPr>
            <a:spLocks xmlns:a="http://schemas.openxmlformats.org/drawingml/2006/main" noGrp="1"/>
          </p:cNvSpPr>
          <p:nvPr/>
        </p:nvSpPr>
        <p:spPr>
          <a:xfrm xmlns:a="http://schemas.openxmlformats.org/drawingml/2006/main">
            <a:off x="685800" y="30480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75" b="1">
                <a:solidFill>
                  <a:srgbClr val="C62828"/>
                </a:solidFill>
                <a:latin typeface="Noto Sans KR"/>
                <a:ea typeface="Noto Sans KR"/>
                <a:cs typeface="Noto Sans KR"/>
              </a:defRPr>
            </a:pPr>
            <a:r>
              <a:rPr sz="2175" b="1">
                <a:solidFill>
                  <a:srgbClr val="C62828"/>
                </a:solidFill>
                <a:latin typeface="Noto Sans KR"/>
                <a:ea typeface="Noto Sans KR"/>
                <a:cs typeface="Noto Sans KR"/>
              </a:rPr>
              <a:t>14.72%</a:t>
            </a:r>
          </a:p>
        </p:txBody>
      </p:sp>
      <p:sp>
        <p:nvSpPr>
          <p:cNvPr id="11" name="">
            <a:extLst xmlns:a="http://schemas.openxmlformats.org/drawingml/2006/main">
              <a:ext uri="{FF2B5EF4-FFF2-40B4-BE49-F238E27FC236}">
                <a16:creationId xmlns:a16="http://schemas.microsoft.com/office/drawing/2014/main" id="{F7CFB8FE-EAA2-4FE6-84D7-9C9EE723C635}"/>
              </a:ext>
            </a:extLst>
          </p:cNvPr>
          <p:cNvSpPr>
            <a:spLocks xmlns:a="http://schemas.openxmlformats.org/drawingml/2006/main" noGrp="1"/>
          </p:cNvSpPr>
          <p:nvPr/>
        </p:nvSpPr>
        <p:spPr>
          <a:xfrm xmlns:a="http://schemas.openxmlformats.org/drawingml/2006/main">
            <a:off x="2171700" y="3048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반덤핑 관세</a:t>
            </a:r>
          </a:p>
        </p:txBody>
      </p:sp>
      <p:sp>
        <p:nvSpPr>
          <p:cNvPr id="12" name="">
            <a:extLst xmlns:a="http://schemas.openxmlformats.org/drawingml/2006/main">
              <a:ext uri="{FF2B5EF4-FFF2-40B4-BE49-F238E27FC236}">
                <a16:creationId xmlns:a16="http://schemas.microsoft.com/office/drawing/2014/main" id="{F2A72581-828A-450D-AFAE-9DC8A4DCB0E0}"/>
              </a:ext>
            </a:extLst>
          </p:cNvPr>
          <p:cNvSpPr>
            <a:spLocks xmlns:a="http://schemas.openxmlformats.org/drawingml/2006/main" noGrp="1"/>
          </p:cNvSpPr>
          <p:nvPr/>
        </p:nvSpPr>
        <p:spPr>
          <a:xfrm xmlns:a="http://schemas.openxmlformats.org/drawingml/2006/main">
            <a:off x="2171700" y="33718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원가 재산정</a:t>
            </a:r>
          </a:p>
        </p:txBody>
      </p:sp>
      <p:sp>
        <p:nvSpPr>
          <p:cNvPr id="13" name="">
            <a:extLst xmlns:a="http://schemas.openxmlformats.org/drawingml/2006/main">
              <a:ext uri="{FF2B5EF4-FFF2-40B4-BE49-F238E27FC236}">
                <a16:creationId xmlns:a16="http://schemas.microsoft.com/office/drawing/2014/main" id="{3616DABE-0DF4-4C89-A651-4E6955491723}"/>
              </a:ext>
            </a:extLst>
          </p:cNvPr>
          <p:cNvSpPr>
            <a:spLocks xmlns:a="http://schemas.openxmlformats.org/drawingml/2006/main" noGrp="1"/>
          </p:cNvSpPr>
          <p:nvPr/>
        </p:nvSpPr>
        <p:spPr>
          <a:xfrm xmlns:a="http://schemas.openxmlformats.org/drawingml/2006/main">
            <a:off x="685800" y="3733800"/>
            <a:ext cx="310515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14" name="">
            <a:extLst xmlns:a="http://schemas.openxmlformats.org/drawingml/2006/main">
              <a:ext uri="{FF2B5EF4-FFF2-40B4-BE49-F238E27FC236}">
                <a16:creationId xmlns:a16="http://schemas.microsoft.com/office/drawing/2014/main" id="{FC054DFD-F8FB-41A1-A50F-04930B5BB246}"/>
              </a:ext>
            </a:extLst>
          </p:cNvPr>
          <p:cNvSpPr>
            <a:spLocks xmlns:a="http://schemas.openxmlformats.org/drawingml/2006/main" noGrp="1"/>
          </p:cNvSpPr>
          <p:nvPr/>
        </p:nvSpPr>
        <p:spPr>
          <a:xfrm xmlns:a="http://schemas.openxmlformats.org/drawingml/2006/main">
            <a:off x="685800" y="39243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DOT</a:t>
            </a:r>
          </a:p>
        </p:txBody>
      </p:sp>
      <p:sp>
        <p:nvSpPr>
          <p:cNvPr id="15" name="">
            <a:extLst xmlns:a="http://schemas.openxmlformats.org/drawingml/2006/main">
              <a:ext uri="{FF2B5EF4-FFF2-40B4-BE49-F238E27FC236}">
                <a16:creationId xmlns:a16="http://schemas.microsoft.com/office/drawing/2014/main" id="{27ED685C-F547-40CB-8ED8-84028FD5CBBA}"/>
              </a:ext>
            </a:extLst>
          </p:cNvPr>
          <p:cNvSpPr>
            <a:spLocks xmlns:a="http://schemas.openxmlformats.org/drawingml/2006/main" noGrp="1"/>
          </p:cNvSpPr>
          <p:nvPr/>
        </p:nvSpPr>
        <p:spPr>
          <a:xfrm xmlns:a="http://schemas.openxmlformats.org/drawingml/2006/main">
            <a:off x="2171700" y="39243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필수 인증</a:t>
            </a:r>
          </a:p>
        </p:txBody>
      </p:sp>
      <p:sp>
        <p:nvSpPr>
          <p:cNvPr id="16" name="">
            <a:extLst xmlns:a="http://schemas.openxmlformats.org/drawingml/2006/main">
              <a:ext uri="{FF2B5EF4-FFF2-40B4-BE49-F238E27FC236}">
                <a16:creationId xmlns:a16="http://schemas.microsoft.com/office/drawing/2014/main" id="{61187461-4EBD-4160-BB91-05E4F3B21CAE}"/>
              </a:ext>
            </a:extLst>
          </p:cNvPr>
          <p:cNvSpPr>
            <a:spLocks xmlns:a="http://schemas.openxmlformats.org/drawingml/2006/main" noGrp="1"/>
          </p:cNvSpPr>
          <p:nvPr/>
        </p:nvSpPr>
        <p:spPr>
          <a:xfrm xmlns:a="http://schemas.openxmlformats.org/drawingml/2006/main">
            <a:off x="2171700" y="42481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기관 확인</a:t>
            </a:r>
          </a:p>
        </p:txBody>
      </p:sp>
      <p:sp>
        <p:nvSpPr>
          <p:cNvPr id="17" name="">
            <a:extLst xmlns:a="http://schemas.openxmlformats.org/drawingml/2006/main">
              <a:ext uri="{FF2B5EF4-FFF2-40B4-BE49-F238E27FC236}">
                <a16:creationId xmlns:a16="http://schemas.microsoft.com/office/drawing/2014/main" id="{9E3EFB07-1205-47F9-BF46-CF559A58E50F}"/>
              </a:ext>
            </a:extLst>
          </p:cNvPr>
          <p:cNvSpPr>
            <a:spLocks xmlns:a="http://schemas.openxmlformats.org/drawingml/2006/main" noGrp="1"/>
          </p:cNvSpPr>
          <p:nvPr/>
        </p:nvSpPr>
        <p:spPr>
          <a:xfrm xmlns:a="http://schemas.openxmlformats.org/drawingml/2006/main">
            <a:off x="685800" y="4610100"/>
            <a:ext cx="310515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18" name="">
            <a:extLst xmlns:a="http://schemas.openxmlformats.org/drawingml/2006/main">
              <a:ext uri="{FF2B5EF4-FFF2-40B4-BE49-F238E27FC236}">
                <a16:creationId xmlns:a16="http://schemas.microsoft.com/office/drawing/2014/main" id="{E9340A6D-888E-463D-970F-7A223D4FA83F}"/>
              </a:ext>
            </a:extLst>
          </p:cNvPr>
          <p:cNvSpPr>
            <a:spLocks xmlns:a="http://schemas.openxmlformats.org/drawingml/2006/main" noGrp="1"/>
          </p:cNvSpPr>
          <p:nvPr/>
        </p:nvSpPr>
        <p:spPr>
          <a:xfrm xmlns:a="http://schemas.openxmlformats.org/drawingml/2006/main">
            <a:off x="685800" y="48006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85.7%</a:t>
            </a:r>
          </a:p>
        </p:txBody>
      </p:sp>
      <p:sp>
        <p:nvSpPr>
          <p:cNvPr id="19" name="">
            <a:extLst xmlns:a="http://schemas.openxmlformats.org/drawingml/2006/main">
              <a:ext uri="{FF2B5EF4-FFF2-40B4-BE49-F238E27FC236}">
                <a16:creationId xmlns:a16="http://schemas.microsoft.com/office/drawing/2014/main" id="{E05B3A4E-4A03-44AD-9A63-3DAC1BCEA784}"/>
              </a:ext>
            </a:extLst>
          </p:cNvPr>
          <p:cNvSpPr>
            <a:spLocks xmlns:a="http://schemas.openxmlformats.org/drawingml/2006/main" noGrp="1"/>
          </p:cNvSpPr>
          <p:nvPr/>
        </p:nvSpPr>
        <p:spPr>
          <a:xfrm xmlns:a="http://schemas.openxmlformats.org/drawingml/2006/main">
            <a:off x="2171700" y="4800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O/A 결제 비중</a:t>
            </a:r>
          </a:p>
        </p:txBody>
      </p:sp>
      <p:sp>
        <p:nvSpPr>
          <p:cNvPr id="20" name="">
            <a:extLst xmlns:a="http://schemas.openxmlformats.org/drawingml/2006/main">
              <a:ext uri="{FF2B5EF4-FFF2-40B4-BE49-F238E27FC236}">
                <a16:creationId xmlns:a16="http://schemas.microsoft.com/office/drawing/2014/main" id="{7F776606-DE30-4E22-BC08-37729A1A23A0}"/>
              </a:ext>
            </a:extLst>
          </p:cNvPr>
          <p:cNvSpPr>
            <a:spLocks xmlns:a="http://schemas.openxmlformats.org/drawingml/2006/main" noGrp="1"/>
          </p:cNvSpPr>
          <p:nvPr/>
        </p:nvSpPr>
        <p:spPr>
          <a:xfrm xmlns:a="http://schemas.openxmlformats.org/drawingml/2006/main">
            <a:off x="2171700" y="5124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무역보험 검토</a:t>
            </a:r>
          </a:p>
        </p:txBody>
      </p:sp>
      <p:sp>
        <p:nvSpPr>
          <p:cNvPr id="21" name="">
            <a:extLst xmlns:a="http://schemas.openxmlformats.org/drawingml/2006/main">
              <a:ext uri="{FF2B5EF4-FFF2-40B4-BE49-F238E27FC236}">
                <a16:creationId xmlns:a16="http://schemas.microsoft.com/office/drawing/2014/main" id="{F8BA8096-85A0-4DB3-B069-FB9D3A82020B}"/>
              </a:ext>
            </a:extLst>
          </p:cNvPr>
          <p:cNvSpPr>
            <a:spLocks xmlns:a="http://schemas.openxmlformats.org/drawingml/2006/main" noGrp="1"/>
          </p:cNvSpPr>
          <p:nvPr/>
        </p:nvSpPr>
        <p:spPr>
          <a:xfrm xmlns:a="http://schemas.openxmlformats.org/drawingml/2006/main">
            <a:off x="685800" y="5486400"/>
            <a:ext cx="310515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2" name="">
            <a:extLst xmlns:a="http://schemas.openxmlformats.org/drawingml/2006/main">
              <a:ext uri="{FF2B5EF4-FFF2-40B4-BE49-F238E27FC236}">
                <a16:creationId xmlns:a16="http://schemas.microsoft.com/office/drawing/2014/main" id="{CFE00781-E761-4783-A61D-DE7FC35A2C79}"/>
              </a:ext>
            </a:extLst>
          </p:cNvPr>
          <p:cNvSpPr>
            <a:spLocks xmlns:a="http://schemas.openxmlformats.org/drawingml/2006/main" noGrp="1"/>
          </p:cNvSpPr>
          <p:nvPr/>
        </p:nvSpPr>
        <p:spPr>
          <a:xfrm xmlns:a="http://schemas.openxmlformats.org/drawingml/2006/main">
            <a:off x="685800" y="5715000"/>
            <a:ext cx="1657350" cy="285750"/>
          </a:xfrm>
          <a:prstGeom xmlns:a="http://schemas.openxmlformats.org/drawingml/2006/main" prst="roundRect">
            <a:avLst>
              <a:gd name="adj" fmla="val 40000"/>
            </a:avLst>
          </a:prstGeom>
          <a:solidFill xmlns:a="http://schemas.openxmlformats.org/drawingml/2006/main">
            <a:srgbClr val="051C2C"/>
          </a:solidFill>
          <a:ln xmlns:a="http://schemas.openxmlformats.org/drawingml/2006/main" w="0">
            <a:solidFill>
              <a:srgbClr val="051C2C"/>
            </a:solidFill>
            <a:prstDash val="solid"/>
          </a:ln>
        </p:spPr>
      </p:sp>
      <p:sp>
        <p:nvSpPr>
          <p:cNvPr id="23" name="">
            <a:extLst xmlns:a="http://schemas.openxmlformats.org/drawingml/2006/main">
              <a:ext uri="{FF2B5EF4-FFF2-40B4-BE49-F238E27FC236}">
                <a16:creationId xmlns:a16="http://schemas.microsoft.com/office/drawing/2014/main" id="{B849FD7F-3189-456E-82D5-1B4A7110FA71}"/>
              </a:ext>
            </a:extLst>
          </p:cNvPr>
          <p:cNvSpPr>
            <a:spLocks xmlns:a="http://schemas.openxmlformats.org/drawingml/2006/main" noGrp="1"/>
          </p:cNvSpPr>
          <p:nvPr/>
        </p:nvSpPr>
        <p:spPr>
          <a:xfrm xmlns:a="http://schemas.openxmlformats.org/drawingml/2006/main">
            <a:off x="685800" y="57150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PDF DOWNLOAD</a:t>
            </a:r>
          </a:p>
        </p:txBody>
      </p:sp>
      <p:sp>
        <p:nvSpPr>
          <p:cNvPr id="24" name="">
            <a:extLst xmlns:a="http://schemas.openxmlformats.org/drawingml/2006/main">
              <a:ext uri="{FF2B5EF4-FFF2-40B4-BE49-F238E27FC236}">
                <a16:creationId xmlns:a16="http://schemas.microsoft.com/office/drawing/2014/main" id="{8BD0D4E3-0613-49F0-B672-31CAD666904F}"/>
              </a:ext>
            </a:extLst>
          </p:cNvPr>
          <p:cNvSpPr>
            <a:spLocks xmlns:a="http://schemas.openxmlformats.org/drawingml/2006/main" noGrp="1"/>
          </p:cNvSpPr>
          <p:nvPr/>
        </p:nvSpPr>
        <p:spPr>
          <a:xfrm xmlns:a="http://schemas.openxmlformats.org/drawingml/2006/main">
            <a:off x="4267200" y="1371600"/>
            <a:ext cx="7372350" cy="4686300"/>
          </a:xfrm>
          <a:prstGeom xmlns:a="http://schemas.openxmlformats.org/drawingml/2006/main" prst="roundRect">
            <a:avLst>
              <a:gd name="adj" fmla="val 2439"/>
            </a:avLst>
          </a:prstGeom>
          <a:solidFill xmlns:a="http://schemas.openxmlformats.org/drawingml/2006/main">
            <a:srgbClr val="FFFFFF"/>
          </a:solidFill>
          <a:ln xmlns:a="http://schemas.openxmlformats.org/drawingml/2006/main" w="9525">
            <a:solidFill>
              <a:srgbClr val="D7DEE2"/>
            </a:solidFill>
            <a:prstDash val="solid"/>
          </a:ln>
        </p:spPr>
      </p:sp>
      <p:sp>
        <p:nvSpPr>
          <p:cNvPr id="25" name="">
            <a:extLst xmlns:a="http://schemas.openxmlformats.org/drawingml/2006/main">
              <a:ext uri="{FF2B5EF4-FFF2-40B4-BE49-F238E27FC236}">
                <a16:creationId xmlns:a16="http://schemas.microsoft.com/office/drawing/2014/main" id="{ED915DBB-97D1-40D2-A342-32694CC98962}"/>
              </a:ext>
            </a:extLst>
          </p:cNvPr>
          <p:cNvSpPr>
            <a:spLocks xmlns:a="http://schemas.openxmlformats.org/drawingml/2006/main" noGrp="1"/>
          </p:cNvSpPr>
          <p:nvPr/>
        </p:nvSpPr>
        <p:spPr>
          <a:xfrm xmlns:a="http://schemas.openxmlformats.org/drawingml/2006/main">
            <a:off x="4457700" y="1562100"/>
            <a:ext cx="1295400" cy="285750"/>
          </a:xfrm>
          <a:prstGeom xmlns:a="http://schemas.openxmlformats.org/drawingml/2006/main" prst="roundRect">
            <a:avLst>
              <a:gd name="adj" fmla="val 40000"/>
            </a:avLst>
          </a:prstGeom>
          <a:solidFill xmlns:a="http://schemas.openxmlformats.org/drawingml/2006/main">
            <a:srgbClr val="051C2C"/>
          </a:solidFill>
          <a:ln xmlns:a="http://schemas.openxmlformats.org/drawingml/2006/main" w="0">
            <a:solidFill>
              <a:srgbClr val="051C2C"/>
            </a:solidFill>
            <a:prstDash val="solid"/>
          </a:ln>
        </p:spPr>
      </p:sp>
      <p:sp>
        <p:nvSpPr>
          <p:cNvPr id="26" name="">
            <a:extLst xmlns:a="http://schemas.openxmlformats.org/drawingml/2006/main">
              <a:ext uri="{FF2B5EF4-FFF2-40B4-BE49-F238E27FC236}">
                <a16:creationId xmlns:a16="http://schemas.microsoft.com/office/drawing/2014/main" id="{225954BD-12EC-4262-B2BA-5BAEBA9D3929}"/>
              </a:ext>
            </a:extLst>
          </p:cNvPr>
          <p:cNvSpPr>
            <a:spLocks xmlns:a="http://schemas.openxmlformats.org/drawingml/2006/main" noGrp="1"/>
          </p:cNvSpPr>
          <p:nvPr/>
        </p:nvSpPr>
        <p:spPr>
          <a:xfrm xmlns:a="http://schemas.openxmlformats.org/drawingml/2006/main">
            <a:off x="4457700" y="156210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AI 수출전략 리포트</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2f860b7089ca4b60"/>
          <a:stretch xmlns:a="http://schemas.openxmlformats.org/drawingml/2006/main"/>
        </p:blipFill>
        <p:spPr>
          <a:xfrm xmlns:a="http://schemas.openxmlformats.org/drawingml/2006/main">
            <a:off x="4324350" y="1430359"/>
            <a:ext cx="7258050" cy="4568783"/>
          </a:xfrm>
          <a:prstGeom xmlns:a="http://schemas.openxmlformats.org/drawingml/2006/main" prst="roundRect">
            <a:avLst>
              <a:gd name="adj" fmla="val 2500"/>
            </a:avLst>
          </a:prstGeom>
        </p:spPr>
      </p:pic>
      <p:pic xmlns:a="http://schemas.openxmlformats.org/drawingml/2006/main" xmlns:r="http://schemas.openxmlformats.org/officeDocument/2006/relationships">
        <p:nvPicPr>
          <p:cNvPr id="909" name="LIVE DEMO 04" descr="Embedded product demonstration video"/>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330700" y="1460500"/>
            <a:ext cx="7251700" cy="4572000"/>
          </a:xfrm>
          <a:prstGeom prst="rect">
            <a:avLst/>
          </a:prstGeom>
          <a:ln w="12700">
            <a:solidFill>
              <a:srgbClr val="D9E2F3"/>
            </a:solidFill>
          </a:ln>
        </p:spPr>
      </p:pic>
    </p:spTree>
    <p:extLst>
      <p:ext uri="{BB962C8B-B14F-4D97-AF65-F5344CB8AC3E}">
        <p14:creationId xmlns:p14="http://schemas.microsoft.com/office/powerpoint/2010/main" val="5154543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2B9B0CD-296A-49A0-8474-A9872A384E42}"/>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ARCHITECTURE</a:t>
            </a:r>
          </a:p>
        </p:txBody>
      </p:sp>
      <p:sp>
        <p:nvSpPr>
          <p:cNvPr id="2" name="slide-10-title">
            <a:extLst xmlns:a="http://schemas.openxmlformats.org/drawingml/2006/main">
              <a:ext uri="{FF2B5EF4-FFF2-40B4-BE49-F238E27FC236}">
                <a16:creationId xmlns:a16="http://schemas.microsoft.com/office/drawing/2014/main" id="{4CBE1030-5A53-4886-8EA8-8C9128FDFAE1}"/>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공공데이터가 사실을 만들고 AI가 판단과 행동으로 변환합니다</a:t>
            </a:r>
          </a:p>
        </p:txBody>
      </p:sp>
      <p:sp>
        <p:nvSpPr>
          <p:cNvPr id="3" name="">
            <a:extLst xmlns:a="http://schemas.openxmlformats.org/drawingml/2006/main">
              <a:ext uri="{FF2B5EF4-FFF2-40B4-BE49-F238E27FC236}">
                <a16:creationId xmlns:a16="http://schemas.microsoft.com/office/drawing/2014/main" id="{772286B8-9F01-4914-8964-51F5EC19C601}"/>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2A7FAC28-F5AD-432D-A24B-51C8722E4DC2}"/>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4A0EE780-C870-4AFA-9BE4-07E35C8955C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263B4315-B5ED-44BC-9BAD-17CEB8D1C710}"/>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데이터·AI 아키텍처</a:t>
            </a:r>
          </a:p>
        </p:txBody>
      </p:sp>
      <p:sp>
        <p:nvSpPr>
          <p:cNvPr id="7" name="">
            <a:extLst xmlns:a="http://schemas.openxmlformats.org/drawingml/2006/main">
              <a:ext uri="{FF2B5EF4-FFF2-40B4-BE49-F238E27FC236}">
                <a16:creationId xmlns:a16="http://schemas.microsoft.com/office/drawing/2014/main" id="{F243BA5A-E3BF-4B5C-9F0C-53283E44821D}"/>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10</a:t>
            </a:r>
          </a:p>
        </p:txBody>
      </p:sp>
      <p:sp>
        <p:nvSpPr>
          <p:cNvPr id="8" name="">
            <a:extLst xmlns:a="http://schemas.openxmlformats.org/drawingml/2006/main">
              <a:ext uri="{FF2B5EF4-FFF2-40B4-BE49-F238E27FC236}">
                <a16:creationId xmlns:a16="http://schemas.microsoft.com/office/drawing/2014/main" id="{915AC797-EB13-471A-9A2D-D9438EDD310D}"/>
              </a:ext>
            </a:extLst>
          </p:cNvPr>
          <p:cNvSpPr>
            <a:spLocks xmlns:a="http://schemas.openxmlformats.org/drawingml/2006/main" noGrp="1"/>
          </p:cNvSpPr>
          <p:nvPr/>
        </p:nvSpPr>
        <p:spPr>
          <a:xfrm xmlns:a="http://schemas.openxmlformats.org/drawingml/2006/main">
            <a:off x="685800" y="1447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FACT</a:t>
            </a:r>
          </a:p>
        </p:txBody>
      </p:sp>
      <p:sp>
        <p:nvSpPr>
          <p:cNvPr id="9" name="">
            <a:extLst xmlns:a="http://schemas.openxmlformats.org/drawingml/2006/main">
              <a:ext uri="{FF2B5EF4-FFF2-40B4-BE49-F238E27FC236}">
                <a16:creationId xmlns:a16="http://schemas.microsoft.com/office/drawing/2014/main" id="{6ECFC5E1-6DB3-4F1A-A193-7EA8D5F441B4}"/>
              </a:ext>
            </a:extLst>
          </p:cNvPr>
          <p:cNvSpPr>
            <a:spLocks xmlns:a="http://schemas.openxmlformats.org/drawingml/2006/main" noGrp="1"/>
          </p:cNvSpPr>
          <p:nvPr/>
        </p:nvSpPr>
        <p:spPr>
          <a:xfrm xmlns:a="http://schemas.openxmlformats.org/drawingml/2006/main">
            <a:off x="685800" y="1752600"/>
            <a:ext cx="10820400" cy="1028700"/>
          </a:xfrm>
          <a:prstGeom xmlns:a="http://schemas.openxmlformats.org/drawingml/2006/main" prst="roundRect">
            <a:avLst>
              <a:gd name="adj" fmla="val 11111"/>
            </a:avLst>
          </a:prstGeom>
          <a:solidFill xmlns:a="http://schemas.openxmlformats.org/drawingml/2006/main">
            <a:srgbClr val="F3F6F7"/>
          </a:solidFill>
          <a:ln xmlns:a="http://schemas.openxmlformats.org/drawingml/2006/main" w="9525">
            <a:solidFill>
              <a:srgbClr val="D7DEE2"/>
            </a:solidFill>
            <a:prstDash val="solid"/>
          </a:ln>
        </p:spPr>
      </p:sp>
      <p:sp>
        <p:nvSpPr>
          <p:cNvPr id="10" name="">
            <a:extLst xmlns:a="http://schemas.openxmlformats.org/drawingml/2006/main">
              <a:ext uri="{FF2B5EF4-FFF2-40B4-BE49-F238E27FC236}">
                <a16:creationId xmlns:a16="http://schemas.microsoft.com/office/drawing/2014/main" id="{99F5D96B-D540-4407-8F66-0D818059B954}"/>
              </a:ext>
            </a:extLst>
          </p:cNvPr>
          <p:cNvSpPr>
            <a:spLocks xmlns:a="http://schemas.openxmlformats.org/drawingml/2006/main" noGrp="1"/>
          </p:cNvSpPr>
          <p:nvPr/>
        </p:nvSpPr>
        <p:spPr>
          <a:xfrm xmlns:a="http://schemas.openxmlformats.org/drawingml/2006/main">
            <a:off x="933450" y="1943100"/>
            <a:ext cx="2324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051C2C"/>
                </a:solidFill>
                <a:latin typeface="Noto Sans KR"/>
                <a:ea typeface="Noto Sans KR"/>
                <a:cs typeface="Noto Sans KR"/>
              </a:defRPr>
            </a:pPr>
            <a:r>
              <a:rPr sz="1725" b="1">
                <a:solidFill>
                  <a:srgbClr val="051C2C"/>
                </a:solidFill>
                <a:latin typeface="Noto Sans KR"/>
                <a:ea typeface="Noto Sans KR"/>
                <a:cs typeface="Noto Sans KR"/>
              </a:rPr>
              <a:t>공공데이터 사실층</a:t>
            </a:r>
          </a:p>
        </p:txBody>
      </p:sp>
      <p:sp>
        <p:nvSpPr>
          <p:cNvPr id="11" name="">
            <a:extLst xmlns:a="http://schemas.openxmlformats.org/drawingml/2006/main">
              <a:ext uri="{FF2B5EF4-FFF2-40B4-BE49-F238E27FC236}">
                <a16:creationId xmlns:a16="http://schemas.microsoft.com/office/drawing/2014/main" id="{607A340C-7789-491B-A03A-381749357327}"/>
              </a:ext>
            </a:extLst>
          </p:cNvPr>
          <p:cNvSpPr>
            <a:spLocks xmlns:a="http://schemas.openxmlformats.org/drawingml/2006/main" noGrp="1"/>
          </p:cNvSpPr>
          <p:nvPr/>
        </p:nvSpPr>
        <p:spPr>
          <a:xfrm xmlns:a="http://schemas.openxmlformats.org/drawingml/2006/main">
            <a:off x="3467100" y="194310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4212B"/>
                </a:solidFill>
                <a:latin typeface="Noto Sans KR"/>
                <a:ea typeface="Noto Sans KR"/>
                <a:cs typeface="Noto Sans KR"/>
              </a:defRPr>
            </a:pPr>
            <a:r>
              <a:rPr sz="1500" b="1">
                <a:solidFill>
                  <a:srgbClr val="14212B"/>
                </a:solidFill>
                <a:latin typeface="Noto Sans KR"/>
                <a:ea typeface="Noto Sans KR"/>
                <a:cs typeface="Noto Sans KR"/>
              </a:rPr>
              <a:t>KICOX · KOTRA · K-SURE · 관세청 · 전략물자 · SafetyKorea</a:t>
            </a:r>
          </a:p>
        </p:txBody>
      </p:sp>
      <p:sp>
        <p:nvSpPr>
          <p:cNvPr id="12" name="">
            <a:extLst xmlns:a="http://schemas.openxmlformats.org/drawingml/2006/main">
              <a:ext uri="{FF2B5EF4-FFF2-40B4-BE49-F238E27FC236}">
                <a16:creationId xmlns:a16="http://schemas.microsoft.com/office/drawing/2014/main" id="{E6076558-A2CD-499C-BF87-7C4B35558024}"/>
              </a:ext>
            </a:extLst>
          </p:cNvPr>
          <p:cNvSpPr>
            <a:spLocks xmlns:a="http://schemas.openxmlformats.org/drawingml/2006/main" noGrp="1"/>
          </p:cNvSpPr>
          <p:nvPr/>
        </p:nvSpPr>
        <p:spPr>
          <a:xfrm xmlns:a="http://schemas.openxmlformats.org/drawingml/2006/main">
            <a:off x="3467100" y="23431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10종 API와 공식 웹 근거</a:t>
            </a:r>
          </a:p>
        </p:txBody>
      </p:sp>
      <p:sp>
        <p:nvSpPr>
          <p:cNvPr id="13" name="">
            <a:extLst xmlns:a="http://schemas.openxmlformats.org/drawingml/2006/main">
              <a:ext uri="{FF2B5EF4-FFF2-40B4-BE49-F238E27FC236}">
                <a16:creationId xmlns:a16="http://schemas.microsoft.com/office/drawing/2014/main" id="{845049F7-3747-49B6-A977-D3905D2FFD70}"/>
              </a:ext>
            </a:extLst>
          </p:cNvPr>
          <p:cNvSpPr>
            <a:spLocks xmlns:a="http://schemas.openxmlformats.org/drawingml/2006/main" noGrp="1"/>
          </p:cNvSpPr>
          <p:nvPr/>
        </p:nvSpPr>
        <p:spPr>
          <a:xfrm xmlns:a="http://schemas.openxmlformats.org/drawingml/2006/main">
            <a:off x="685800" y="3028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EVIDENCE</a:t>
            </a:r>
          </a:p>
        </p:txBody>
      </p:sp>
      <p:sp>
        <p:nvSpPr>
          <p:cNvPr id="14" name="">
            <a:extLst xmlns:a="http://schemas.openxmlformats.org/drawingml/2006/main">
              <a:ext uri="{FF2B5EF4-FFF2-40B4-BE49-F238E27FC236}">
                <a16:creationId xmlns:a16="http://schemas.microsoft.com/office/drawing/2014/main" id="{F6CDC05D-C7EA-48A1-BB9F-2E1ACBE2EAE3}"/>
              </a:ext>
            </a:extLst>
          </p:cNvPr>
          <p:cNvSpPr>
            <a:spLocks xmlns:a="http://schemas.openxmlformats.org/drawingml/2006/main" noGrp="1"/>
          </p:cNvSpPr>
          <p:nvPr/>
        </p:nvSpPr>
        <p:spPr>
          <a:xfrm xmlns:a="http://schemas.openxmlformats.org/drawingml/2006/main">
            <a:off x="685800" y="3333750"/>
            <a:ext cx="10820400" cy="1104900"/>
          </a:xfrm>
          <a:prstGeom xmlns:a="http://schemas.openxmlformats.org/drawingml/2006/main" prst="roundRect">
            <a:avLst>
              <a:gd name="adj" fmla="val 10345"/>
            </a:avLst>
          </a:prstGeom>
          <a:solidFill xmlns:a="http://schemas.openxmlformats.org/drawingml/2006/main">
            <a:srgbClr val="051C2C"/>
          </a:solidFill>
          <a:ln xmlns:a="http://schemas.openxmlformats.org/drawingml/2006/main" w="0">
            <a:solidFill>
              <a:srgbClr val="051C2C"/>
            </a:solidFill>
            <a:prstDash val="solid"/>
          </a:ln>
        </p:spPr>
      </p:sp>
      <p:sp>
        <p:nvSpPr>
          <p:cNvPr id="15" name="">
            <a:extLst xmlns:a="http://schemas.openxmlformats.org/drawingml/2006/main">
              <a:ext uri="{FF2B5EF4-FFF2-40B4-BE49-F238E27FC236}">
                <a16:creationId xmlns:a16="http://schemas.microsoft.com/office/drawing/2014/main" id="{D272664C-A46B-434F-8212-383E47FA86BB}"/>
              </a:ext>
            </a:extLst>
          </p:cNvPr>
          <p:cNvSpPr>
            <a:spLocks xmlns:a="http://schemas.openxmlformats.org/drawingml/2006/main" noGrp="1"/>
          </p:cNvSpPr>
          <p:nvPr/>
        </p:nvSpPr>
        <p:spPr>
          <a:xfrm xmlns:a="http://schemas.openxmlformats.org/drawingml/2006/main">
            <a:off x="914400" y="3524250"/>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정규화</a:t>
            </a:r>
          </a:p>
        </p:txBody>
      </p:sp>
      <p:sp>
        <p:nvSpPr>
          <p:cNvPr id="16" name="">
            <a:extLst xmlns:a="http://schemas.openxmlformats.org/drawingml/2006/main">
              <a:ext uri="{FF2B5EF4-FFF2-40B4-BE49-F238E27FC236}">
                <a16:creationId xmlns:a16="http://schemas.microsoft.com/office/drawing/2014/main" id="{FBC2B16D-172C-40D1-84AB-EE110C5CE872}"/>
              </a:ext>
            </a:extLst>
          </p:cNvPr>
          <p:cNvSpPr>
            <a:spLocks xmlns:a="http://schemas.openxmlformats.org/drawingml/2006/main" noGrp="1"/>
          </p:cNvSpPr>
          <p:nvPr/>
        </p:nvSpPr>
        <p:spPr>
          <a:xfrm xmlns:a="http://schemas.openxmlformats.org/drawingml/2006/main">
            <a:off x="914400" y="388620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기업 · HSK · 국가 키</a:t>
            </a:r>
          </a:p>
        </p:txBody>
      </p:sp>
      <p:sp>
        <p:nvSpPr>
          <p:cNvPr id="17" name="">
            <a:extLst xmlns:a="http://schemas.openxmlformats.org/drawingml/2006/main">
              <a:ext uri="{FF2B5EF4-FFF2-40B4-BE49-F238E27FC236}">
                <a16:creationId xmlns:a16="http://schemas.microsoft.com/office/drawing/2014/main" id="{9A0F82F2-43D2-4884-9C4A-A104612B72C1}"/>
              </a:ext>
            </a:extLst>
          </p:cNvPr>
          <p:cNvSpPr>
            <a:spLocks xmlns:a="http://schemas.openxmlformats.org/drawingml/2006/main" noGrp="1"/>
          </p:cNvSpPr>
          <p:nvPr/>
        </p:nvSpPr>
        <p:spPr>
          <a:xfrm xmlns:a="http://schemas.openxmlformats.org/drawingml/2006/main">
            <a:off x="4286250" y="3543300"/>
            <a:ext cx="9525" cy="685800"/>
          </a:xfrm>
          <a:prstGeom xmlns:a="http://schemas.openxmlformats.org/drawingml/2006/main" prst="rect">
            <a:avLst/>
          </a:prstGeom>
          <a:solidFill xmlns:a="http://schemas.openxmlformats.org/drawingml/2006/main">
            <a:srgbClr val="426170"/>
          </a:solidFill>
          <a:ln xmlns:a="http://schemas.openxmlformats.org/drawingml/2006/main" w="0">
            <a:solidFill>
              <a:srgbClr val="426170"/>
            </a:solidFill>
            <a:prstDash val="solid"/>
          </a:ln>
        </p:spPr>
      </p:sp>
      <p:sp>
        <p:nvSpPr>
          <p:cNvPr id="18" name="">
            <a:extLst xmlns:a="http://schemas.openxmlformats.org/drawingml/2006/main">
              <a:ext uri="{FF2B5EF4-FFF2-40B4-BE49-F238E27FC236}">
                <a16:creationId xmlns:a16="http://schemas.microsoft.com/office/drawing/2014/main" id="{63F80126-4231-4C01-8AC8-7EFBBDD528BE}"/>
              </a:ext>
            </a:extLst>
          </p:cNvPr>
          <p:cNvSpPr>
            <a:spLocks xmlns:a="http://schemas.openxmlformats.org/drawingml/2006/main" noGrp="1"/>
          </p:cNvSpPr>
          <p:nvPr/>
        </p:nvSpPr>
        <p:spPr>
          <a:xfrm xmlns:a="http://schemas.openxmlformats.org/drawingml/2006/main">
            <a:off x="4476750" y="3524250"/>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근거 ID</a:t>
            </a:r>
          </a:p>
        </p:txBody>
      </p:sp>
      <p:sp>
        <p:nvSpPr>
          <p:cNvPr id="19" name="">
            <a:extLst xmlns:a="http://schemas.openxmlformats.org/drawingml/2006/main">
              <a:ext uri="{FF2B5EF4-FFF2-40B4-BE49-F238E27FC236}">
                <a16:creationId xmlns:a16="http://schemas.microsoft.com/office/drawing/2014/main" id="{8D8127C9-A84E-4F92-A00C-08F79FF6875B}"/>
              </a:ext>
            </a:extLst>
          </p:cNvPr>
          <p:cNvSpPr>
            <a:spLocks xmlns:a="http://schemas.openxmlformats.org/drawingml/2006/main" noGrp="1"/>
          </p:cNvSpPr>
          <p:nvPr/>
        </p:nvSpPr>
        <p:spPr>
          <a:xfrm xmlns:a="http://schemas.openxmlformats.org/drawingml/2006/main">
            <a:off x="4476750" y="388620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출처 · 조회일 · 상태</a:t>
            </a:r>
          </a:p>
        </p:txBody>
      </p:sp>
      <p:sp>
        <p:nvSpPr>
          <p:cNvPr id="20" name="">
            <a:extLst xmlns:a="http://schemas.openxmlformats.org/drawingml/2006/main">
              <a:ext uri="{FF2B5EF4-FFF2-40B4-BE49-F238E27FC236}">
                <a16:creationId xmlns:a16="http://schemas.microsoft.com/office/drawing/2014/main" id="{CD8B14F0-E239-4CED-9182-BE5C535372D6}"/>
              </a:ext>
            </a:extLst>
          </p:cNvPr>
          <p:cNvSpPr>
            <a:spLocks xmlns:a="http://schemas.openxmlformats.org/drawingml/2006/main" noGrp="1"/>
          </p:cNvSpPr>
          <p:nvPr/>
        </p:nvSpPr>
        <p:spPr>
          <a:xfrm xmlns:a="http://schemas.openxmlformats.org/drawingml/2006/main">
            <a:off x="7848600" y="3543300"/>
            <a:ext cx="9525" cy="685800"/>
          </a:xfrm>
          <a:prstGeom xmlns:a="http://schemas.openxmlformats.org/drawingml/2006/main" prst="rect">
            <a:avLst/>
          </a:prstGeom>
          <a:solidFill xmlns:a="http://schemas.openxmlformats.org/drawingml/2006/main">
            <a:srgbClr val="426170"/>
          </a:solidFill>
          <a:ln xmlns:a="http://schemas.openxmlformats.org/drawingml/2006/main" w="0">
            <a:solidFill>
              <a:srgbClr val="426170"/>
            </a:solidFill>
            <a:prstDash val="solid"/>
          </a:ln>
        </p:spPr>
      </p:sp>
      <p:sp>
        <p:nvSpPr>
          <p:cNvPr id="21" name="">
            <a:extLst xmlns:a="http://schemas.openxmlformats.org/drawingml/2006/main">
              <a:ext uri="{FF2B5EF4-FFF2-40B4-BE49-F238E27FC236}">
                <a16:creationId xmlns:a16="http://schemas.microsoft.com/office/drawing/2014/main" id="{C4AE345C-DE8D-429D-8EF1-28D97CFC8137}"/>
              </a:ext>
            </a:extLst>
          </p:cNvPr>
          <p:cNvSpPr>
            <a:spLocks xmlns:a="http://schemas.openxmlformats.org/drawingml/2006/main" noGrp="1"/>
          </p:cNvSpPr>
          <p:nvPr/>
        </p:nvSpPr>
        <p:spPr>
          <a:xfrm xmlns:a="http://schemas.openxmlformats.org/drawingml/2006/main">
            <a:off x="8039100" y="3524250"/>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의사결정 게이트</a:t>
            </a:r>
          </a:p>
        </p:txBody>
      </p:sp>
      <p:sp>
        <p:nvSpPr>
          <p:cNvPr id="22" name="">
            <a:extLst xmlns:a="http://schemas.openxmlformats.org/drawingml/2006/main">
              <a:ext uri="{FF2B5EF4-FFF2-40B4-BE49-F238E27FC236}">
                <a16:creationId xmlns:a16="http://schemas.microsoft.com/office/drawing/2014/main" id="{4096E443-5658-4332-84DD-8A69100455F0}"/>
              </a:ext>
            </a:extLst>
          </p:cNvPr>
          <p:cNvSpPr>
            <a:spLocks xmlns:a="http://schemas.openxmlformats.org/drawingml/2006/main" noGrp="1"/>
          </p:cNvSpPr>
          <p:nvPr/>
        </p:nvSpPr>
        <p:spPr>
          <a:xfrm xmlns:a="http://schemas.openxmlformats.org/drawingml/2006/main">
            <a:off x="8039100" y="388620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미확인 · 조건부 · 기관확인</a:t>
            </a:r>
          </a:p>
        </p:txBody>
      </p:sp>
      <p:sp>
        <p:nvSpPr>
          <p:cNvPr id="23" name="">
            <a:extLst xmlns:a="http://schemas.openxmlformats.org/drawingml/2006/main">
              <a:ext uri="{FF2B5EF4-FFF2-40B4-BE49-F238E27FC236}">
                <a16:creationId xmlns:a16="http://schemas.microsoft.com/office/drawing/2014/main" id="{3EC25436-5B7D-491E-937B-4273A4C39378}"/>
              </a:ext>
            </a:extLst>
          </p:cNvPr>
          <p:cNvSpPr>
            <a:spLocks xmlns:a="http://schemas.openxmlformats.org/drawingml/2006/main" noGrp="1"/>
          </p:cNvSpPr>
          <p:nvPr/>
        </p:nvSpPr>
        <p:spPr>
          <a:xfrm xmlns:a="http://schemas.openxmlformats.org/drawingml/2006/main">
            <a:off x="685800" y="46863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ACTION</a:t>
            </a:r>
          </a:p>
        </p:txBody>
      </p:sp>
      <p:sp>
        <p:nvSpPr>
          <p:cNvPr id="24" name="">
            <a:extLst xmlns:a="http://schemas.openxmlformats.org/drawingml/2006/main">
              <a:ext uri="{FF2B5EF4-FFF2-40B4-BE49-F238E27FC236}">
                <a16:creationId xmlns:a16="http://schemas.microsoft.com/office/drawing/2014/main" id="{B1268824-34E1-4BE9-A8C0-792653C22C2B}"/>
              </a:ext>
            </a:extLst>
          </p:cNvPr>
          <p:cNvSpPr>
            <a:spLocks xmlns:a="http://schemas.openxmlformats.org/drawingml/2006/main" noGrp="1"/>
          </p:cNvSpPr>
          <p:nvPr/>
        </p:nvSpPr>
        <p:spPr>
          <a:xfrm xmlns:a="http://schemas.openxmlformats.org/drawingml/2006/main">
            <a:off x="685800" y="4991100"/>
            <a:ext cx="10820400" cy="1066800"/>
          </a:xfrm>
          <a:prstGeom xmlns:a="http://schemas.openxmlformats.org/drawingml/2006/main" prst="roundRect">
            <a:avLst>
              <a:gd name="adj" fmla="val 10714"/>
            </a:avLst>
          </a:prstGeom>
          <a:solidFill xmlns:a="http://schemas.openxmlformats.org/drawingml/2006/main">
            <a:srgbClr val="E3F6F2"/>
          </a:solidFill>
          <a:ln xmlns:a="http://schemas.openxmlformats.org/drawingml/2006/main" w="0">
            <a:solidFill>
              <a:srgbClr val="E3F6F2"/>
            </a:solidFill>
            <a:prstDash val="solid"/>
          </a:ln>
        </p:spPr>
      </p:sp>
      <p:sp>
        <p:nvSpPr>
          <p:cNvPr id="25" name="">
            <a:extLst xmlns:a="http://schemas.openxmlformats.org/drawingml/2006/main">
              <a:ext uri="{FF2B5EF4-FFF2-40B4-BE49-F238E27FC236}">
                <a16:creationId xmlns:a16="http://schemas.microsoft.com/office/drawing/2014/main" id="{53DCB897-AFF8-4D52-94A0-4B0444EEF1C1}"/>
              </a:ext>
            </a:extLst>
          </p:cNvPr>
          <p:cNvSpPr>
            <a:spLocks xmlns:a="http://schemas.openxmlformats.org/drawingml/2006/main" noGrp="1"/>
          </p:cNvSpPr>
          <p:nvPr/>
        </p:nvSpPr>
        <p:spPr>
          <a:xfrm xmlns:a="http://schemas.openxmlformats.org/drawingml/2006/main">
            <a:off x="933450" y="5181600"/>
            <a:ext cx="3067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051C2C"/>
                </a:solidFill>
                <a:latin typeface="Noto Sans KR"/>
                <a:ea typeface="Noto Sans KR"/>
                <a:cs typeface="Noto Sans KR"/>
              </a:defRPr>
            </a:pPr>
            <a:r>
              <a:rPr sz="1650" b="1">
                <a:solidFill>
                  <a:srgbClr val="051C2C"/>
                </a:solidFill>
                <a:latin typeface="Noto Sans KR"/>
                <a:ea typeface="Noto Sans KR"/>
                <a:cs typeface="Noto Sans KR"/>
              </a:rPr>
              <a:t>Gemini · 전문 에이전트</a:t>
            </a:r>
          </a:p>
        </p:txBody>
      </p:sp>
      <p:sp>
        <p:nvSpPr>
          <p:cNvPr id="26" name="">
            <a:extLst xmlns:a="http://schemas.openxmlformats.org/drawingml/2006/main">
              <a:ext uri="{FF2B5EF4-FFF2-40B4-BE49-F238E27FC236}">
                <a16:creationId xmlns:a16="http://schemas.microsoft.com/office/drawing/2014/main" id="{A6B63782-B4A2-4739-AF3E-E46F626193B9}"/>
              </a:ext>
            </a:extLst>
          </p:cNvPr>
          <p:cNvSpPr>
            <a:spLocks xmlns:a="http://schemas.openxmlformats.org/drawingml/2006/main" noGrp="1"/>
          </p:cNvSpPr>
          <p:nvPr/>
        </p:nvSpPr>
        <p:spPr>
          <a:xfrm xmlns:a="http://schemas.openxmlformats.org/drawingml/2006/main">
            <a:off x="4686300" y="51625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추천</a:t>
            </a:r>
          </a:p>
        </p:txBody>
      </p:sp>
      <p:sp>
        <p:nvSpPr>
          <p:cNvPr id="27" name="">
            <a:extLst xmlns:a="http://schemas.openxmlformats.org/drawingml/2006/main">
              <a:ext uri="{FF2B5EF4-FFF2-40B4-BE49-F238E27FC236}">
                <a16:creationId xmlns:a16="http://schemas.microsoft.com/office/drawing/2014/main" id="{EC152EC6-55CA-4C60-B6BC-F77E973F8A15}"/>
              </a:ext>
            </a:extLst>
          </p:cNvPr>
          <p:cNvSpPr>
            <a:spLocks xmlns:a="http://schemas.openxmlformats.org/drawingml/2006/main" noGrp="1"/>
          </p:cNvSpPr>
          <p:nvPr/>
        </p:nvSpPr>
        <p:spPr>
          <a:xfrm xmlns:a="http://schemas.openxmlformats.org/drawingml/2006/main">
            <a:off x="6172200" y="51625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판단</a:t>
            </a:r>
          </a:p>
        </p:txBody>
      </p:sp>
      <p:sp>
        <p:nvSpPr>
          <p:cNvPr id="28" name="">
            <a:extLst xmlns:a="http://schemas.openxmlformats.org/drawingml/2006/main">
              <a:ext uri="{FF2B5EF4-FFF2-40B4-BE49-F238E27FC236}">
                <a16:creationId xmlns:a16="http://schemas.microsoft.com/office/drawing/2014/main" id="{501AEA10-5A7C-4290-927B-7CC331152927}"/>
              </a:ext>
            </a:extLst>
          </p:cNvPr>
          <p:cNvSpPr>
            <a:spLocks xmlns:a="http://schemas.openxmlformats.org/drawingml/2006/main" noGrp="1"/>
          </p:cNvSpPr>
          <p:nvPr/>
        </p:nvSpPr>
        <p:spPr>
          <a:xfrm xmlns:a="http://schemas.openxmlformats.org/drawingml/2006/main">
            <a:off x="7658100" y="5162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다음 행동</a:t>
            </a:r>
          </a:p>
        </p:txBody>
      </p:sp>
      <p:sp>
        <p:nvSpPr>
          <p:cNvPr id="29" name="">
            <a:extLst xmlns:a="http://schemas.openxmlformats.org/drawingml/2006/main">
              <a:ext uri="{FF2B5EF4-FFF2-40B4-BE49-F238E27FC236}">
                <a16:creationId xmlns:a16="http://schemas.microsoft.com/office/drawing/2014/main" id="{6A8E7077-FB50-4085-8719-388791270C8D}"/>
              </a:ext>
            </a:extLst>
          </p:cNvPr>
          <p:cNvSpPr>
            <a:spLocks xmlns:a="http://schemas.openxmlformats.org/drawingml/2006/main" noGrp="1"/>
          </p:cNvSpPr>
          <p:nvPr/>
        </p:nvSpPr>
        <p:spPr>
          <a:xfrm xmlns:a="http://schemas.openxmlformats.org/drawingml/2006/main">
            <a:off x="9467850" y="516255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PDF · API</a:t>
            </a:r>
          </a:p>
        </p:txBody>
      </p:sp>
      <p:sp>
        <p:nvSpPr>
          <p:cNvPr id="30" name="">
            <a:extLst xmlns:a="http://schemas.openxmlformats.org/drawingml/2006/main">
              <a:ext uri="{FF2B5EF4-FFF2-40B4-BE49-F238E27FC236}">
                <a16:creationId xmlns:a16="http://schemas.microsoft.com/office/drawing/2014/main" id="{556125F3-DF3B-4486-B66D-57AF110B6074}"/>
              </a:ext>
            </a:extLst>
          </p:cNvPr>
          <p:cNvSpPr>
            <a:spLocks xmlns:a="http://schemas.openxmlformats.org/drawingml/2006/main" noGrp="1"/>
          </p:cNvSpPr>
          <p:nvPr/>
        </p:nvSpPr>
        <p:spPr>
          <a:xfrm xmlns:a="http://schemas.openxmlformats.org/drawingml/2006/main">
            <a:off x="4476750" y="5619750"/>
            <a:ext cx="661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AI는 출처를 대체하지 않고 근거 위에서만 작동합니다.</a:t>
            </a:r>
          </a:p>
        </p:txBody>
      </p:sp>
    </p:spTree>
    <p:extLst>
      <p:ext uri="{BB962C8B-B14F-4D97-AF65-F5344CB8AC3E}">
        <p14:creationId xmlns:p14="http://schemas.microsoft.com/office/powerpoint/2010/main" val="4292798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3BDB1637-A149-4CD5-ADCB-3E43EEBF22EE}"/>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DIFFERENTIATION</a:t>
            </a:r>
          </a:p>
        </p:txBody>
      </p:sp>
      <p:sp>
        <p:nvSpPr>
          <p:cNvPr id="2" name="slide-11-title">
            <a:extLst xmlns:a="http://schemas.openxmlformats.org/drawingml/2006/main">
              <a:ext uri="{FF2B5EF4-FFF2-40B4-BE49-F238E27FC236}">
                <a16:creationId xmlns:a16="http://schemas.microsoft.com/office/drawing/2014/main" id="{5F884817-2F80-4285-B5B5-92198D925C77}"/>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차별점은 데이터 수가 아니라 근거가 끊기지 않는 구조입니다</a:t>
            </a:r>
          </a:p>
        </p:txBody>
      </p:sp>
      <p:sp>
        <p:nvSpPr>
          <p:cNvPr id="3" name="">
            <a:extLst xmlns:a="http://schemas.openxmlformats.org/drawingml/2006/main">
              <a:ext uri="{FF2B5EF4-FFF2-40B4-BE49-F238E27FC236}">
                <a16:creationId xmlns:a16="http://schemas.microsoft.com/office/drawing/2014/main" id="{3D5AD122-E280-46F3-8CD4-95E47986BC4A}"/>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FBF55380-61E2-4AE2-94DE-3023C91541F5}"/>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04FFD27C-F484-4A77-A9D5-E758E6D5CAC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45365574-5B78-4580-A743-21A4C7FD3936}"/>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기능 비교 및 구현 구조</a:t>
            </a:r>
          </a:p>
        </p:txBody>
      </p:sp>
      <p:sp>
        <p:nvSpPr>
          <p:cNvPr id="7" name="">
            <a:extLst xmlns:a="http://schemas.openxmlformats.org/drawingml/2006/main">
              <a:ext uri="{FF2B5EF4-FFF2-40B4-BE49-F238E27FC236}">
                <a16:creationId xmlns:a16="http://schemas.microsoft.com/office/drawing/2014/main" id="{C3DC9904-09D6-42F4-9BB8-6AEF51D7B415}"/>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11</a:t>
            </a:r>
          </a:p>
        </p:txBody>
      </p:sp>
      <p:sp>
        <p:nvSpPr>
          <p:cNvPr id="8" name="">
            <a:extLst xmlns:a="http://schemas.openxmlformats.org/drawingml/2006/main">
              <a:ext uri="{FF2B5EF4-FFF2-40B4-BE49-F238E27FC236}">
                <a16:creationId xmlns:a16="http://schemas.microsoft.com/office/drawing/2014/main" id="{D6E4D14F-5DAA-4CFE-89DB-DA4EB04A8D61}"/>
              </a:ext>
            </a:extLst>
          </p:cNvPr>
          <p:cNvSpPr>
            <a:spLocks xmlns:a="http://schemas.openxmlformats.org/drawingml/2006/main" noGrp="1"/>
          </p:cNvSpPr>
          <p:nvPr/>
        </p:nvSpPr>
        <p:spPr>
          <a:xfrm xmlns:a="http://schemas.openxmlformats.org/drawingml/2006/main">
            <a:off x="609600" y="1428750"/>
            <a:ext cx="2533650" cy="552450"/>
          </a:xfrm>
          <a:prstGeom xmlns:a="http://schemas.openxmlformats.org/drawingml/2006/main" prst="rect">
            <a:avLst/>
          </a:prstGeom>
          <a:solidFill xmlns:a="http://schemas.openxmlformats.org/drawingml/2006/main">
            <a:srgbClr val="F3F6F7"/>
          </a:solidFill>
          <a:ln xmlns:a="http://schemas.openxmlformats.org/drawingml/2006/main" w="9525">
            <a:solidFill>
              <a:srgbClr val="D7DEE2"/>
            </a:solidFill>
            <a:prstDash val="solid"/>
          </a:ln>
        </p:spPr>
      </p:sp>
      <p:sp>
        <p:nvSpPr>
          <p:cNvPr id="9" name="">
            <a:extLst xmlns:a="http://schemas.openxmlformats.org/drawingml/2006/main">
              <a:ext uri="{FF2B5EF4-FFF2-40B4-BE49-F238E27FC236}">
                <a16:creationId xmlns:a16="http://schemas.microsoft.com/office/drawing/2014/main" id="{EB9155F1-D052-4ABC-A6F9-E21C78F3310D}"/>
              </a:ext>
            </a:extLst>
          </p:cNvPr>
          <p:cNvSpPr>
            <a:spLocks xmlns:a="http://schemas.openxmlformats.org/drawingml/2006/main" noGrp="1"/>
          </p:cNvSpPr>
          <p:nvPr/>
        </p:nvSpPr>
        <p:spPr>
          <a:xfrm xmlns:a="http://schemas.openxmlformats.org/drawingml/2006/main">
            <a:off x="685800" y="14287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비교 기준</a:t>
            </a:r>
          </a:p>
        </p:txBody>
      </p:sp>
      <p:sp>
        <p:nvSpPr>
          <p:cNvPr id="10" name="">
            <a:extLst xmlns:a="http://schemas.openxmlformats.org/drawingml/2006/main">
              <a:ext uri="{FF2B5EF4-FFF2-40B4-BE49-F238E27FC236}">
                <a16:creationId xmlns:a16="http://schemas.microsoft.com/office/drawing/2014/main" id="{3CA42670-2320-4A67-827D-52A0FDC171FF}"/>
              </a:ext>
            </a:extLst>
          </p:cNvPr>
          <p:cNvSpPr>
            <a:spLocks xmlns:a="http://schemas.openxmlformats.org/drawingml/2006/main" noGrp="1"/>
          </p:cNvSpPr>
          <p:nvPr/>
        </p:nvSpPr>
        <p:spPr>
          <a:xfrm xmlns:a="http://schemas.openxmlformats.org/drawingml/2006/main">
            <a:off x="3143250" y="1428750"/>
            <a:ext cx="1924050" cy="552450"/>
          </a:xfrm>
          <a:prstGeom xmlns:a="http://schemas.openxmlformats.org/drawingml/2006/main" prst="rect">
            <a:avLst/>
          </a:prstGeom>
          <a:solidFill xmlns:a="http://schemas.openxmlformats.org/drawingml/2006/main">
            <a:srgbClr val="F3F6F7"/>
          </a:solidFill>
          <a:ln xmlns:a="http://schemas.openxmlformats.org/drawingml/2006/main" w="9525">
            <a:solidFill>
              <a:srgbClr val="D7DEE2"/>
            </a:solidFill>
            <a:prstDash val="solid"/>
          </a:ln>
        </p:spPr>
      </p:sp>
      <p:sp>
        <p:nvSpPr>
          <p:cNvPr id="11" name="">
            <a:extLst xmlns:a="http://schemas.openxmlformats.org/drawingml/2006/main">
              <a:ext uri="{FF2B5EF4-FFF2-40B4-BE49-F238E27FC236}">
                <a16:creationId xmlns:a16="http://schemas.microsoft.com/office/drawing/2014/main" id="{E499C3CF-96EE-4F21-9924-4588BE449636}"/>
              </a:ext>
            </a:extLst>
          </p:cNvPr>
          <p:cNvSpPr>
            <a:spLocks xmlns:a="http://schemas.openxmlformats.org/drawingml/2006/main" noGrp="1"/>
          </p:cNvSpPr>
          <p:nvPr/>
        </p:nvSpPr>
        <p:spPr>
          <a:xfrm xmlns:a="http://schemas.openxmlformats.org/drawingml/2006/main">
            <a:off x="3219450" y="1428750"/>
            <a:ext cx="1771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정보 포털</a:t>
            </a:r>
          </a:p>
        </p:txBody>
      </p:sp>
      <p:sp>
        <p:nvSpPr>
          <p:cNvPr id="12" name="">
            <a:extLst xmlns:a="http://schemas.openxmlformats.org/drawingml/2006/main">
              <a:ext uri="{FF2B5EF4-FFF2-40B4-BE49-F238E27FC236}">
                <a16:creationId xmlns:a16="http://schemas.microsoft.com/office/drawing/2014/main" id="{4D4AD91B-4361-41AA-8E47-4E03C7C4EEC8}"/>
              </a:ext>
            </a:extLst>
          </p:cNvPr>
          <p:cNvSpPr>
            <a:spLocks xmlns:a="http://schemas.openxmlformats.org/drawingml/2006/main" noGrp="1"/>
          </p:cNvSpPr>
          <p:nvPr/>
        </p:nvSpPr>
        <p:spPr>
          <a:xfrm xmlns:a="http://schemas.openxmlformats.org/drawingml/2006/main">
            <a:off x="5067300" y="1428750"/>
            <a:ext cx="1924050" cy="552450"/>
          </a:xfrm>
          <a:prstGeom xmlns:a="http://schemas.openxmlformats.org/drawingml/2006/main" prst="rect">
            <a:avLst/>
          </a:prstGeom>
          <a:solidFill xmlns:a="http://schemas.openxmlformats.org/drawingml/2006/main">
            <a:srgbClr val="F3F6F7"/>
          </a:solidFill>
          <a:ln xmlns:a="http://schemas.openxmlformats.org/drawingml/2006/main" w="9525">
            <a:solidFill>
              <a:srgbClr val="D7DEE2"/>
            </a:solidFill>
            <a:prstDash val="solid"/>
          </a:ln>
        </p:spPr>
      </p:sp>
      <p:sp>
        <p:nvSpPr>
          <p:cNvPr id="13" name="">
            <a:extLst xmlns:a="http://schemas.openxmlformats.org/drawingml/2006/main">
              <a:ext uri="{FF2B5EF4-FFF2-40B4-BE49-F238E27FC236}">
                <a16:creationId xmlns:a16="http://schemas.microsoft.com/office/drawing/2014/main" id="{BAAF15D7-AB89-4D86-AE36-02AE49916A26}"/>
              </a:ext>
            </a:extLst>
          </p:cNvPr>
          <p:cNvSpPr>
            <a:spLocks xmlns:a="http://schemas.openxmlformats.org/drawingml/2006/main" noGrp="1"/>
          </p:cNvSpPr>
          <p:nvPr/>
        </p:nvSpPr>
        <p:spPr>
          <a:xfrm xmlns:a="http://schemas.openxmlformats.org/drawingml/2006/main">
            <a:off x="5143500" y="1428750"/>
            <a:ext cx="1771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일반 AI</a:t>
            </a:r>
          </a:p>
        </p:txBody>
      </p:sp>
      <p:sp>
        <p:nvSpPr>
          <p:cNvPr id="14" name="">
            <a:extLst xmlns:a="http://schemas.openxmlformats.org/drawingml/2006/main">
              <a:ext uri="{FF2B5EF4-FFF2-40B4-BE49-F238E27FC236}">
                <a16:creationId xmlns:a16="http://schemas.microsoft.com/office/drawing/2014/main" id="{30E12832-BDAE-4E18-AF3E-1387E204BA76}"/>
              </a:ext>
            </a:extLst>
          </p:cNvPr>
          <p:cNvSpPr>
            <a:spLocks xmlns:a="http://schemas.openxmlformats.org/drawingml/2006/main" noGrp="1"/>
          </p:cNvSpPr>
          <p:nvPr/>
        </p:nvSpPr>
        <p:spPr>
          <a:xfrm xmlns:a="http://schemas.openxmlformats.org/drawingml/2006/main">
            <a:off x="6991350" y="1428750"/>
            <a:ext cx="1924050" cy="552450"/>
          </a:xfrm>
          <a:prstGeom xmlns:a="http://schemas.openxmlformats.org/drawingml/2006/main" prst="rect">
            <a:avLst/>
          </a:prstGeom>
          <a:solidFill xmlns:a="http://schemas.openxmlformats.org/drawingml/2006/main">
            <a:srgbClr val="F3F6F7"/>
          </a:solidFill>
          <a:ln xmlns:a="http://schemas.openxmlformats.org/drawingml/2006/main" w="9525">
            <a:solidFill>
              <a:srgbClr val="D7DEE2"/>
            </a:solidFill>
            <a:prstDash val="solid"/>
          </a:ln>
        </p:spPr>
      </p:sp>
      <p:sp>
        <p:nvSpPr>
          <p:cNvPr id="15" name="">
            <a:extLst xmlns:a="http://schemas.openxmlformats.org/drawingml/2006/main">
              <a:ext uri="{FF2B5EF4-FFF2-40B4-BE49-F238E27FC236}">
                <a16:creationId xmlns:a16="http://schemas.microsoft.com/office/drawing/2014/main" id="{53DEAB4E-939D-46B1-8652-57FB3C383D90}"/>
              </a:ext>
            </a:extLst>
          </p:cNvPr>
          <p:cNvSpPr>
            <a:spLocks xmlns:a="http://schemas.openxmlformats.org/drawingml/2006/main" noGrp="1"/>
          </p:cNvSpPr>
          <p:nvPr/>
        </p:nvSpPr>
        <p:spPr>
          <a:xfrm xmlns:a="http://schemas.openxmlformats.org/drawingml/2006/main">
            <a:off x="7067550" y="1428750"/>
            <a:ext cx="1771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문서 컨설팅</a:t>
            </a:r>
          </a:p>
        </p:txBody>
      </p:sp>
      <p:sp>
        <p:nvSpPr>
          <p:cNvPr id="16" name="">
            <a:extLst xmlns:a="http://schemas.openxmlformats.org/drawingml/2006/main">
              <a:ext uri="{FF2B5EF4-FFF2-40B4-BE49-F238E27FC236}">
                <a16:creationId xmlns:a16="http://schemas.microsoft.com/office/drawing/2014/main" id="{32BF3145-21CC-4D10-A3DB-48D4B2F7BB66}"/>
              </a:ext>
            </a:extLst>
          </p:cNvPr>
          <p:cNvSpPr>
            <a:spLocks xmlns:a="http://schemas.openxmlformats.org/drawingml/2006/main" noGrp="1"/>
          </p:cNvSpPr>
          <p:nvPr/>
        </p:nvSpPr>
        <p:spPr>
          <a:xfrm xmlns:a="http://schemas.openxmlformats.org/drawingml/2006/main">
            <a:off x="8915400" y="1428750"/>
            <a:ext cx="2667000" cy="552450"/>
          </a:xfrm>
          <a:prstGeom xmlns:a="http://schemas.openxmlformats.org/drawingml/2006/main" prst="rect">
            <a:avLst/>
          </a:prstGeom>
          <a:solidFill xmlns:a="http://schemas.openxmlformats.org/drawingml/2006/main">
            <a:srgbClr val="051C2C"/>
          </a:solidFill>
          <a:ln xmlns:a="http://schemas.openxmlformats.org/drawingml/2006/main" w="9525">
            <a:solidFill>
              <a:srgbClr val="051C2C"/>
            </a:solidFill>
            <a:prstDash val="solid"/>
          </a:ln>
        </p:spPr>
      </p:sp>
      <p:sp>
        <p:nvSpPr>
          <p:cNvPr id="17" name="">
            <a:extLst xmlns:a="http://schemas.openxmlformats.org/drawingml/2006/main">
              <a:ext uri="{FF2B5EF4-FFF2-40B4-BE49-F238E27FC236}">
                <a16:creationId xmlns:a16="http://schemas.microsoft.com/office/drawing/2014/main" id="{DB0405D3-788B-4144-998F-6E0CC938B85C}"/>
              </a:ext>
            </a:extLst>
          </p:cNvPr>
          <p:cNvSpPr>
            <a:spLocks xmlns:a="http://schemas.openxmlformats.org/drawingml/2006/main" noGrp="1"/>
          </p:cNvSpPr>
          <p:nvPr/>
        </p:nvSpPr>
        <p:spPr>
          <a:xfrm xmlns:a="http://schemas.openxmlformats.org/drawingml/2006/main">
            <a:off x="8991600" y="1428750"/>
            <a:ext cx="2514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AI 산단수출 코파일럿</a:t>
            </a:r>
          </a:p>
        </p:txBody>
      </p:sp>
      <p:sp>
        <p:nvSpPr>
          <p:cNvPr id="18" name="">
            <a:extLst xmlns:a="http://schemas.openxmlformats.org/drawingml/2006/main">
              <a:ext uri="{FF2B5EF4-FFF2-40B4-BE49-F238E27FC236}">
                <a16:creationId xmlns:a16="http://schemas.microsoft.com/office/drawing/2014/main" id="{DAA6E53F-E15C-4C12-A71F-D0FFC631F1D5}"/>
              </a:ext>
            </a:extLst>
          </p:cNvPr>
          <p:cNvSpPr>
            <a:spLocks xmlns:a="http://schemas.openxmlformats.org/drawingml/2006/main" noGrp="1"/>
          </p:cNvSpPr>
          <p:nvPr/>
        </p:nvSpPr>
        <p:spPr>
          <a:xfrm xmlns:a="http://schemas.openxmlformats.org/drawingml/2006/main">
            <a:off x="609600" y="1981200"/>
            <a:ext cx="25336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19" name="">
            <a:extLst xmlns:a="http://schemas.openxmlformats.org/drawingml/2006/main">
              <a:ext uri="{FF2B5EF4-FFF2-40B4-BE49-F238E27FC236}">
                <a16:creationId xmlns:a16="http://schemas.microsoft.com/office/drawing/2014/main" id="{95AB6671-E513-4F27-BE0D-0F51A9376CF4}"/>
              </a:ext>
            </a:extLst>
          </p:cNvPr>
          <p:cNvSpPr>
            <a:spLocks xmlns:a="http://schemas.openxmlformats.org/drawingml/2006/main" noGrp="1"/>
          </p:cNvSpPr>
          <p:nvPr/>
        </p:nvSpPr>
        <p:spPr>
          <a:xfrm xmlns:a="http://schemas.openxmlformats.org/drawingml/2006/main">
            <a:off x="723900" y="1981200"/>
            <a:ext cx="2305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기업·품목 맥락</a:t>
            </a:r>
          </a:p>
        </p:txBody>
      </p:sp>
      <p:sp>
        <p:nvSpPr>
          <p:cNvPr id="20" name="">
            <a:extLst xmlns:a="http://schemas.openxmlformats.org/drawingml/2006/main">
              <a:ext uri="{FF2B5EF4-FFF2-40B4-BE49-F238E27FC236}">
                <a16:creationId xmlns:a16="http://schemas.microsoft.com/office/drawing/2014/main" id="{75DEDE5A-A210-4119-B71B-CA5A5076F300}"/>
              </a:ext>
            </a:extLst>
          </p:cNvPr>
          <p:cNvSpPr>
            <a:spLocks xmlns:a="http://schemas.openxmlformats.org/drawingml/2006/main" noGrp="1"/>
          </p:cNvSpPr>
          <p:nvPr/>
        </p:nvSpPr>
        <p:spPr>
          <a:xfrm xmlns:a="http://schemas.openxmlformats.org/drawingml/2006/main">
            <a:off x="3143250" y="198120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21" name="">
            <a:extLst xmlns:a="http://schemas.openxmlformats.org/drawingml/2006/main">
              <a:ext uri="{FF2B5EF4-FFF2-40B4-BE49-F238E27FC236}">
                <a16:creationId xmlns:a16="http://schemas.microsoft.com/office/drawing/2014/main" id="{57DBB317-733C-4077-85F5-E076807C19B0}"/>
              </a:ext>
            </a:extLst>
          </p:cNvPr>
          <p:cNvSpPr>
            <a:spLocks xmlns:a="http://schemas.openxmlformats.org/drawingml/2006/main" noGrp="1"/>
          </p:cNvSpPr>
          <p:nvPr/>
        </p:nvSpPr>
        <p:spPr>
          <a:xfrm xmlns:a="http://schemas.openxmlformats.org/drawingml/2006/main">
            <a:off x="3257550" y="198120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부분</a:t>
            </a:r>
          </a:p>
        </p:txBody>
      </p:sp>
      <p:sp>
        <p:nvSpPr>
          <p:cNvPr id="22" name="">
            <a:extLst xmlns:a="http://schemas.openxmlformats.org/drawingml/2006/main">
              <a:ext uri="{FF2B5EF4-FFF2-40B4-BE49-F238E27FC236}">
                <a16:creationId xmlns:a16="http://schemas.microsoft.com/office/drawing/2014/main" id="{FFBB8C3F-2464-4072-BF6C-EBFE1194C7D6}"/>
              </a:ext>
            </a:extLst>
          </p:cNvPr>
          <p:cNvSpPr>
            <a:spLocks xmlns:a="http://schemas.openxmlformats.org/drawingml/2006/main" noGrp="1"/>
          </p:cNvSpPr>
          <p:nvPr/>
        </p:nvSpPr>
        <p:spPr>
          <a:xfrm xmlns:a="http://schemas.openxmlformats.org/drawingml/2006/main">
            <a:off x="5067300" y="198120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23" name="">
            <a:extLst xmlns:a="http://schemas.openxmlformats.org/drawingml/2006/main">
              <a:ext uri="{FF2B5EF4-FFF2-40B4-BE49-F238E27FC236}">
                <a16:creationId xmlns:a16="http://schemas.microsoft.com/office/drawing/2014/main" id="{C405F192-CA66-4134-8AE8-D96EE77E6F3E}"/>
              </a:ext>
            </a:extLst>
          </p:cNvPr>
          <p:cNvSpPr>
            <a:spLocks xmlns:a="http://schemas.openxmlformats.org/drawingml/2006/main" noGrp="1"/>
          </p:cNvSpPr>
          <p:nvPr/>
        </p:nvSpPr>
        <p:spPr>
          <a:xfrm xmlns:a="http://schemas.openxmlformats.org/drawingml/2006/main">
            <a:off x="5181600" y="198120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입력 의존</a:t>
            </a:r>
          </a:p>
        </p:txBody>
      </p:sp>
      <p:sp>
        <p:nvSpPr>
          <p:cNvPr id="24" name="">
            <a:extLst xmlns:a="http://schemas.openxmlformats.org/drawingml/2006/main">
              <a:ext uri="{FF2B5EF4-FFF2-40B4-BE49-F238E27FC236}">
                <a16:creationId xmlns:a16="http://schemas.microsoft.com/office/drawing/2014/main" id="{FE7FA617-DBD2-4B70-9A30-07CDBEC80270}"/>
              </a:ext>
            </a:extLst>
          </p:cNvPr>
          <p:cNvSpPr>
            <a:spLocks xmlns:a="http://schemas.openxmlformats.org/drawingml/2006/main" noGrp="1"/>
          </p:cNvSpPr>
          <p:nvPr/>
        </p:nvSpPr>
        <p:spPr>
          <a:xfrm xmlns:a="http://schemas.openxmlformats.org/drawingml/2006/main">
            <a:off x="6991350" y="198120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25" name="">
            <a:extLst xmlns:a="http://schemas.openxmlformats.org/drawingml/2006/main">
              <a:ext uri="{FF2B5EF4-FFF2-40B4-BE49-F238E27FC236}">
                <a16:creationId xmlns:a16="http://schemas.microsoft.com/office/drawing/2014/main" id="{96874773-6038-4542-A936-D3E947915A02}"/>
              </a:ext>
            </a:extLst>
          </p:cNvPr>
          <p:cNvSpPr>
            <a:spLocks xmlns:a="http://schemas.openxmlformats.org/drawingml/2006/main" noGrp="1"/>
          </p:cNvSpPr>
          <p:nvPr/>
        </p:nvSpPr>
        <p:spPr>
          <a:xfrm xmlns:a="http://schemas.openxmlformats.org/drawingml/2006/main">
            <a:off x="7105650" y="198120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수작업</a:t>
            </a:r>
          </a:p>
        </p:txBody>
      </p:sp>
      <p:sp>
        <p:nvSpPr>
          <p:cNvPr id="26" name="">
            <a:extLst xmlns:a="http://schemas.openxmlformats.org/drawingml/2006/main">
              <a:ext uri="{FF2B5EF4-FFF2-40B4-BE49-F238E27FC236}">
                <a16:creationId xmlns:a16="http://schemas.microsoft.com/office/drawing/2014/main" id="{350726A4-7702-4C11-815A-04C527B7CA54}"/>
              </a:ext>
            </a:extLst>
          </p:cNvPr>
          <p:cNvSpPr>
            <a:spLocks xmlns:a="http://schemas.openxmlformats.org/drawingml/2006/main" noGrp="1"/>
          </p:cNvSpPr>
          <p:nvPr/>
        </p:nvSpPr>
        <p:spPr>
          <a:xfrm xmlns:a="http://schemas.openxmlformats.org/drawingml/2006/main">
            <a:off x="8915400" y="1981200"/>
            <a:ext cx="2667000" cy="666750"/>
          </a:xfrm>
          <a:prstGeom xmlns:a="http://schemas.openxmlformats.org/drawingml/2006/main" prst="rect">
            <a:avLst/>
          </a:prstGeom>
          <a:solidFill xmlns:a="http://schemas.openxmlformats.org/drawingml/2006/main">
            <a:srgbClr val="EDF5F3"/>
          </a:solidFill>
          <a:ln xmlns:a="http://schemas.openxmlformats.org/drawingml/2006/main" w="9525">
            <a:solidFill>
              <a:srgbClr val="D7DEE2"/>
            </a:solidFill>
            <a:prstDash val="solid"/>
          </a:ln>
        </p:spPr>
      </p:sp>
      <p:sp>
        <p:nvSpPr>
          <p:cNvPr id="27" name="">
            <a:extLst xmlns:a="http://schemas.openxmlformats.org/drawingml/2006/main">
              <a:ext uri="{FF2B5EF4-FFF2-40B4-BE49-F238E27FC236}">
                <a16:creationId xmlns:a16="http://schemas.microsoft.com/office/drawing/2014/main" id="{E0D29CF5-6FA3-4811-BADA-3DF8762D20AD}"/>
              </a:ext>
            </a:extLst>
          </p:cNvPr>
          <p:cNvSpPr>
            <a:spLocks xmlns:a="http://schemas.openxmlformats.org/drawingml/2006/main" noGrp="1"/>
          </p:cNvSpPr>
          <p:nvPr/>
        </p:nvSpPr>
        <p:spPr>
          <a:xfrm xmlns:a="http://schemas.openxmlformats.org/drawingml/2006/main">
            <a:off x="9029700" y="19812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전 과정 유지</a:t>
            </a:r>
          </a:p>
        </p:txBody>
      </p:sp>
      <p:sp>
        <p:nvSpPr>
          <p:cNvPr id="28" name="">
            <a:extLst xmlns:a="http://schemas.openxmlformats.org/drawingml/2006/main">
              <a:ext uri="{FF2B5EF4-FFF2-40B4-BE49-F238E27FC236}">
                <a16:creationId xmlns:a16="http://schemas.microsoft.com/office/drawing/2014/main" id="{193EB3B4-6422-4E74-95F7-A9386461CE1C}"/>
              </a:ext>
            </a:extLst>
          </p:cNvPr>
          <p:cNvSpPr>
            <a:spLocks xmlns:a="http://schemas.openxmlformats.org/drawingml/2006/main" noGrp="1"/>
          </p:cNvSpPr>
          <p:nvPr/>
        </p:nvSpPr>
        <p:spPr>
          <a:xfrm xmlns:a="http://schemas.openxmlformats.org/drawingml/2006/main">
            <a:off x="609600" y="2647950"/>
            <a:ext cx="25336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29" name="">
            <a:extLst xmlns:a="http://schemas.openxmlformats.org/drawingml/2006/main">
              <a:ext uri="{FF2B5EF4-FFF2-40B4-BE49-F238E27FC236}">
                <a16:creationId xmlns:a16="http://schemas.microsoft.com/office/drawing/2014/main" id="{53DFAD5D-3BAE-47B8-9DB9-4C36078B5E7F}"/>
              </a:ext>
            </a:extLst>
          </p:cNvPr>
          <p:cNvSpPr>
            <a:spLocks xmlns:a="http://schemas.openxmlformats.org/drawingml/2006/main" noGrp="1"/>
          </p:cNvSpPr>
          <p:nvPr/>
        </p:nvSpPr>
        <p:spPr>
          <a:xfrm xmlns:a="http://schemas.openxmlformats.org/drawingml/2006/main">
            <a:off x="723900" y="2647950"/>
            <a:ext cx="2305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출처·조회일</a:t>
            </a:r>
          </a:p>
        </p:txBody>
      </p:sp>
      <p:sp>
        <p:nvSpPr>
          <p:cNvPr id="30" name="">
            <a:extLst xmlns:a="http://schemas.openxmlformats.org/drawingml/2006/main">
              <a:ext uri="{FF2B5EF4-FFF2-40B4-BE49-F238E27FC236}">
                <a16:creationId xmlns:a16="http://schemas.microsoft.com/office/drawing/2014/main" id="{C6551800-1752-414E-A740-9ABDDFA05F43}"/>
              </a:ext>
            </a:extLst>
          </p:cNvPr>
          <p:cNvSpPr>
            <a:spLocks xmlns:a="http://schemas.openxmlformats.org/drawingml/2006/main" noGrp="1"/>
          </p:cNvSpPr>
          <p:nvPr/>
        </p:nvSpPr>
        <p:spPr>
          <a:xfrm xmlns:a="http://schemas.openxmlformats.org/drawingml/2006/main">
            <a:off x="3143250" y="264795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31" name="">
            <a:extLst xmlns:a="http://schemas.openxmlformats.org/drawingml/2006/main">
              <a:ext uri="{FF2B5EF4-FFF2-40B4-BE49-F238E27FC236}">
                <a16:creationId xmlns:a16="http://schemas.microsoft.com/office/drawing/2014/main" id="{C10EFBD9-4403-442E-87DF-9974ADF5CB48}"/>
              </a:ext>
            </a:extLst>
          </p:cNvPr>
          <p:cNvSpPr>
            <a:spLocks xmlns:a="http://schemas.openxmlformats.org/drawingml/2006/main" noGrp="1"/>
          </p:cNvSpPr>
          <p:nvPr/>
        </p:nvSpPr>
        <p:spPr>
          <a:xfrm xmlns:a="http://schemas.openxmlformats.org/drawingml/2006/main">
            <a:off x="3257550" y="264795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제공</a:t>
            </a:r>
          </a:p>
        </p:txBody>
      </p:sp>
      <p:sp>
        <p:nvSpPr>
          <p:cNvPr id="32" name="">
            <a:extLst xmlns:a="http://schemas.openxmlformats.org/drawingml/2006/main">
              <a:ext uri="{FF2B5EF4-FFF2-40B4-BE49-F238E27FC236}">
                <a16:creationId xmlns:a16="http://schemas.microsoft.com/office/drawing/2014/main" id="{A76E6FC9-E55C-4F2A-86F1-00B7AD026702}"/>
              </a:ext>
            </a:extLst>
          </p:cNvPr>
          <p:cNvSpPr>
            <a:spLocks xmlns:a="http://schemas.openxmlformats.org/drawingml/2006/main" noGrp="1"/>
          </p:cNvSpPr>
          <p:nvPr/>
        </p:nvSpPr>
        <p:spPr>
          <a:xfrm xmlns:a="http://schemas.openxmlformats.org/drawingml/2006/main">
            <a:off x="5067300" y="264795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33" name="">
            <a:extLst xmlns:a="http://schemas.openxmlformats.org/drawingml/2006/main">
              <a:ext uri="{FF2B5EF4-FFF2-40B4-BE49-F238E27FC236}">
                <a16:creationId xmlns:a16="http://schemas.microsoft.com/office/drawing/2014/main" id="{904D6220-0FB9-4DAA-A371-5B395EA596E3}"/>
              </a:ext>
            </a:extLst>
          </p:cNvPr>
          <p:cNvSpPr>
            <a:spLocks xmlns:a="http://schemas.openxmlformats.org/drawingml/2006/main" noGrp="1"/>
          </p:cNvSpPr>
          <p:nvPr/>
        </p:nvSpPr>
        <p:spPr>
          <a:xfrm xmlns:a="http://schemas.openxmlformats.org/drawingml/2006/main">
            <a:off x="5181600" y="264795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불안정</a:t>
            </a:r>
          </a:p>
        </p:txBody>
      </p:sp>
      <p:sp>
        <p:nvSpPr>
          <p:cNvPr id="34" name="">
            <a:extLst xmlns:a="http://schemas.openxmlformats.org/drawingml/2006/main">
              <a:ext uri="{FF2B5EF4-FFF2-40B4-BE49-F238E27FC236}">
                <a16:creationId xmlns:a16="http://schemas.microsoft.com/office/drawing/2014/main" id="{C7361270-4FAC-4495-9B0F-6412D7BCF6FE}"/>
              </a:ext>
            </a:extLst>
          </p:cNvPr>
          <p:cNvSpPr>
            <a:spLocks xmlns:a="http://schemas.openxmlformats.org/drawingml/2006/main" noGrp="1"/>
          </p:cNvSpPr>
          <p:nvPr/>
        </p:nvSpPr>
        <p:spPr>
          <a:xfrm xmlns:a="http://schemas.openxmlformats.org/drawingml/2006/main">
            <a:off x="6991350" y="264795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35" name="">
            <a:extLst xmlns:a="http://schemas.openxmlformats.org/drawingml/2006/main">
              <a:ext uri="{FF2B5EF4-FFF2-40B4-BE49-F238E27FC236}">
                <a16:creationId xmlns:a16="http://schemas.microsoft.com/office/drawing/2014/main" id="{6E40A71A-CF1F-4590-ADEC-ABF06DFA1EF5}"/>
              </a:ext>
            </a:extLst>
          </p:cNvPr>
          <p:cNvSpPr>
            <a:spLocks xmlns:a="http://schemas.openxmlformats.org/drawingml/2006/main" noGrp="1"/>
          </p:cNvSpPr>
          <p:nvPr/>
        </p:nvSpPr>
        <p:spPr>
          <a:xfrm xmlns:a="http://schemas.openxmlformats.org/drawingml/2006/main">
            <a:off x="7105650" y="264795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고정 시점</a:t>
            </a:r>
          </a:p>
        </p:txBody>
      </p:sp>
      <p:sp>
        <p:nvSpPr>
          <p:cNvPr id="36" name="">
            <a:extLst xmlns:a="http://schemas.openxmlformats.org/drawingml/2006/main">
              <a:ext uri="{FF2B5EF4-FFF2-40B4-BE49-F238E27FC236}">
                <a16:creationId xmlns:a16="http://schemas.microsoft.com/office/drawing/2014/main" id="{CDFF7531-DFEF-4C06-B730-1C525044ED2B}"/>
              </a:ext>
            </a:extLst>
          </p:cNvPr>
          <p:cNvSpPr>
            <a:spLocks xmlns:a="http://schemas.openxmlformats.org/drawingml/2006/main" noGrp="1"/>
          </p:cNvSpPr>
          <p:nvPr/>
        </p:nvSpPr>
        <p:spPr>
          <a:xfrm xmlns:a="http://schemas.openxmlformats.org/drawingml/2006/main">
            <a:off x="8915400" y="2647950"/>
            <a:ext cx="2667000" cy="666750"/>
          </a:xfrm>
          <a:prstGeom xmlns:a="http://schemas.openxmlformats.org/drawingml/2006/main" prst="rect">
            <a:avLst/>
          </a:prstGeom>
          <a:solidFill xmlns:a="http://schemas.openxmlformats.org/drawingml/2006/main">
            <a:srgbClr val="EDF5F3"/>
          </a:solidFill>
          <a:ln xmlns:a="http://schemas.openxmlformats.org/drawingml/2006/main" w="9525">
            <a:solidFill>
              <a:srgbClr val="D7DEE2"/>
            </a:solidFill>
            <a:prstDash val="solid"/>
          </a:ln>
        </p:spPr>
      </p:sp>
      <p:sp>
        <p:nvSpPr>
          <p:cNvPr id="37" name="">
            <a:extLst xmlns:a="http://schemas.openxmlformats.org/drawingml/2006/main">
              <a:ext uri="{FF2B5EF4-FFF2-40B4-BE49-F238E27FC236}">
                <a16:creationId xmlns:a16="http://schemas.microsoft.com/office/drawing/2014/main" id="{9E9E191F-5180-40DE-9389-DCDCD1584FEA}"/>
              </a:ext>
            </a:extLst>
          </p:cNvPr>
          <p:cNvSpPr>
            <a:spLocks xmlns:a="http://schemas.openxmlformats.org/drawingml/2006/main" noGrp="1"/>
          </p:cNvSpPr>
          <p:nvPr/>
        </p:nvSpPr>
        <p:spPr>
          <a:xfrm xmlns:a="http://schemas.openxmlformats.org/drawingml/2006/main">
            <a:off x="9029700" y="264795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근거 ID 추적</a:t>
            </a:r>
          </a:p>
        </p:txBody>
      </p:sp>
      <p:sp>
        <p:nvSpPr>
          <p:cNvPr id="38" name="">
            <a:extLst xmlns:a="http://schemas.openxmlformats.org/drawingml/2006/main">
              <a:ext uri="{FF2B5EF4-FFF2-40B4-BE49-F238E27FC236}">
                <a16:creationId xmlns:a16="http://schemas.microsoft.com/office/drawing/2014/main" id="{BF65C46D-5F70-430F-BF40-4A6DCE939160}"/>
              </a:ext>
            </a:extLst>
          </p:cNvPr>
          <p:cNvSpPr>
            <a:spLocks xmlns:a="http://schemas.openxmlformats.org/drawingml/2006/main" noGrp="1"/>
          </p:cNvSpPr>
          <p:nvPr/>
        </p:nvSpPr>
        <p:spPr>
          <a:xfrm xmlns:a="http://schemas.openxmlformats.org/drawingml/2006/main">
            <a:off x="609600" y="3314700"/>
            <a:ext cx="25336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39" name="">
            <a:extLst xmlns:a="http://schemas.openxmlformats.org/drawingml/2006/main">
              <a:ext uri="{FF2B5EF4-FFF2-40B4-BE49-F238E27FC236}">
                <a16:creationId xmlns:a16="http://schemas.microsoft.com/office/drawing/2014/main" id="{61E0478F-3C97-4EF4-9073-145E74CFFE61}"/>
              </a:ext>
            </a:extLst>
          </p:cNvPr>
          <p:cNvSpPr>
            <a:spLocks xmlns:a="http://schemas.openxmlformats.org/drawingml/2006/main" noGrp="1"/>
          </p:cNvSpPr>
          <p:nvPr/>
        </p:nvSpPr>
        <p:spPr>
          <a:xfrm xmlns:a="http://schemas.openxmlformats.org/drawingml/2006/main">
            <a:off x="723900" y="3314700"/>
            <a:ext cx="2305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미확인 공개</a:t>
            </a:r>
          </a:p>
        </p:txBody>
      </p:sp>
      <p:sp>
        <p:nvSpPr>
          <p:cNvPr id="40" name="">
            <a:extLst xmlns:a="http://schemas.openxmlformats.org/drawingml/2006/main">
              <a:ext uri="{FF2B5EF4-FFF2-40B4-BE49-F238E27FC236}">
                <a16:creationId xmlns:a16="http://schemas.microsoft.com/office/drawing/2014/main" id="{5368EEAA-51F0-47E6-92B6-A0B370765F17}"/>
              </a:ext>
            </a:extLst>
          </p:cNvPr>
          <p:cNvSpPr>
            <a:spLocks xmlns:a="http://schemas.openxmlformats.org/drawingml/2006/main" noGrp="1"/>
          </p:cNvSpPr>
          <p:nvPr/>
        </p:nvSpPr>
        <p:spPr>
          <a:xfrm xmlns:a="http://schemas.openxmlformats.org/drawingml/2006/main">
            <a:off x="3143250" y="331470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41" name="">
            <a:extLst xmlns:a="http://schemas.openxmlformats.org/drawingml/2006/main">
              <a:ext uri="{FF2B5EF4-FFF2-40B4-BE49-F238E27FC236}">
                <a16:creationId xmlns:a16="http://schemas.microsoft.com/office/drawing/2014/main" id="{AE3E5A53-9ADE-486D-B297-A56039D2B37F}"/>
              </a:ext>
            </a:extLst>
          </p:cNvPr>
          <p:cNvSpPr>
            <a:spLocks xmlns:a="http://schemas.openxmlformats.org/drawingml/2006/main" noGrp="1"/>
          </p:cNvSpPr>
          <p:nvPr/>
        </p:nvSpPr>
        <p:spPr>
          <a:xfrm xmlns:a="http://schemas.openxmlformats.org/drawingml/2006/main">
            <a:off x="3257550" y="331470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분산</a:t>
            </a:r>
          </a:p>
        </p:txBody>
      </p:sp>
      <p:sp>
        <p:nvSpPr>
          <p:cNvPr id="42" name="">
            <a:extLst xmlns:a="http://schemas.openxmlformats.org/drawingml/2006/main">
              <a:ext uri="{FF2B5EF4-FFF2-40B4-BE49-F238E27FC236}">
                <a16:creationId xmlns:a16="http://schemas.microsoft.com/office/drawing/2014/main" id="{558C5DBE-6CBA-4717-B1A8-CE6ACE95847C}"/>
              </a:ext>
            </a:extLst>
          </p:cNvPr>
          <p:cNvSpPr>
            <a:spLocks xmlns:a="http://schemas.openxmlformats.org/drawingml/2006/main" noGrp="1"/>
          </p:cNvSpPr>
          <p:nvPr/>
        </p:nvSpPr>
        <p:spPr>
          <a:xfrm xmlns:a="http://schemas.openxmlformats.org/drawingml/2006/main">
            <a:off x="5067300" y="331470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43" name="">
            <a:extLst xmlns:a="http://schemas.openxmlformats.org/drawingml/2006/main">
              <a:ext uri="{FF2B5EF4-FFF2-40B4-BE49-F238E27FC236}">
                <a16:creationId xmlns:a16="http://schemas.microsoft.com/office/drawing/2014/main" id="{1384588D-85AB-4766-AEA8-EE0348D33810}"/>
              </a:ext>
            </a:extLst>
          </p:cNvPr>
          <p:cNvSpPr>
            <a:spLocks xmlns:a="http://schemas.openxmlformats.org/drawingml/2006/main" noGrp="1"/>
          </p:cNvSpPr>
          <p:nvPr/>
        </p:nvSpPr>
        <p:spPr>
          <a:xfrm xmlns:a="http://schemas.openxmlformats.org/drawingml/2006/main">
            <a:off x="5181600" y="331470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누락 가능</a:t>
            </a:r>
          </a:p>
        </p:txBody>
      </p:sp>
      <p:sp>
        <p:nvSpPr>
          <p:cNvPr id="44" name="">
            <a:extLst xmlns:a="http://schemas.openxmlformats.org/drawingml/2006/main">
              <a:ext uri="{FF2B5EF4-FFF2-40B4-BE49-F238E27FC236}">
                <a16:creationId xmlns:a16="http://schemas.microsoft.com/office/drawing/2014/main" id="{D43B6758-1AD6-417F-AF66-2C5C34323808}"/>
              </a:ext>
            </a:extLst>
          </p:cNvPr>
          <p:cNvSpPr>
            <a:spLocks xmlns:a="http://schemas.openxmlformats.org/drawingml/2006/main" noGrp="1"/>
          </p:cNvSpPr>
          <p:nvPr/>
        </p:nvSpPr>
        <p:spPr>
          <a:xfrm xmlns:a="http://schemas.openxmlformats.org/drawingml/2006/main">
            <a:off x="6991350" y="331470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45" name="">
            <a:extLst xmlns:a="http://schemas.openxmlformats.org/drawingml/2006/main">
              <a:ext uri="{FF2B5EF4-FFF2-40B4-BE49-F238E27FC236}">
                <a16:creationId xmlns:a16="http://schemas.microsoft.com/office/drawing/2014/main" id="{5C105D96-48EC-4F4D-89FD-51DD97ADEBDF}"/>
              </a:ext>
            </a:extLst>
          </p:cNvPr>
          <p:cNvSpPr>
            <a:spLocks xmlns:a="http://schemas.openxmlformats.org/drawingml/2006/main" noGrp="1"/>
          </p:cNvSpPr>
          <p:nvPr/>
        </p:nvSpPr>
        <p:spPr>
          <a:xfrm xmlns:a="http://schemas.openxmlformats.org/drawingml/2006/main">
            <a:off x="7105650" y="331470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문서 기재</a:t>
            </a:r>
          </a:p>
        </p:txBody>
      </p:sp>
      <p:sp>
        <p:nvSpPr>
          <p:cNvPr id="46" name="">
            <a:extLst xmlns:a="http://schemas.openxmlformats.org/drawingml/2006/main">
              <a:ext uri="{FF2B5EF4-FFF2-40B4-BE49-F238E27FC236}">
                <a16:creationId xmlns:a16="http://schemas.microsoft.com/office/drawing/2014/main" id="{3A5C03E6-9838-4C60-BB80-92FD98061F41}"/>
              </a:ext>
            </a:extLst>
          </p:cNvPr>
          <p:cNvSpPr>
            <a:spLocks xmlns:a="http://schemas.openxmlformats.org/drawingml/2006/main" noGrp="1"/>
          </p:cNvSpPr>
          <p:nvPr/>
        </p:nvSpPr>
        <p:spPr>
          <a:xfrm xmlns:a="http://schemas.openxmlformats.org/drawingml/2006/main">
            <a:off x="8915400" y="3314700"/>
            <a:ext cx="2667000" cy="666750"/>
          </a:xfrm>
          <a:prstGeom xmlns:a="http://schemas.openxmlformats.org/drawingml/2006/main" prst="rect">
            <a:avLst/>
          </a:prstGeom>
          <a:solidFill xmlns:a="http://schemas.openxmlformats.org/drawingml/2006/main">
            <a:srgbClr val="EDF5F3"/>
          </a:solidFill>
          <a:ln xmlns:a="http://schemas.openxmlformats.org/drawingml/2006/main" w="9525">
            <a:solidFill>
              <a:srgbClr val="D7DEE2"/>
            </a:solidFill>
            <a:prstDash val="solid"/>
          </a:ln>
        </p:spPr>
      </p:sp>
      <p:sp>
        <p:nvSpPr>
          <p:cNvPr id="47" name="">
            <a:extLst xmlns:a="http://schemas.openxmlformats.org/drawingml/2006/main">
              <a:ext uri="{FF2B5EF4-FFF2-40B4-BE49-F238E27FC236}">
                <a16:creationId xmlns:a16="http://schemas.microsoft.com/office/drawing/2014/main" id="{FBF1AA76-9850-443C-A20C-EF09BDEA3CD0}"/>
              </a:ext>
            </a:extLst>
          </p:cNvPr>
          <p:cNvSpPr>
            <a:spLocks xmlns:a="http://schemas.openxmlformats.org/drawingml/2006/main" noGrp="1"/>
          </p:cNvSpPr>
          <p:nvPr/>
        </p:nvSpPr>
        <p:spPr>
          <a:xfrm xmlns:a="http://schemas.openxmlformats.org/drawingml/2006/main">
            <a:off x="9029700" y="33147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게이트로 유지</a:t>
            </a:r>
          </a:p>
        </p:txBody>
      </p:sp>
      <p:sp>
        <p:nvSpPr>
          <p:cNvPr id="48" name="">
            <a:extLst xmlns:a="http://schemas.openxmlformats.org/drawingml/2006/main">
              <a:ext uri="{FF2B5EF4-FFF2-40B4-BE49-F238E27FC236}">
                <a16:creationId xmlns:a16="http://schemas.microsoft.com/office/drawing/2014/main" id="{3015B146-30B2-4E78-96DE-E547CC8193DF}"/>
              </a:ext>
            </a:extLst>
          </p:cNvPr>
          <p:cNvSpPr>
            <a:spLocks xmlns:a="http://schemas.openxmlformats.org/drawingml/2006/main" noGrp="1"/>
          </p:cNvSpPr>
          <p:nvPr/>
        </p:nvSpPr>
        <p:spPr>
          <a:xfrm xmlns:a="http://schemas.openxmlformats.org/drawingml/2006/main">
            <a:off x="609600" y="3981450"/>
            <a:ext cx="25336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49" name="">
            <a:extLst xmlns:a="http://schemas.openxmlformats.org/drawingml/2006/main">
              <a:ext uri="{FF2B5EF4-FFF2-40B4-BE49-F238E27FC236}">
                <a16:creationId xmlns:a16="http://schemas.microsoft.com/office/drawing/2014/main" id="{9706E9C3-FC74-4F28-9A42-DFC0C381D9A7}"/>
              </a:ext>
            </a:extLst>
          </p:cNvPr>
          <p:cNvSpPr>
            <a:spLocks xmlns:a="http://schemas.openxmlformats.org/drawingml/2006/main" noGrp="1"/>
          </p:cNvSpPr>
          <p:nvPr/>
        </p:nvSpPr>
        <p:spPr>
          <a:xfrm xmlns:a="http://schemas.openxmlformats.org/drawingml/2006/main">
            <a:off x="723900" y="3981450"/>
            <a:ext cx="2305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데이터 갱신</a:t>
            </a:r>
          </a:p>
        </p:txBody>
      </p:sp>
      <p:sp>
        <p:nvSpPr>
          <p:cNvPr id="50" name="">
            <a:extLst xmlns:a="http://schemas.openxmlformats.org/drawingml/2006/main">
              <a:ext uri="{FF2B5EF4-FFF2-40B4-BE49-F238E27FC236}">
                <a16:creationId xmlns:a16="http://schemas.microsoft.com/office/drawing/2014/main" id="{0D830B53-6612-48BE-A7EF-A3D9647B58C3}"/>
              </a:ext>
            </a:extLst>
          </p:cNvPr>
          <p:cNvSpPr>
            <a:spLocks xmlns:a="http://schemas.openxmlformats.org/drawingml/2006/main" noGrp="1"/>
          </p:cNvSpPr>
          <p:nvPr/>
        </p:nvSpPr>
        <p:spPr>
          <a:xfrm xmlns:a="http://schemas.openxmlformats.org/drawingml/2006/main">
            <a:off x="3143250" y="398145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51" name="">
            <a:extLst xmlns:a="http://schemas.openxmlformats.org/drawingml/2006/main">
              <a:ext uri="{FF2B5EF4-FFF2-40B4-BE49-F238E27FC236}">
                <a16:creationId xmlns:a16="http://schemas.microsoft.com/office/drawing/2014/main" id="{C76411FF-F6BB-4166-A0D2-C4CC1A697C99}"/>
              </a:ext>
            </a:extLst>
          </p:cNvPr>
          <p:cNvSpPr>
            <a:spLocks xmlns:a="http://schemas.openxmlformats.org/drawingml/2006/main" noGrp="1"/>
          </p:cNvSpPr>
          <p:nvPr/>
        </p:nvSpPr>
        <p:spPr>
          <a:xfrm xmlns:a="http://schemas.openxmlformats.org/drawingml/2006/main">
            <a:off x="3257550" y="398145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재검색</a:t>
            </a:r>
          </a:p>
        </p:txBody>
      </p:sp>
      <p:sp>
        <p:nvSpPr>
          <p:cNvPr id="52" name="">
            <a:extLst xmlns:a="http://schemas.openxmlformats.org/drawingml/2006/main">
              <a:ext uri="{FF2B5EF4-FFF2-40B4-BE49-F238E27FC236}">
                <a16:creationId xmlns:a16="http://schemas.microsoft.com/office/drawing/2014/main" id="{13809907-6697-4164-A4E4-A3A4D5866640}"/>
              </a:ext>
            </a:extLst>
          </p:cNvPr>
          <p:cNvSpPr>
            <a:spLocks xmlns:a="http://schemas.openxmlformats.org/drawingml/2006/main" noGrp="1"/>
          </p:cNvSpPr>
          <p:nvPr/>
        </p:nvSpPr>
        <p:spPr>
          <a:xfrm xmlns:a="http://schemas.openxmlformats.org/drawingml/2006/main">
            <a:off x="5067300" y="398145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53" name="">
            <a:extLst xmlns:a="http://schemas.openxmlformats.org/drawingml/2006/main">
              <a:ext uri="{FF2B5EF4-FFF2-40B4-BE49-F238E27FC236}">
                <a16:creationId xmlns:a16="http://schemas.microsoft.com/office/drawing/2014/main" id="{F8068E78-0710-41B4-B339-57FC61A9465B}"/>
              </a:ext>
            </a:extLst>
          </p:cNvPr>
          <p:cNvSpPr>
            <a:spLocks xmlns:a="http://schemas.openxmlformats.org/drawingml/2006/main" noGrp="1"/>
          </p:cNvSpPr>
          <p:nvPr/>
        </p:nvSpPr>
        <p:spPr>
          <a:xfrm xmlns:a="http://schemas.openxmlformats.org/drawingml/2006/main">
            <a:off x="5181600" y="398145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재질문</a:t>
            </a:r>
          </a:p>
        </p:txBody>
      </p:sp>
      <p:sp>
        <p:nvSpPr>
          <p:cNvPr id="54" name="">
            <a:extLst xmlns:a="http://schemas.openxmlformats.org/drawingml/2006/main">
              <a:ext uri="{FF2B5EF4-FFF2-40B4-BE49-F238E27FC236}">
                <a16:creationId xmlns:a16="http://schemas.microsoft.com/office/drawing/2014/main" id="{019B7F49-2FCA-448D-B13D-86FA5282A02C}"/>
              </a:ext>
            </a:extLst>
          </p:cNvPr>
          <p:cNvSpPr>
            <a:spLocks xmlns:a="http://schemas.openxmlformats.org/drawingml/2006/main" noGrp="1"/>
          </p:cNvSpPr>
          <p:nvPr/>
        </p:nvSpPr>
        <p:spPr>
          <a:xfrm xmlns:a="http://schemas.openxmlformats.org/drawingml/2006/main">
            <a:off x="6991350" y="398145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55" name="">
            <a:extLst xmlns:a="http://schemas.openxmlformats.org/drawingml/2006/main">
              <a:ext uri="{FF2B5EF4-FFF2-40B4-BE49-F238E27FC236}">
                <a16:creationId xmlns:a16="http://schemas.microsoft.com/office/drawing/2014/main" id="{DB4D9DFE-169C-418A-AC4B-1CFA976F2548}"/>
              </a:ext>
            </a:extLst>
          </p:cNvPr>
          <p:cNvSpPr>
            <a:spLocks xmlns:a="http://schemas.openxmlformats.org/drawingml/2006/main" noGrp="1"/>
          </p:cNvSpPr>
          <p:nvPr/>
        </p:nvSpPr>
        <p:spPr>
          <a:xfrm xmlns:a="http://schemas.openxmlformats.org/drawingml/2006/main">
            <a:off x="7105650" y="398145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재작성</a:t>
            </a:r>
          </a:p>
        </p:txBody>
      </p:sp>
      <p:sp>
        <p:nvSpPr>
          <p:cNvPr id="56" name="">
            <a:extLst xmlns:a="http://schemas.openxmlformats.org/drawingml/2006/main">
              <a:ext uri="{FF2B5EF4-FFF2-40B4-BE49-F238E27FC236}">
                <a16:creationId xmlns:a16="http://schemas.microsoft.com/office/drawing/2014/main" id="{2DF381D6-CB88-4BB0-AB2E-8431B04D05DC}"/>
              </a:ext>
            </a:extLst>
          </p:cNvPr>
          <p:cNvSpPr>
            <a:spLocks xmlns:a="http://schemas.openxmlformats.org/drawingml/2006/main" noGrp="1"/>
          </p:cNvSpPr>
          <p:nvPr/>
        </p:nvSpPr>
        <p:spPr>
          <a:xfrm xmlns:a="http://schemas.openxmlformats.org/drawingml/2006/main">
            <a:off x="8915400" y="3981450"/>
            <a:ext cx="2667000" cy="666750"/>
          </a:xfrm>
          <a:prstGeom xmlns:a="http://schemas.openxmlformats.org/drawingml/2006/main" prst="rect">
            <a:avLst/>
          </a:prstGeom>
          <a:solidFill xmlns:a="http://schemas.openxmlformats.org/drawingml/2006/main">
            <a:srgbClr val="EDF5F3"/>
          </a:solidFill>
          <a:ln xmlns:a="http://schemas.openxmlformats.org/drawingml/2006/main" w="9525">
            <a:solidFill>
              <a:srgbClr val="D7DEE2"/>
            </a:solidFill>
            <a:prstDash val="solid"/>
          </a:ln>
        </p:spPr>
      </p:sp>
      <p:sp>
        <p:nvSpPr>
          <p:cNvPr id="57" name="">
            <a:extLst xmlns:a="http://schemas.openxmlformats.org/drawingml/2006/main">
              <a:ext uri="{FF2B5EF4-FFF2-40B4-BE49-F238E27FC236}">
                <a16:creationId xmlns:a16="http://schemas.microsoft.com/office/drawing/2014/main" id="{38810424-CC5B-41F6-8786-F2A1639407E2}"/>
              </a:ext>
            </a:extLst>
          </p:cNvPr>
          <p:cNvSpPr>
            <a:spLocks xmlns:a="http://schemas.openxmlformats.org/drawingml/2006/main" noGrp="1"/>
          </p:cNvSpPr>
          <p:nvPr/>
        </p:nvSpPr>
        <p:spPr>
          <a:xfrm xmlns:a="http://schemas.openxmlformats.org/drawingml/2006/main">
            <a:off x="9029700" y="398145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재조회·재생성</a:t>
            </a:r>
          </a:p>
        </p:txBody>
      </p:sp>
      <p:sp>
        <p:nvSpPr>
          <p:cNvPr id="58" name="">
            <a:extLst xmlns:a="http://schemas.openxmlformats.org/drawingml/2006/main">
              <a:ext uri="{FF2B5EF4-FFF2-40B4-BE49-F238E27FC236}">
                <a16:creationId xmlns:a16="http://schemas.microsoft.com/office/drawing/2014/main" id="{35F4411E-A470-4A5E-9CA2-901145237FE1}"/>
              </a:ext>
            </a:extLst>
          </p:cNvPr>
          <p:cNvSpPr>
            <a:spLocks xmlns:a="http://schemas.openxmlformats.org/drawingml/2006/main" noGrp="1"/>
          </p:cNvSpPr>
          <p:nvPr/>
        </p:nvSpPr>
        <p:spPr>
          <a:xfrm xmlns:a="http://schemas.openxmlformats.org/drawingml/2006/main">
            <a:off x="609600" y="4648200"/>
            <a:ext cx="25336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59" name="">
            <a:extLst xmlns:a="http://schemas.openxmlformats.org/drawingml/2006/main">
              <a:ext uri="{FF2B5EF4-FFF2-40B4-BE49-F238E27FC236}">
                <a16:creationId xmlns:a16="http://schemas.microsoft.com/office/drawing/2014/main" id="{53600B17-B6D7-4A99-A9E0-C5828BC0A000}"/>
              </a:ext>
            </a:extLst>
          </p:cNvPr>
          <p:cNvSpPr>
            <a:spLocks xmlns:a="http://schemas.openxmlformats.org/drawingml/2006/main" noGrp="1"/>
          </p:cNvSpPr>
          <p:nvPr/>
        </p:nvSpPr>
        <p:spPr>
          <a:xfrm xmlns:a="http://schemas.openxmlformats.org/drawingml/2006/main">
            <a:off x="723900" y="4648200"/>
            <a:ext cx="2305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다음 행동</a:t>
            </a:r>
          </a:p>
        </p:txBody>
      </p:sp>
      <p:sp>
        <p:nvSpPr>
          <p:cNvPr id="60" name="">
            <a:extLst xmlns:a="http://schemas.openxmlformats.org/drawingml/2006/main">
              <a:ext uri="{FF2B5EF4-FFF2-40B4-BE49-F238E27FC236}">
                <a16:creationId xmlns:a16="http://schemas.microsoft.com/office/drawing/2014/main" id="{17B0615F-19A9-4F18-A2F2-750DA6CFE711}"/>
              </a:ext>
            </a:extLst>
          </p:cNvPr>
          <p:cNvSpPr>
            <a:spLocks xmlns:a="http://schemas.openxmlformats.org/drawingml/2006/main" noGrp="1"/>
          </p:cNvSpPr>
          <p:nvPr/>
        </p:nvSpPr>
        <p:spPr>
          <a:xfrm xmlns:a="http://schemas.openxmlformats.org/drawingml/2006/main">
            <a:off x="3143250" y="464820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61" name="">
            <a:extLst xmlns:a="http://schemas.openxmlformats.org/drawingml/2006/main">
              <a:ext uri="{FF2B5EF4-FFF2-40B4-BE49-F238E27FC236}">
                <a16:creationId xmlns:a16="http://schemas.microsoft.com/office/drawing/2014/main" id="{155712B8-500B-4014-A297-9C451B138744}"/>
              </a:ext>
            </a:extLst>
          </p:cNvPr>
          <p:cNvSpPr>
            <a:spLocks xmlns:a="http://schemas.openxmlformats.org/drawingml/2006/main" noGrp="1"/>
          </p:cNvSpPr>
          <p:nvPr/>
        </p:nvSpPr>
        <p:spPr>
          <a:xfrm xmlns:a="http://schemas.openxmlformats.org/drawingml/2006/main">
            <a:off x="3257550" y="464820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분리</a:t>
            </a:r>
          </a:p>
        </p:txBody>
      </p:sp>
      <p:sp>
        <p:nvSpPr>
          <p:cNvPr id="62" name="">
            <a:extLst xmlns:a="http://schemas.openxmlformats.org/drawingml/2006/main">
              <a:ext uri="{FF2B5EF4-FFF2-40B4-BE49-F238E27FC236}">
                <a16:creationId xmlns:a16="http://schemas.microsoft.com/office/drawing/2014/main" id="{A0B02094-2810-4CAD-9191-E4ADBDA3196D}"/>
              </a:ext>
            </a:extLst>
          </p:cNvPr>
          <p:cNvSpPr>
            <a:spLocks xmlns:a="http://schemas.openxmlformats.org/drawingml/2006/main" noGrp="1"/>
          </p:cNvSpPr>
          <p:nvPr/>
        </p:nvSpPr>
        <p:spPr>
          <a:xfrm xmlns:a="http://schemas.openxmlformats.org/drawingml/2006/main">
            <a:off x="5067300" y="464820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63" name="">
            <a:extLst xmlns:a="http://schemas.openxmlformats.org/drawingml/2006/main">
              <a:ext uri="{FF2B5EF4-FFF2-40B4-BE49-F238E27FC236}">
                <a16:creationId xmlns:a16="http://schemas.microsoft.com/office/drawing/2014/main" id="{E4DE323F-B842-4F58-AACB-875E6CF97D12}"/>
              </a:ext>
            </a:extLst>
          </p:cNvPr>
          <p:cNvSpPr>
            <a:spLocks xmlns:a="http://schemas.openxmlformats.org/drawingml/2006/main" noGrp="1"/>
          </p:cNvSpPr>
          <p:nvPr/>
        </p:nvSpPr>
        <p:spPr>
          <a:xfrm xmlns:a="http://schemas.openxmlformats.org/drawingml/2006/main">
            <a:off x="5181600" y="464820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일반 조언</a:t>
            </a:r>
          </a:p>
        </p:txBody>
      </p:sp>
      <p:sp>
        <p:nvSpPr>
          <p:cNvPr id="64" name="">
            <a:extLst xmlns:a="http://schemas.openxmlformats.org/drawingml/2006/main">
              <a:ext uri="{FF2B5EF4-FFF2-40B4-BE49-F238E27FC236}">
                <a16:creationId xmlns:a16="http://schemas.microsoft.com/office/drawing/2014/main" id="{1E14C07D-3148-4989-8E04-9F890AB3501E}"/>
              </a:ext>
            </a:extLst>
          </p:cNvPr>
          <p:cNvSpPr>
            <a:spLocks xmlns:a="http://schemas.openxmlformats.org/drawingml/2006/main" noGrp="1"/>
          </p:cNvSpPr>
          <p:nvPr/>
        </p:nvSpPr>
        <p:spPr>
          <a:xfrm xmlns:a="http://schemas.openxmlformats.org/drawingml/2006/main">
            <a:off x="6991350" y="4648200"/>
            <a:ext cx="19240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2"/>
            </a:solidFill>
            <a:prstDash val="solid"/>
          </a:ln>
        </p:spPr>
      </p:sp>
      <p:sp>
        <p:nvSpPr>
          <p:cNvPr id="65" name="">
            <a:extLst xmlns:a="http://schemas.openxmlformats.org/drawingml/2006/main">
              <a:ext uri="{FF2B5EF4-FFF2-40B4-BE49-F238E27FC236}">
                <a16:creationId xmlns:a16="http://schemas.microsoft.com/office/drawing/2014/main" id="{0FFF4C45-2187-48D7-9B65-7904B27A6A2E}"/>
              </a:ext>
            </a:extLst>
          </p:cNvPr>
          <p:cNvSpPr>
            <a:spLocks xmlns:a="http://schemas.openxmlformats.org/drawingml/2006/main" noGrp="1"/>
          </p:cNvSpPr>
          <p:nvPr/>
        </p:nvSpPr>
        <p:spPr>
          <a:xfrm xmlns:a="http://schemas.openxmlformats.org/drawingml/2006/main">
            <a:off x="7105650" y="4648200"/>
            <a:ext cx="1695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수기 작성</a:t>
            </a:r>
          </a:p>
        </p:txBody>
      </p:sp>
      <p:sp>
        <p:nvSpPr>
          <p:cNvPr id="66" name="">
            <a:extLst xmlns:a="http://schemas.openxmlformats.org/drawingml/2006/main">
              <a:ext uri="{FF2B5EF4-FFF2-40B4-BE49-F238E27FC236}">
                <a16:creationId xmlns:a16="http://schemas.microsoft.com/office/drawing/2014/main" id="{E1D06118-FD26-44B2-B25F-24EE2C9798AD}"/>
              </a:ext>
            </a:extLst>
          </p:cNvPr>
          <p:cNvSpPr>
            <a:spLocks xmlns:a="http://schemas.openxmlformats.org/drawingml/2006/main" noGrp="1"/>
          </p:cNvSpPr>
          <p:nvPr/>
        </p:nvSpPr>
        <p:spPr>
          <a:xfrm xmlns:a="http://schemas.openxmlformats.org/drawingml/2006/main">
            <a:off x="8915400" y="4648200"/>
            <a:ext cx="2667000" cy="666750"/>
          </a:xfrm>
          <a:prstGeom xmlns:a="http://schemas.openxmlformats.org/drawingml/2006/main" prst="rect">
            <a:avLst/>
          </a:prstGeom>
          <a:solidFill xmlns:a="http://schemas.openxmlformats.org/drawingml/2006/main">
            <a:srgbClr val="EDF5F3"/>
          </a:solidFill>
          <a:ln xmlns:a="http://schemas.openxmlformats.org/drawingml/2006/main" w="9525">
            <a:solidFill>
              <a:srgbClr val="D7DEE2"/>
            </a:solidFill>
            <a:prstDash val="solid"/>
          </a:ln>
        </p:spPr>
      </p:sp>
      <p:sp>
        <p:nvSpPr>
          <p:cNvPr id="67" name="">
            <a:extLst xmlns:a="http://schemas.openxmlformats.org/drawingml/2006/main">
              <a:ext uri="{FF2B5EF4-FFF2-40B4-BE49-F238E27FC236}">
                <a16:creationId xmlns:a16="http://schemas.microsoft.com/office/drawing/2014/main" id="{6440DA4A-A5BD-48D3-A45F-39CBDAF08BD6}"/>
              </a:ext>
            </a:extLst>
          </p:cNvPr>
          <p:cNvSpPr>
            <a:spLocks xmlns:a="http://schemas.openxmlformats.org/drawingml/2006/main" noGrp="1"/>
          </p:cNvSpPr>
          <p:nvPr/>
        </p:nvSpPr>
        <p:spPr>
          <a:xfrm xmlns:a="http://schemas.openxmlformats.org/drawingml/2006/main">
            <a:off x="9029700" y="46482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담당자·PDF 연결</a:t>
            </a:r>
          </a:p>
        </p:txBody>
      </p:sp>
      <p:sp>
        <p:nvSpPr>
          <p:cNvPr id="68" name="">
            <a:extLst xmlns:a="http://schemas.openxmlformats.org/drawingml/2006/main">
              <a:ext uri="{FF2B5EF4-FFF2-40B4-BE49-F238E27FC236}">
                <a16:creationId xmlns:a16="http://schemas.microsoft.com/office/drawing/2014/main" id="{CD4C3976-54AA-4BC7-8696-A6DBD14E8985}"/>
              </a:ext>
            </a:extLst>
          </p:cNvPr>
          <p:cNvSpPr>
            <a:spLocks xmlns:a="http://schemas.openxmlformats.org/drawingml/2006/main" noGrp="1"/>
          </p:cNvSpPr>
          <p:nvPr/>
        </p:nvSpPr>
        <p:spPr>
          <a:xfrm xmlns:a="http://schemas.openxmlformats.org/drawingml/2006/main">
            <a:off x="609600" y="5581650"/>
            <a:ext cx="10972800" cy="552450"/>
          </a:xfrm>
          <a:prstGeom xmlns:a="http://schemas.openxmlformats.org/drawingml/2006/main" prst="roundRect">
            <a:avLst>
              <a:gd name="adj" fmla="val 20690"/>
            </a:avLst>
          </a:prstGeom>
          <a:solidFill xmlns:a="http://schemas.openxmlformats.org/drawingml/2006/main">
            <a:srgbClr val="051C2C"/>
          </a:solidFill>
          <a:ln xmlns:a="http://schemas.openxmlformats.org/drawingml/2006/main" w="0">
            <a:solidFill>
              <a:srgbClr val="051C2C"/>
            </a:solidFill>
            <a:prstDash val="solid"/>
          </a:ln>
        </p:spPr>
      </p:sp>
      <p:sp>
        <p:nvSpPr>
          <p:cNvPr id="69" name="">
            <a:extLst xmlns:a="http://schemas.openxmlformats.org/drawingml/2006/main">
              <a:ext uri="{FF2B5EF4-FFF2-40B4-BE49-F238E27FC236}">
                <a16:creationId xmlns:a16="http://schemas.microsoft.com/office/drawing/2014/main" id="{6A3330B9-2147-4C9F-9EA9-16D78C1D8EE9}"/>
              </a:ext>
            </a:extLst>
          </p:cNvPr>
          <p:cNvSpPr>
            <a:spLocks xmlns:a="http://schemas.openxmlformats.org/drawingml/2006/main" noGrp="1"/>
          </p:cNvSpPr>
          <p:nvPr/>
        </p:nvSpPr>
        <p:spPr>
          <a:xfrm xmlns:a="http://schemas.openxmlformats.org/drawingml/2006/main">
            <a:off x="838200" y="5676900"/>
            <a:ext cx="10515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FFFFFF"/>
                </a:solidFill>
                <a:latin typeface="Noto Sans KR"/>
                <a:ea typeface="Noto Sans KR"/>
                <a:cs typeface="Noto Sans KR"/>
              </a:defRPr>
            </a:pPr>
            <a:r>
              <a:rPr sz="1500" b="1">
                <a:solidFill>
                  <a:srgbClr val="FFFFFF"/>
                </a:solidFill>
                <a:latin typeface="Noto Sans KR"/>
                <a:ea typeface="Noto Sans KR"/>
                <a:cs typeface="Noto Sans KR"/>
              </a:rPr>
              <a:t>핵심 경쟁력  |  10종 API + 근거·게이트 스키마 + HSK 도메인 규칙</a:t>
            </a:r>
          </a:p>
        </p:txBody>
      </p:sp>
    </p:spTree>
    <p:extLst>
      <p:ext uri="{BB962C8B-B14F-4D97-AF65-F5344CB8AC3E}">
        <p14:creationId xmlns:p14="http://schemas.microsoft.com/office/powerpoint/2010/main" val="2741768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B71E878-39AC-43EB-BBF9-2E27C430DE5C}"/>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VALIDATION</a:t>
            </a:r>
          </a:p>
        </p:txBody>
      </p:sp>
      <p:sp>
        <p:nvSpPr>
          <p:cNvPr id="2" name="slide-12-title">
            <a:extLst xmlns:a="http://schemas.openxmlformats.org/drawingml/2006/main">
              <a:ext uri="{FF2B5EF4-FFF2-40B4-BE49-F238E27FC236}">
                <a16:creationId xmlns:a16="http://schemas.microsoft.com/office/drawing/2014/main" id="{DFFE6295-DB1E-44F5-BE3A-D3A1472C387D}"/>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넥센타이어 시나리오로 입력부터 PDF까지 전 과정을 검증했습니다</a:t>
            </a:r>
          </a:p>
        </p:txBody>
      </p:sp>
      <p:sp>
        <p:nvSpPr>
          <p:cNvPr id="3" name="">
            <a:extLst xmlns:a="http://schemas.openxmlformats.org/drawingml/2006/main">
              <a:ext uri="{FF2B5EF4-FFF2-40B4-BE49-F238E27FC236}">
                <a16:creationId xmlns:a16="http://schemas.microsoft.com/office/drawing/2014/main" id="{9294B775-2F3A-4683-9FE9-7962A3C308AB}"/>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D234212E-D590-4205-85C7-32F89F1FFABA}"/>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07E39A75-7FE8-4C34-BDB4-5EE3AB9745C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B3CABD6B-F2C7-4003-AEF5-C9B8E681D834}"/>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화면 data-sources.png 및 E2E 시나리오</a:t>
            </a:r>
          </a:p>
        </p:txBody>
      </p:sp>
      <p:sp>
        <p:nvSpPr>
          <p:cNvPr id="7" name="">
            <a:extLst xmlns:a="http://schemas.openxmlformats.org/drawingml/2006/main">
              <a:ext uri="{FF2B5EF4-FFF2-40B4-BE49-F238E27FC236}">
                <a16:creationId xmlns:a16="http://schemas.microsoft.com/office/drawing/2014/main" id="{FB354A1D-CAE1-431F-80C0-F101993A4337}"/>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12</a:t>
            </a:r>
          </a:p>
        </p:txBody>
      </p:sp>
      <p:sp>
        <p:nvSpPr>
          <p:cNvPr id="8" name="">
            <a:extLst xmlns:a="http://schemas.openxmlformats.org/drawingml/2006/main">
              <a:ext uri="{FF2B5EF4-FFF2-40B4-BE49-F238E27FC236}">
                <a16:creationId xmlns:a16="http://schemas.microsoft.com/office/drawing/2014/main" id="{7271FA67-5EFC-4641-85BB-CFF94921FEE5}"/>
              </a:ext>
            </a:extLst>
          </p:cNvPr>
          <p:cNvSpPr>
            <a:spLocks xmlns:a="http://schemas.openxmlformats.org/drawingml/2006/main" noGrp="1"/>
          </p:cNvSpPr>
          <p:nvPr/>
        </p:nvSpPr>
        <p:spPr>
          <a:xfrm xmlns:a="http://schemas.openxmlformats.org/drawingml/2006/main">
            <a:off x="552450" y="1409700"/>
            <a:ext cx="6781800" cy="4610100"/>
          </a:xfrm>
          <a:prstGeom xmlns:a="http://schemas.openxmlformats.org/drawingml/2006/main" prst="roundRect">
            <a:avLst>
              <a:gd name="adj" fmla="val 2479"/>
            </a:avLst>
          </a:prstGeom>
          <a:solidFill xmlns:a="http://schemas.openxmlformats.org/drawingml/2006/main">
            <a:srgbClr val="FFFFFF"/>
          </a:solidFill>
          <a:ln xmlns:a="http://schemas.openxmlformats.org/drawingml/2006/main" w="9525">
            <a:solidFill>
              <a:srgbClr val="D7DEE2"/>
            </a:solidFill>
            <a:prstDash val="solid"/>
          </a:ln>
        </p:spPr>
      </p:sp>
      <p:sp>
        <p:nvSpPr>
          <p:cNvPr id="9" name="">
            <a:extLst xmlns:a="http://schemas.openxmlformats.org/drawingml/2006/main">
              <a:ext uri="{FF2B5EF4-FFF2-40B4-BE49-F238E27FC236}">
                <a16:creationId xmlns:a16="http://schemas.microsoft.com/office/drawing/2014/main" id="{6874B10C-2651-4ADA-B6CF-3AF4C3F8281B}"/>
              </a:ext>
            </a:extLst>
          </p:cNvPr>
          <p:cNvSpPr>
            <a:spLocks xmlns:a="http://schemas.openxmlformats.org/drawingml/2006/main" noGrp="1"/>
          </p:cNvSpPr>
          <p:nvPr/>
        </p:nvSpPr>
        <p:spPr>
          <a:xfrm xmlns:a="http://schemas.openxmlformats.org/drawingml/2006/main">
            <a:off x="742950" y="1600200"/>
            <a:ext cx="1771650" cy="285750"/>
          </a:xfrm>
          <a:prstGeom xmlns:a="http://schemas.openxmlformats.org/drawingml/2006/main" prst="roundRect">
            <a:avLst>
              <a:gd name="adj" fmla="val 40000"/>
            </a:avLst>
          </a:prstGeom>
          <a:solidFill xmlns:a="http://schemas.openxmlformats.org/drawingml/2006/main">
            <a:srgbClr val="051C2C"/>
          </a:solidFill>
          <a:ln xmlns:a="http://schemas.openxmlformats.org/drawingml/2006/main" w="0">
            <a:solidFill>
              <a:srgbClr val="051C2C"/>
            </a:solidFill>
            <a:prstDash val="solid"/>
          </a:ln>
        </p:spPr>
      </p:sp>
      <p:sp>
        <p:nvSpPr>
          <p:cNvPr id="10" name="">
            <a:extLst xmlns:a="http://schemas.openxmlformats.org/drawingml/2006/main">
              <a:ext uri="{FF2B5EF4-FFF2-40B4-BE49-F238E27FC236}">
                <a16:creationId xmlns:a16="http://schemas.microsoft.com/office/drawing/2014/main" id="{65A6B243-97B8-4243-9FCE-FDD92D4E532E}"/>
              </a:ext>
            </a:extLst>
          </p:cNvPr>
          <p:cNvSpPr>
            <a:spLocks xmlns:a="http://schemas.openxmlformats.org/drawingml/2006/main" noGrp="1"/>
          </p:cNvSpPr>
          <p:nvPr/>
        </p:nvSpPr>
        <p:spPr>
          <a:xfrm xmlns:a="http://schemas.openxmlformats.org/drawingml/2006/main">
            <a:off x="742950" y="160020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공공데이터 상태 · 호출 로그</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fa8ccd4556a4e9e"/>
          <a:stretch xmlns:a="http://schemas.openxmlformats.org/drawingml/2006/main"/>
        </p:blipFill>
        <p:spPr>
          <a:xfrm xmlns:a="http://schemas.openxmlformats.org/drawingml/2006/main">
            <a:off x="609600" y="1616228"/>
            <a:ext cx="6667500" cy="4197045"/>
          </a:xfrm>
          <a:prstGeom xmlns:a="http://schemas.openxmlformats.org/drawingml/2006/main" prst="roundRect">
            <a:avLst>
              <a:gd name="adj" fmla="val 2542"/>
            </a:avLst>
          </a:prstGeom>
        </p:spPr>
      </p:pic>
      <p:sp>
        <p:nvSpPr>
          <p:cNvPr id="12" name="">
            <a:extLst xmlns:a="http://schemas.openxmlformats.org/drawingml/2006/main">
              <a:ext uri="{FF2B5EF4-FFF2-40B4-BE49-F238E27FC236}">
                <a16:creationId xmlns:a16="http://schemas.microsoft.com/office/drawing/2014/main" id="{2FE30A37-14D5-42D7-80C7-F157B51D37AE}"/>
              </a:ext>
            </a:extLst>
          </p:cNvPr>
          <p:cNvSpPr>
            <a:spLocks xmlns:a="http://schemas.openxmlformats.org/drawingml/2006/main" noGrp="1"/>
          </p:cNvSpPr>
          <p:nvPr/>
        </p:nvSpPr>
        <p:spPr>
          <a:xfrm xmlns:a="http://schemas.openxmlformats.org/drawingml/2006/main">
            <a:off x="7829550" y="1466850"/>
            <a:ext cx="2381250" cy="285750"/>
          </a:xfrm>
          <a:prstGeom xmlns:a="http://schemas.openxmlformats.org/drawingml/2006/main" prst="roundRect">
            <a:avLst>
              <a:gd name="adj" fmla="val 40000"/>
            </a:avLst>
          </a:prstGeom>
          <a:solidFill xmlns:a="http://schemas.openxmlformats.org/drawingml/2006/main">
            <a:srgbClr val="007A53"/>
          </a:solidFill>
          <a:ln xmlns:a="http://schemas.openxmlformats.org/drawingml/2006/main" w="0">
            <a:solidFill>
              <a:srgbClr val="007A53"/>
            </a:solidFill>
            <a:prstDash val="solid"/>
          </a:ln>
        </p:spPr>
      </p:sp>
      <p:sp>
        <p:nvSpPr>
          <p:cNvPr id="13" name="">
            <a:extLst xmlns:a="http://schemas.openxmlformats.org/drawingml/2006/main">
              <a:ext uri="{FF2B5EF4-FFF2-40B4-BE49-F238E27FC236}">
                <a16:creationId xmlns:a16="http://schemas.microsoft.com/office/drawing/2014/main" id="{098147BE-DE2F-4289-B66C-89688847E955}"/>
              </a:ext>
            </a:extLst>
          </p:cNvPr>
          <p:cNvSpPr>
            <a:spLocks xmlns:a="http://schemas.openxmlformats.org/drawingml/2006/main" noGrp="1"/>
          </p:cNvSpPr>
          <p:nvPr/>
        </p:nvSpPr>
        <p:spPr>
          <a:xfrm xmlns:a="http://schemas.openxmlformats.org/drawingml/2006/main">
            <a:off x="7829550" y="1466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E2E SCENARIO VERIFIED</a:t>
            </a:r>
          </a:p>
        </p:txBody>
      </p:sp>
      <p:sp>
        <p:nvSpPr>
          <p:cNvPr id="14" name="">
            <a:extLst xmlns:a="http://schemas.openxmlformats.org/drawingml/2006/main">
              <a:ext uri="{FF2B5EF4-FFF2-40B4-BE49-F238E27FC236}">
                <a16:creationId xmlns:a16="http://schemas.microsoft.com/office/drawing/2014/main" id="{00535A55-0F75-42AD-A082-E57B89ED647E}"/>
              </a:ext>
            </a:extLst>
          </p:cNvPr>
          <p:cNvSpPr>
            <a:spLocks xmlns:a="http://schemas.openxmlformats.org/drawingml/2006/main" noGrp="1"/>
          </p:cNvSpPr>
          <p:nvPr/>
        </p:nvSpPr>
        <p:spPr>
          <a:xfrm xmlns:a="http://schemas.openxmlformats.org/drawingml/2006/main">
            <a:off x="7772400" y="21145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01</a:t>
            </a:r>
          </a:p>
        </p:txBody>
      </p:sp>
      <p:sp>
        <p:nvSpPr>
          <p:cNvPr id="15" name="">
            <a:extLst xmlns:a="http://schemas.openxmlformats.org/drawingml/2006/main">
              <a:ext uri="{FF2B5EF4-FFF2-40B4-BE49-F238E27FC236}">
                <a16:creationId xmlns:a16="http://schemas.microsoft.com/office/drawing/2014/main" id="{BF536722-CE91-4EA1-86B4-CC011D7D5751}"/>
              </a:ext>
            </a:extLst>
          </p:cNvPr>
          <p:cNvSpPr>
            <a:spLocks xmlns:a="http://schemas.openxmlformats.org/drawingml/2006/main" noGrp="1"/>
          </p:cNvSpPr>
          <p:nvPr/>
        </p:nvSpPr>
        <p:spPr>
          <a:xfrm xmlns:a="http://schemas.openxmlformats.org/drawingml/2006/main">
            <a:off x="8267700" y="20955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051C2C"/>
                </a:solidFill>
                <a:latin typeface="Noto Sans KR"/>
                <a:ea typeface="Noto Sans KR"/>
                <a:cs typeface="Noto Sans KR"/>
              </a:defRPr>
            </a:pPr>
            <a:r>
              <a:rPr sz="1650" b="1">
                <a:solidFill>
                  <a:srgbClr val="051C2C"/>
                </a:solidFill>
                <a:latin typeface="Noto Sans KR"/>
                <a:ea typeface="Noto Sans KR"/>
                <a:cs typeface="Noto Sans KR"/>
              </a:rPr>
              <a:t>5단계 완주</a:t>
            </a:r>
          </a:p>
        </p:txBody>
      </p:sp>
      <p:sp>
        <p:nvSpPr>
          <p:cNvPr id="16" name="">
            <a:extLst xmlns:a="http://schemas.openxmlformats.org/drawingml/2006/main">
              <a:ext uri="{FF2B5EF4-FFF2-40B4-BE49-F238E27FC236}">
                <a16:creationId xmlns:a16="http://schemas.microsoft.com/office/drawing/2014/main" id="{09862BBF-59F9-4097-B888-C53E3C792797}"/>
              </a:ext>
            </a:extLst>
          </p:cNvPr>
          <p:cNvSpPr>
            <a:spLocks xmlns:a="http://schemas.openxmlformats.org/drawingml/2006/main" noGrp="1"/>
          </p:cNvSpPr>
          <p:nvPr/>
        </p:nvSpPr>
        <p:spPr>
          <a:xfrm xmlns:a="http://schemas.openxmlformats.org/drawingml/2006/main">
            <a:off x="8267700" y="2514600"/>
            <a:ext cx="2990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기업 입력 → 후보국 → 국가 상세 → AI 판단 → PDF</a:t>
            </a:r>
          </a:p>
        </p:txBody>
      </p:sp>
      <p:sp>
        <p:nvSpPr>
          <p:cNvPr id="17" name="">
            <a:extLst xmlns:a="http://schemas.openxmlformats.org/drawingml/2006/main">
              <a:ext uri="{FF2B5EF4-FFF2-40B4-BE49-F238E27FC236}">
                <a16:creationId xmlns:a16="http://schemas.microsoft.com/office/drawing/2014/main" id="{8EE73B66-B50D-47DD-9D47-F40AE37785FC}"/>
              </a:ext>
            </a:extLst>
          </p:cNvPr>
          <p:cNvSpPr>
            <a:spLocks xmlns:a="http://schemas.openxmlformats.org/drawingml/2006/main" noGrp="1"/>
          </p:cNvSpPr>
          <p:nvPr/>
        </p:nvSpPr>
        <p:spPr>
          <a:xfrm xmlns:a="http://schemas.openxmlformats.org/drawingml/2006/main">
            <a:off x="7772400" y="3067050"/>
            <a:ext cx="348615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18" name="">
            <a:extLst xmlns:a="http://schemas.openxmlformats.org/drawingml/2006/main">
              <a:ext uri="{FF2B5EF4-FFF2-40B4-BE49-F238E27FC236}">
                <a16:creationId xmlns:a16="http://schemas.microsoft.com/office/drawing/2014/main" id="{920708CD-57AE-4CC6-AED0-7E6D18CF7D40}"/>
              </a:ext>
            </a:extLst>
          </p:cNvPr>
          <p:cNvSpPr>
            <a:spLocks xmlns:a="http://schemas.openxmlformats.org/drawingml/2006/main" noGrp="1"/>
          </p:cNvSpPr>
          <p:nvPr/>
        </p:nvSpPr>
        <p:spPr>
          <a:xfrm xmlns:a="http://schemas.openxmlformats.org/drawingml/2006/main">
            <a:off x="7772400" y="32194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02</a:t>
            </a:r>
          </a:p>
        </p:txBody>
      </p:sp>
      <p:sp>
        <p:nvSpPr>
          <p:cNvPr id="19" name="">
            <a:extLst xmlns:a="http://schemas.openxmlformats.org/drawingml/2006/main">
              <a:ext uri="{FF2B5EF4-FFF2-40B4-BE49-F238E27FC236}">
                <a16:creationId xmlns:a16="http://schemas.microsoft.com/office/drawing/2014/main" id="{418EBDF8-F9EC-45BC-BD8B-BC9E93528D3D}"/>
              </a:ext>
            </a:extLst>
          </p:cNvPr>
          <p:cNvSpPr>
            <a:spLocks xmlns:a="http://schemas.openxmlformats.org/drawingml/2006/main" noGrp="1"/>
          </p:cNvSpPr>
          <p:nvPr/>
        </p:nvSpPr>
        <p:spPr>
          <a:xfrm xmlns:a="http://schemas.openxmlformats.org/drawingml/2006/main">
            <a:off x="8267700" y="32004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051C2C"/>
                </a:solidFill>
                <a:latin typeface="Noto Sans KR"/>
                <a:ea typeface="Noto Sans KR"/>
                <a:cs typeface="Noto Sans KR"/>
              </a:defRPr>
            </a:pPr>
            <a:r>
              <a:rPr sz="1650" b="1">
                <a:solidFill>
                  <a:srgbClr val="051C2C"/>
                </a:solidFill>
                <a:latin typeface="Noto Sans KR"/>
                <a:ea typeface="Noto Sans KR"/>
                <a:cs typeface="Noto Sans KR"/>
              </a:rPr>
              <a:t>10종 API 관측</a:t>
            </a:r>
          </a:p>
        </p:txBody>
      </p:sp>
      <p:sp>
        <p:nvSpPr>
          <p:cNvPr id="20" name="">
            <a:extLst xmlns:a="http://schemas.openxmlformats.org/drawingml/2006/main">
              <a:ext uri="{FF2B5EF4-FFF2-40B4-BE49-F238E27FC236}">
                <a16:creationId xmlns:a16="http://schemas.microsoft.com/office/drawing/2014/main" id="{A4543CFE-180D-49A2-AA31-D9277175143D}"/>
              </a:ext>
            </a:extLst>
          </p:cNvPr>
          <p:cNvSpPr>
            <a:spLocks xmlns:a="http://schemas.openxmlformats.org/drawingml/2006/main" noGrp="1"/>
          </p:cNvSpPr>
          <p:nvPr/>
        </p:nvSpPr>
        <p:spPr>
          <a:xfrm xmlns:a="http://schemas.openxmlformats.org/drawingml/2006/main">
            <a:off x="8267700" y="3619500"/>
            <a:ext cx="2990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성공 · 부분 · 대기 상태와 호출 로그 확인</a:t>
            </a:r>
          </a:p>
        </p:txBody>
      </p:sp>
      <p:sp>
        <p:nvSpPr>
          <p:cNvPr id="21" name="">
            <a:extLst xmlns:a="http://schemas.openxmlformats.org/drawingml/2006/main">
              <a:ext uri="{FF2B5EF4-FFF2-40B4-BE49-F238E27FC236}">
                <a16:creationId xmlns:a16="http://schemas.microsoft.com/office/drawing/2014/main" id="{6FC7BC13-6E3E-424F-B1F6-AA7B09B83F13}"/>
              </a:ext>
            </a:extLst>
          </p:cNvPr>
          <p:cNvSpPr>
            <a:spLocks xmlns:a="http://schemas.openxmlformats.org/drawingml/2006/main" noGrp="1"/>
          </p:cNvSpPr>
          <p:nvPr/>
        </p:nvSpPr>
        <p:spPr>
          <a:xfrm xmlns:a="http://schemas.openxmlformats.org/drawingml/2006/main">
            <a:off x="7772400" y="4171950"/>
            <a:ext cx="348615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2" name="">
            <a:extLst xmlns:a="http://schemas.openxmlformats.org/drawingml/2006/main">
              <a:ext uri="{FF2B5EF4-FFF2-40B4-BE49-F238E27FC236}">
                <a16:creationId xmlns:a16="http://schemas.microsoft.com/office/drawing/2014/main" id="{02890E80-6501-4F5D-B6AF-C8CDFF8681C2}"/>
              </a:ext>
            </a:extLst>
          </p:cNvPr>
          <p:cNvSpPr>
            <a:spLocks xmlns:a="http://schemas.openxmlformats.org/drawingml/2006/main" noGrp="1"/>
          </p:cNvSpPr>
          <p:nvPr/>
        </p:nvSpPr>
        <p:spPr>
          <a:xfrm xmlns:a="http://schemas.openxmlformats.org/drawingml/2006/main">
            <a:off x="7772400" y="43243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03</a:t>
            </a:r>
          </a:p>
        </p:txBody>
      </p:sp>
      <p:sp>
        <p:nvSpPr>
          <p:cNvPr id="23" name="">
            <a:extLst xmlns:a="http://schemas.openxmlformats.org/drawingml/2006/main">
              <a:ext uri="{FF2B5EF4-FFF2-40B4-BE49-F238E27FC236}">
                <a16:creationId xmlns:a16="http://schemas.microsoft.com/office/drawing/2014/main" id="{18BC1DC4-D4FF-45E3-8966-60B194B573D3}"/>
              </a:ext>
            </a:extLst>
          </p:cNvPr>
          <p:cNvSpPr>
            <a:spLocks xmlns:a="http://schemas.openxmlformats.org/drawingml/2006/main" noGrp="1"/>
          </p:cNvSpPr>
          <p:nvPr/>
        </p:nvSpPr>
        <p:spPr>
          <a:xfrm xmlns:a="http://schemas.openxmlformats.org/drawingml/2006/main">
            <a:off x="8267700" y="43053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051C2C"/>
                </a:solidFill>
                <a:latin typeface="Noto Sans KR"/>
                <a:ea typeface="Noto Sans KR"/>
                <a:cs typeface="Noto Sans KR"/>
              </a:defRPr>
            </a:pPr>
            <a:r>
              <a:rPr sz="1650" b="1">
                <a:solidFill>
                  <a:srgbClr val="051C2C"/>
                </a:solidFill>
                <a:latin typeface="Noto Sans KR"/>
                <a:ea typeface="Noto Sans KR"/>
                <a:cs typeface="Noto Sans KR"/>
              </a:rPr>
              <a:t>산출물 생성</a:t>
            </a:r>
          </a:p>
        </p:txBody>
      </p:sp>
      <p:sp>
        <p:nvSpPr>
          <p:cNvPr id="24" name="">
            <a:extLst xmlns:a="http://schemas.openxmlformats.org/drawingml/2006/main">
              <a:ext uri="{FF2B5EF4-FFF2-40B4-BE49-F238E27FC236}">
                <a16:creationId xmlns:a16="http://schemas.microsoft.com/office/drawing/2014/main" id="{B1444673-CB37-4380-A7B8-1311D0028CD4}"/>
              </a:ext>
            </a:extLst>
          </p:cNvPr>
          <p:cNvSpPr>
            <a:spLocks xmlns:a="http://schemas.openxmlformats.org/drawingml/2006/main" noGrp="1"/>
          </p:cNvSpPr>
          <p:nvPr/>
        </p:nvSpPr>
        <p:spPr>
          <a:xfrm xmlns:a="http://schemas.openxmlformats.org/drawingml/2006/main">
            <a:off x="8267700" y="4724400"/>
            <a:ext cx="2990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조건부 판단과 실행 리포트 PDF 생성</a:t>
            </a:r>
          </a:p>
        </p:txBody>
      </p:sp>
      <p:sp>
        <p:nvSpPr>
          <p:cNvPr id="25" name="">
            <a:extLst xmlns:a="http://schemas.openxmlformats.org/drawingml/2006/main">
              <a:ext uri="{FF2B5EF4-FFF2-40B4-BE49-F238E27FC236}">
                <a16:creationId xmlns:a16="http://schemas.microsoft.com/office/drawing/2014/main" id="{64439AC7-AC58-4488-9770-F08683CBF4FD}"/>
              </a:ext>
            </a:extLst>
          </p:cNvPr>
          <p:cNvSpPr>
            <a:spLocks xmlns:a="http://schemas.openxmlformats.org/drawingml/2006/main" noGrp="1"/>
          </p:cNvSpPr>
          <p:nvPr/>
        </p:nvSpPr>
        <p:spPr>
          <a:xfrm xmlns:a="http://schemas.openxmlformats.org/drawingml/2006/main">
            <a:off x="7772400" y="5276850"/>
            <a:ext cx="348615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6" name="">
            <a:extLst xmlns:a="http://schemas.openxmlformats.org/drawingml/2006/main">
              <a:ext uri="{FF2B5EF4-FFF2-40B4-BE49-F238E27FC236}">
                <a16:creationId xmlns:a16="http://schemas.microsoft.com/office/drawing/2014/main" id="{970E0F7C-47B5-4A78-9F7B-226A36ED0B1D}"/>
              </a:ext>
            </a:extLst>
          </p:cNvPr>
          <p:cNvSpPr>
            <a:spLocks xmlns:a="http://schemas.openxmlformats.org/drawingml/2006/main" noGrp="1"/>
          </p:cNvSpPr>
          <p:nvPr/>
        </p:nvSpPr>
        <p:spPr>
          <a:xfrm xmlns:a="http://schemas.openxmlformats.org/drawingml/2006/main">
            <a:off x="7772400" y="5391150"/>
            <a:ext cx="3486150" cy="571500"/>
          </a:xfrm>
          <a:prstGeom xmlns:a="http://schemas.openxmlformats.org/drawingml/2006/main" prst="roundRect">
            <a:avLst>
              <a:gd name="adj" fmla="val 20000"/>
            </a:avLst>
          </a:prstGeom>
          <a:solidFill xmlns:a="http://schemas.openxmlformats.org/drawingml/2006/main">
            <a:srgbClr val="FFF3E0"/>
          </a:solidFill>
          <a:ln xmlns:a="http://schemas.openxmlformats.org/drawingml/2006/main" w="0">
            <a:solidFill>
              <a:srgbClr val="FFF3E0"/>
            </a:solidFill>
            <a:prstDash val="solid"/>
          </a:ln>
        </p:spPr>
      </p:sp>
      <p:sp>
        <p:nvSpPr>
          <p:cNvPr id="27" name="">
            <a:extLst xmlns:a="http://schemas.openxmlformats.org/drawingml/2006/main">
              <a:ext uri="{FF2B5EF4-FFF2-40B4-BE49-F238E27FC236}">
                <a16:creationId xmlns:a16="http://schemas.microsoft.com/office/drawing/2014/main" id="{DB9B81D0-2225-4EC0-8DD0-903ACA460060}"/>
              </a:ext>
            </a:extLst>
          </p:cNvPr>
          <p:cNvSpPr>
            <a:spLocks xmlns:a="http://schemas.openxmlformats.org/drawingml/2006/main" noGrp="1"/>
          </p:cNvSpPr>
          <p:nvPr/>
        </p:nvSpPr>
        <p:spPr>
          <a:xfrm xmlns:a="http://schemas.openxmlformats.org/drawingml/2006/main">
            <a:off x="7943850" y="54864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D46A00"/>
                </a:solidFill>
                <a:latin typeface="Noto Sans KR"/>
                <a:ea typeface="Noto Sans KR"/>
                <a:cs typeface="Noto Sans KR"/>
              </a:defRPr>
            </a:pPr>
            <a:r>
              <a:rPr sz="1125" b="1">
                <a:solidFill>
                  <a:srgbClr val="D46A00"/>
                </a:solidFill>
                <a:latin typeface="Noto Sans KR"/>
                <a:ea typeface="Noto Sans KR"/>
                <a:cs typeface="Noto Sans KR"/>
              </a:rPr>
              <a:t>다음: 사용자 파일럿으로 시간·누락·유용성 측정</a:t>
            </a:r>
          </a:p>
        </p:txBody>
      </p:sp>
    </p:spTree>
    <p:extLst>
      <p:ext uri="{BB962C8B-B14F-4D97-AF65-F5344CB8AC3E}">
        <p14:creationId xmlns:p14="http://schemas.microsoft.com/office/powerpoint/2010/main" val="15681348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1B8B8808-038B-4617-B840-E63D206DFEEA}"/>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BUSINESS MODEL</a:t>
            </a:r>
          </a:p>
        </p:txBody>
      </p:sp>
      <p:sp>
        <p:nvSpPr>
          <p:cNvPr id="2" name="slide-13-title">
            <a:extLst xmlns:a="http://schemas.openxmlformats.org/drawingml/2006/main">
              <a:ext uri="{FF2B5EF4-FFF2-40B4-BE49-F238E27FC236}">
                <a16:creationId xmlns:a16="http://schemas.microsoft.com/office/drawing/2014/main" id="{5C997833-7EE6-453D-8451-FA508C4E09AD}"/>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B2B SaaS로 시작해 기관 라이선스와 API 반복매출로 확장합니다</a:t>
            </a:r>
          </a:p>
        </p:txBody>
      </p:sp>
      <p:sp>
        <p:nvSpPr>
          <p:cNvPr id="3" name="">
            <a:extLst xmlns:a="http://schemas.openxmlformats.org/drawingml/2006/main">
              <a:ext uri="{FF2B5EF4-FFF2-40B4-BE49-F238E27FC236}">
                <a16:creationId xmlns:a16="http://schemas.microsoft.com/office/drawing/2014/main" id="{12793D49-7EE5-4C0D-85DE-14D439310939}"/>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DBDB3B4F-6B0B-4F83-87E7-2C58B22B0024}"/>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4A95F1D9-EDE3-439F-84B4-FADAE15F5AE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B45AF7D0-1FEB-4E4C-8EBF-B9260418D731}"/>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제안 사업·운영 모델</a:t>
            </a:r>
          </a:p>
        </p:txBody>
      </p:sp>
      <p:sp>
        <p:nvSpPr>
          <p:cNvPr id="7" name="">
            <a:extLst xmlns:a="http://schemas.openxmlformats.org/drawingml/2006/main">
              <a:ext uri="{FF2B5EF4-FFF2-40B4-BE49-F238E27FC236}">
                <a16:creationId xmlns:a16="http://schemas.microsoft.com/office/drawing/2014/main" id="{D2DA14EF-F8EB-4FDF-8802-38D581DCB206}"/>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13</a:t>
            </a:r>
          </a:p>
        </p:txBody>
      </p:sp>
      <p:sp>
        <p:nvSpPr>
          <p:cNvPr id="8" name="">
            <a:extLst xmlns:a="http://schemas.openxmlformats.org/drawingml/2006/main">
              <a:ext uri="{FF2B5EF4-FFF2-40B4-BE49-F238E27FC236}">
                <a16:creationId xmlns:a16="http://schemas.microsoft.com/office/drawing/2014/main" id="{E5680B56-9D54-40EA-A6F1-EA56AB7F503D}"/>
              </a:ext>
            </a:extLst>
          </p:cNvPr>
          <p:cNvSpPr>
            <a:spLocks xmlns:a="http://schemas.openxmlformats.org/drawingml/2006/main" noGrp="1"/>
          </p:cNvSpPr>
          <p:nvPr/>
        </p:nvSpPr>
        <p:spPr>
          <a:xfrm xmlns:a="http://schemas.openxmlformats.org/drawingml/2006/main">
            <a:off x="685800" y="1447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01</a:t>
            </a:r>
          </a:p>
        </p:txBody>
      </p:sp>
      <p:sp>
        <p:nvSpPr>
          <p:cNvPr id="9" name="">
            <a:extLst xmlns:a="http://schemas.openxmlformats.org/drawingml/2006/main">
              <a:ext uri="{FF2B5EF4-FFF2-40B4-BE49-F238E27FC236}">
                <a16:creationId xmlns:a16="http://schemas.microsoft.com/office/drawing/2014/main" id="{3252F981-581C-47F0-A8A8-2E0C01C5C0CC}"/>
              </a:ext>
            </a:extLst>
          </p:cNvPr>
          <p:cNvSpPr>
            <a:spLocks xmlns:a="http://schemas.openxmlformats.org/drawingml/2006/main" noGrp="1"/>
          </p:cNvSpPr>
          <p:nvPr/>
        </p:nvSpPr>
        <p:spPr>
          <a:xfrm xmlns:a="http://schemas.openxmlformats.org/drawingml/2006/main">
            <a:off x="1200150" y="1409700"/>
            <a:ext cx="1466850" cy="285750"/>
          </a:xfrm>
          <a:prstGeom xmlns:a="http://schemas.openxmlformats.org/drawingml/2006/main" prst="roundRect">
            <a:avLst>
              <a:gd name="adj" fmla="val 40000"/>
            </a:avLst>
          </a:prstGeom>
          <a:solidFill xmlns:a="http://schemas.openxmlformats.org/drawingml/2006/main">
            <a:srgbClr val="051C2C"/>
          </a:solidFill>
          <a:ln xmlns:a="http://schemas.openxmlformats.org/drawingml/2006/main" w="0">
            <a:solidFill>
              <a:srgbClr val="051C2C"/>
            </a:solidFill>
            <a:prstDash val="solid"/>
          </a:ln>
        </p:spPr>
      </p:sp>
      <p:sp>
        <p:nvSpPr>
          <p:cNvPr id="10" name="">
            <a:extLst xmlns:a="http://schemas.openxmlformats.org/drawingml/2006/main">
              <a:ext uri="{FF2B5EF4-FFF2-40B4-BE49-F238E27FC236}">
                <a16:creationId xmlns:a16="http://schemas.microsoft.com/office/drawing/2014/main" id="{5F81227C-5EDB-434C-9CEC-A90B2EC96A29}"/>
              </a:ext>
            </a:extLst>
          </p:cNvPr>
          <p:cNvSpPr>
            <a:spLocks xmlns:a="http://schemas.openxmlformats.org/drawingml/2006/main" noGrp="1"/>
          </p:cNvSpPr>
          <p:nvPr/>
        </p:nvSpPr>
        <p:spPr>
          <a:xfrm xmlns:a="http://schemas.openxmlformats.org/drawingml/2006/main">
            <a:off x="1200150" y="14097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B2B SaaS</a:t>
            </a:r>
          </a:p>
        </p:txBody>
      </p:sp>
      <p:sp>
        <p:nvSpPr>
          <p:cNvPr id="11" name="">
            <a:extLst xmlns:a="http://schemas.openxmlformats.org/drawingml/2006/main">
              <a:ext uri="{FF2B5EF4-FFF2-40B4-BE49-F238E27FC236}">
                <a16:creationId xmlns:a16="http://schemas.microsoft.com/office/drawing/2014/main" id="{B9E9C085-8ABC-4A7B-8CBB-A754AAA3A359}"/>
              </a:ext>
            </a:extLst>
          </p:cNvPr>
          <p:cNvSpPr>
            <a:spLocks xmlns:a="http://schemas.openxmlformats.org/drawingml/2006/main" noGrp="1"/>
          </p:cNvSpPr>
          <p:nvPr/>
        </p:nvSpPr>
        <p:spPr>
          <a:xfrm xmlns:a="http://schemas.openxmlformats.org/drawingml/2006/main">
            <a:off x="685800" y="19812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제조기업</a:t>
            </a:r>
          </a:p>
        </p:txBody>
      </p:sp>
      <p:sp>
        <p:nvSpPr>
          <p:cNvPr id="12" name="">
            <a:extLst xmlns:a="http://schemas.openxmlformats.org/drawingml/2006/main">
              <a:ext uri="{FF2B5EF4-FFF2-40B4-BE49-F238E27FC236}">
                <a16:creationId xmlns:a16="http://schemas.microsoft.com/office/drawing/2014/main" id="{C186EFB6-93DF-4925-8F32-D3BB5DA959F6}"/>
              </a:ext>
            </a:extLst>
          </p:cNvPr>
          <p:cNvSpPr>
            <a:spLocks xmlns:a="http://schemas.openxmlformats.org/drawingml/2006/main" noGrp="1"/>
          </p:cNvSpPr>
          <p:nvPr/>
        </p:nvSpPr>
        <p:spPr>
          <a:xfrm xmlns:a="http://schemas.openxmlformats.org/drawingml/2006/main">
            <a:off x="685800" y="2609850"/>
            <a:ext cx="30480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13" name="">
            <a:extLst xmlns:a="http://schemas.openxmlformats.org/drawingml/2006/main">
              <a:ext uri="{FF2B5EF4-FFF2-40B4-BE49-F238E27FC236}">
                <a16:creationId xmlns:a16="http://schemas.microsoft.com/office/drawing/2014/main" id="{24167991-93DC-43BF-829B-316B215F9D85}"/>
              </a:ext>
            </a:extLst>
          </p:cNvPr>
          <p:cNvSpPr>
            <a:spLocks xmlns:a="http://schemas.openxmlformats.org/drawingml/2006/main" noGrp="1"/>
          </p:cNvSpPr>
          <p:nvPr/>
        </p:nvSpPr>
        <p:spPr>
          <a:xfrm xmlns:a="http://schemas.openxmlformats.org/drawingml/2006/main">
            <a:off x="685800" y="28003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상품</a:t>
            </a:r>
          </a:p>
        </p:txBody>
      </p:sp>
      <p:sp>
        <p:nvSpPr>
          <p:cNvPr id="14" name="">
            <a:extLst xmlns:a="http://schemas.openxmlformats.org/drawingml/2006/main">
              <a:ext uri="{FF2B5EF4-FFF2-40B4-BE49-F238E27FC236}">
                <a16:creationId xmlns:a16="http://schemas.microsoft.com/office/drawing/2014/main" id="{3E3AD1DC-089E-4B6A-A603-F00EA27027B0}"/>
              </a:ext>
            </a:extLst>
          </p:cNvPr>
          <p:cNvSpPr>
            <a:spLocks xmlns:a="http://schemas.openxmlformats.org/drawingml/2006/main" noGrp="1"/>
          </p:cNvSpPr>
          <p:nvPr/>
        </p:nvSpPr>
        <p:spPr>
          <a:xfrm xmlns:a="http://schemas.openxmlformats.org/drawingml/2006/main">
            <a:off x="685800" y="3105150"/>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프로젝트·좌석형 분석</a:t>
            </a:r>
          </a:p>
        </p:txBody>
      </p:sp>
      <p:sp>
        <p:nvSpPr>
          <p:cNvPr id="15" name="">
            <a:extLst xmlns:a="http://schemas.openxmlformats.org/drawingml/2006/main">
              <a:ext uri="{FF2B5EF4-FFF2-40B4-BE49-F238E27FC236}">
                <a16:creationId xmlns:a16="http://schemas.microsoft.com/office/drawing/2014/main" id="{CBE8492F-FA87-40CC-BB3E-7F0E3C3D5CA0}"/>
              </a:ext>
            </a:extLst>
          </p:cNvPr>
          <p:cNvSpPr>
            <a:spLocks xmlns:a="http://schemas.openxmlformats.org/drawingml/2006/main" noGrp="1"/>
          </p:cNvSpPr>
          <p:nvPr/>
        </p:nvSpPr>
        <p:spPr>
          <a:xfrm xmlns:a="http://schemas.openxmlformats.org/drawingml/2006/main">
            <a:off x="685800" y="38481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수익</a:t>
            </a:r>
          </a:p>
        </p:txBody>
      </p:sp>
      <p:sp>
        <p:nvSpPr>
          <p:cNvPr id="16" name="">
            <a:extLst xmlns:a="http://schemas.openxmlformats.org/drawingml/2006/main">
              <a:ext uri="{FF2B5EF4-FFF2-40B4-BE49-F238E27FC236}">
                <a16:creationId xmlns:a16="http://schemas.microsoft.com/office/drawing/2014/main" id="{E7A1ACD0-773D-4514-AD5E-627AF02CEB1F}"/>
              </a:ext>
            </a:extLst>
          </p:cNvPr>
          <p:cNvSpPr>
            <a:spLocks xmlns:a="http://schemas.openxmlformats.org/drawingml/2006/main" noGrp="1"/>
          </p:cNvSpPr>
          <p:nvPr/>
        </p:nvSpPr>
        <p:spPr>
          <a:xfrm xmlns:a="http://schemas.openxmlformats.org/drawingml/2006/main">
            <a:off x="685800" y="415290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월·연 구독</a:t>
            </a:r>
          </a:p>
        </p:txBody>
      </p:sp>
      <p:sp>
        <p:nvSpPr>
          <p:cNvPr id="17" name="">
            <a:extLst xmlns:a="http://schemas.openxmlformats.org/drawingml/2006/main">
              <a:ext uri="{FF2B5EF4-FFF2-40B4-BE49-F238E27FC236}">
                <a16:creationId xmlns:a16="http://schemas.microsoft.com/office/drawing/2014/main" id="{D02CD937-8B6F-4108-9092-29B53F0A952E}"/>
              </a:ext>
            </a:extLst>
          </p:cNvPr>
          <p:cNvSpPr>
            <a:spLocks xmlns:a="http://schemas.openxmlformats.org/drawingml/2006/main" noGrp="1"/>
          </p:cNvSpPr>
          <p:nvPr/>
        </p:nvSpPr>
        <p:spPr>
          <a:xfrm xmlns:a="http://schemas.openxmlformats.org/drawingml/2006/main">
            <a:off x="3733800" y="2857500"/>
            <a:ext cx="552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00A58A"/>
                </a:solidFill>
                <a:latin typeface="Noto Sans KR"/>
                <a:ea typeface="Noto Sans KR"/>
                <a:cs typeface="Noto Sans KR"/>
              </a:defRPr>
            </a:pPr>
            <a:r>
              <a:rPr sz="2550" b="1">
                <a:solidFill>
                  <a:srgbClr val="00A58A"/>
                </a:solidFill>
                <a:latin typeface="Noto Sans KR"/>
                <a:ea typeface="Noto Sans KR"/>
                <a:cs typeface="Noto Sans KR"/>
              </a:rPr>
              <a:t>→</a:t>
            </a:r>
          </a:p>
        </p:txBody>
      </p:sp>
      <p:sp>
        <p:nvSpPr>
          <p:cNvPr id="18" name="">
            <a:extLst xmlns:a="http://schemas.openxmlformats.org/drawingml/2006/main">
              <a:ext uri="{FF2B5EF4-FFF2-40B4-BE49-F238E27FC236}">
                <a16:creationId xmlns:a16="http://schemas.microsoft.com/office/drawing/2014/main" id="{385A0107-DC06-40C9-B96D-21169DA8EB76}"/>
              </a:ext>
            </a:extLst>
          </p:cNvPr>
          <p:cNvSpPr>
            <a:spLocks xmlns:a="http://schemas.openxmlformats.org/drawingml/2006/main" noGrp="1"/>
          </p:cNvSpPr>
          <p:nvPr/>
        </p:nvSpPr>
        <p:spPr>
          <a:xfrm xmlns:a="http://schemas.openxmlformats.org/drawingml/2006/main">
            <a:off x="4286250" y="1447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02</a:t>
            </a:r>
          </a:p>
        </p:txBody>
      </p:sp>
      <p:sp>
        <p:nvSpPr>
          <p:cNvPr id="19" name="">
            <a:extLst xmlns:a="http://schemas.openxmlformats.org/drawingml/2006/main">
              <a:ext uri="{FF2B5EF4-FFF2-40B4-BE49-F238E27FC236}">
                <a16:creationId xmlns:a16="http://schemas.microsoft.com/office/drawing/2014/main" id="{DF2ABA15-17E0-487F-BF21-A1805FDF4A37}"/>
              </a:ext>
            </a:extLst>
          </p:cNvPr>
          <p:cNvSpPr>
            <a:spLocks xmlns:a="http://schemas.openxmlformats.org/drawingml/2006/main" noGrp="1"/>
          </p:cNvSpPr>
          <p:nvPr/>
        </p:nvSpPr>
        <p:spPr>
          <a:xfrm xmlns:a="http://schemas.openxmlformats.org/drawingml/2006/main">
            <a:off x="4800600" y="1409700"/>
            <a:ext cx="1466850" cy="285750"/>
          </a:xfrm>
          <a:prstGeom xmlns:a="http://schemas.openxmlformats.org/drawingml/2006/main" prst="roundRect">
            <a:avLst>
              <a:gd name="adj" fmla="val 40000"/>
            </a:avLst>
          </a:prstGeom>
          <a:solidFill xmlns:a="http://schemas.openxmlformats.org/drawingml/2006/main">
            <a:srgbClr val="051C2C"/>
          </a:solidFill>
          <a:ln xmlns:a="http://schemas.openxmlformats.org/drawingml/2006/main" w="0">
            <a:solidFill>
              <a:srgbClr val="051C2C"/>
            </a:solidFill>
            <a:prstDash val="solid"/>
          </a:ln>
        </p:spPr>
      </p:sp>
      <p:sp>
        <p:nvSpPr>
          <p:cNvPr id="20" name="">
            <a:extLst xmlns:a="http://schemas.openxmlformats.org/drawingml/2006/main">
              <a:ext uri="{FF2B5EF4-FFF2-40B4-BE49-F238E27FC236}">
                <a16:creationId xmlns:a16="http://schemas.microsoft.com/office/drawing/2014/main" id="{DFB8EB37-0789-4C65-BF25-AE0D55A431F4}"/>
              </a:ext>
            </a:extLst>
          </p:cNvPr>
          <p:cNvSpPr>
            <a:spLocks xmlns:a="http://schemas.openxmlformats.org/drawingml/2006/main" noGrp="1"/>
          </p:cNvSpPr>
          <p:nvPr/>
        </p:nvSpPr>
        <p:spPr>
          <a:xfrm xmlns:a="http://schemas.openxmlformats.org/drawingml/2006/main">
            <a:off x="4800600" y="14097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B2G LICENSE</a:t>
            </a:r>
          </a:p>
        </p:txBody>
      </p:sp>
      <p:sp>
        <p:nvSpPr>
          <p:cNvPr id="21" name="">
            <a:extLst xmlns:a="http://schemas.openxmlformats.org/drawingml/2006/main">
              <a:ext uri="{FF2B5EF4-FFF2-40B4-BE49-F238E27FC236}">
                <a16:creationId xmlns:a16="http://schemas.microsoft.com/office/drawing/2014/main" id="{A34E28B6-F15B-413E-885D-CE3CF5D84CB2}"/>
              </a:ext>
            </a:extLst>
          </p:cNvPr>
          <p:cNvSpPr>
            <a:spLocks xmlns:a="http://schemas.openxmlformats.org/drawingml/2006/main" noGrp="1"/>
          </p:cNvSpPr>
          <p:nvPr/>
        </p:nvSpPr>
        <p:spPr>
          <a:xfrm xmlns:a="http://schemas.openxmlformats.org/drawingml/2006/main">
            <a:off x="4286250" y="19812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산단·지자체·TP</a:t>
            </a:r>
          </a:p>
        </p:txBody>
      </p:sp>
      <p:sp>
        <p:nvSpPr>
          <p:cNvPr id="22" name="">
            <a:extLst xmlns:a="http://schemas.openxmlformats.org/drawingml/2006/main">
              <a:ext uri="{FF2B5EF4-FFF2-40B4-BE49-F238E27FC236}">
                <a16:creationId xmlns:a16="http://schemas.microsoft.com/office/drawing/2014/main" id="{89CC4853-0469-4861-95B7-0612D367AA44}"/>
              </a:ext>
            </a:extLst>
          </p:cNvPr>
          <p:cNvSpPr>
            <a:spLocks xmlns:a="http://schemas.openxmlformats.org/drawingml/2006/main" noGrp="1"/>
          </p:cNvSpPr>
          <p:nvPr/>
        </p:nvSpPr>
        <p:spPr>
          <a:xfrm xmlns:a="http://schemas.openxmlformats.org/drawingml/2006/main">
            <a:off x="4286250" y="2609850"/>
            <a:ext cx="30480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23" name="">
            <a:extLst xmlns:a="http://schemas.openxmlformats.org/drawingml/2006/main">
              <a:ext uri="{FF2B5EF4-FFF2-40B4-BE49-F238E27FC236}">
                <a16:creationId xmlns:a16="http://schemas.microsoft.com/office/drawing/2014/main" id="{63934408-E550-404C-9954-FADAF25E6212}"/>
              </a:ext>
            </a:extLst>
          </p:cNvPr>
          <p:cNvSpPr>
            <a:spLocks xmlns:a="http://schemas.openxmlformats.org/drawingml/2006/main" noGrp="1"/>
          </p:cNvSpPr>
          <p:nvPr/>
        </p:nvSpPr>
        <p:spPr>
          <a:xfrm xmlns:a="http://schemas.openxmlformats.org/drawingml/2006/main">
            <a:off x="4286250" y="28003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상품</a:t>
            </a:r>
          </a:p>
        </p:txBody>
      </p:sp>
      <p:sp>
        <p:nvSpPr>
          <p:cNvPr id="24" name="">
            <a:extLst xmlns:a="http://schemas.openxmlformats.org/drawingml/2006/main">
              <a:ext uri="{FF2B5EF4-FFF2-40B4-BE49-F238E27FC236}">
                <a16:creationId xmlns:a16="http://schemas.microsoft.com/office/drawing/2014/main" id="{E77BA6F3-9197-4C59-AEF8-78016C21E4BD}"/>
              </a:ext>
            </a:extLst>
          </p:cNvPr>
          <p:cNvSpPr>
            <a:spLocks xmlns:a="http://schemas.openxmlformats.org/drawingml/2006/main" noGrp="1"/>
          </p:cNvSpPr>
          <p:nvPr/>
        </p:nvSpPr>
        <p:spPr>
          <a:xfrm xmlns:a="http://schemas.openxmlformats.org/drawingml/2006/main">
            <a:off x="4286250" y="3105150"/>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기관 대시보드·화이트라벨</a:t>
            </a:r>
          </a:p>
        </p:txBody>
      </p:sp>
      <p:sp>
        <p:nvSpPr>
          <p:cNvPr id="25" name="">
            <a:extLst xmlns:a="http://schemas.openxmlformats.org/drawingml/2006/main">
              <a:ext uri="{FF2B5EF4-FFF2-40B4-BE49-F238E27FC236}">
                <a16:creationId xmlns:a16="http://schemas.microsoft.com/office/drawing/2014/main" id="{9380F58F-0361-45CC-8AA0-6D1953662731}"/>
              </a:ext>
            </a:extLst>
          </p:cNvPr>
          <p:cNvSpPr>
            <a:spLocks xmlns:a="http://schemas.openxmlformats.org/drawingml/2006/main" noGrp="1"/>
          </p:cNvSpPr>
          <p:nvPr/>
        </p:nvSpPr>
        <p:spPr>
          <a:xfrm xmlns:a="http://schemas.openxmlformats.org/drawingml/2006/main">
            <a:off x="4286250" y="38481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수익</a:t>
            </a:r>
          </a:p>
        </p:txBody>
      </p:sp>
      <p:sp>
        <p:nvSpPr>
          <p:cNvPr id="26" name="">
            <a:extLst xmlns:a="http://schemas.openxmlformats.org/drawingml/2006/main">
              <a:ext uri="{FF2B5EF4-FFF2-40B4-BE49-F238E27FC236}">
                <a16:creationId xmlns:a16="http://schemas.microsoft.com/office/drawing/2014/main" id="{286F6BF3-8A69-49F5-9753-2DBB895835EA}"/>
              </a:ext>
            </a:extLst>
          </p:cNvPr>
          <p:cNvSpPr>
            <a:spLocks xmlns:a="http://schemas.openxmlformats.org/drawingml/2006/main" noGrp="1"/>
          </p:cNvSpPr>
          <p:nvPr/>
        </p:nvSpPr>
        <p:spPr>
          <a:xfrm xmlns:a="http://schemas.openxmlformats.org/drawingml/2006/main">
            <a:off x="4286250" y="415290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연간 라이선스</a:t>
            </a:r>
          </a:p>
        </p:txBody>
      </p:sp>
      <p:sp>
        <p:nvSpPr>
          <p:cNvPr id="27" name="">
            <a:extLst xmlns:a="http://schemas.openxmlformats.org/drawingml/2006/main">
              <a:ext uri="{FF2B5EF4-FFF2-40B4-BE49-F238E27FC236}">
                <a16:creationId xmlns:a16="http://schemas.microsoft.com/office/drawing/2014/main" id="{9E1F58C5-E910-49DC-81D6-3EA8963F1FF3}"/>
              </a:ext>
            </a:extLst>
          </p:cNvPr>
          <p:cNvSpPr>
            <a:spLocks xmlns:a="http://schemas.openxmlformats.org/drawingml/2006/main" noGrp="1"/>
          </p:cNvSpPr>
          <p:nvPr/>
        </p:nvSpPr>
        <p:spPr>
          <a:xfrm xmlns:a="http://schemas.openxmlformats.org/drawingml/2006/main">
            <a:off x="7334250" y="2857500"/>
            <a:ext cx="552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00A58A"/>
                </a:solidFill>
                <a:latin typeface="Noto Sans KR"/>
                <a:ea typeface="Noto Sans KR"/>
                <a:cs typeface="Noto Sans KR"/>
              </a:defRPr>
            </a:pPr>
            <a:r>
              <a:rPr sz="2550" b="1">
                <a:solidFill>
                  <a:srgbClr val="00A58A"/>
                </a:solidFill>
                <a:latin typeface="Noto Sans KR"/>
                <a:ea typeface="Noto Sans KR"/>
                <a:cs typeface="Noto Sans KR"/>
              </a:rPr>
              <a:t>→</a:t>
            </a:r>
          </a:p>
        </p:txBody>
      </p:sp>
      <p:sp>
        <p:nvSpPr>
          <p:cNvPr id="28" name="">
            <a:extLst xmlns:a="http://schemas.openxmlformats.org/drawingml/2006/main">
              <a:ext uri="{FF2B5EF4-FFF2-40B4-BE49-F238E27FC236}">
                <a16:creationId xmlns:a16="http://schemas.microsoft.com/office/drawing/2014/main" id="{5EAFC140-93F4-4961-AFA1-F647CE33697B}"/>
              </a:ext>
            </a:extLst>
          </p:cNvPr>
          <p:cNvSpPr>
            <a:spLocks xmlns:a="http://schemas.openxmlformats.org/drawingml/2006/main" noGrp="1"/>
          </p:cNvSpPr>
          <p:nvPr/>
        </p:nvSpPr>
        <p:spPr>
          <a:xfrm xmlns:a="http://schemas.openxmlformats.org/drawingml/2006/main">
            <a:off x="7886700" y="1447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03</a:t>
            </a:r>
          </a:p>
        </p:txBody>
      </p:sp>
      <p:sp>
        <p:nvSpPr>
          <p:cNvPr id="29" name="">
            <a:extLst xmlns:a="http://schemas.openxmlformats.org/drawingml/2006/main">
              <a:ext uri="{FF2B5EF4-FFF2-40B4-BE49-F238E27FC236}">
                <a16:creationId xmlns:a16="http://schemas.microsoft.com/office/drawing/2014/main" id="{6124AB44-22B6-4417-BE18-E6BB641499C9}"/>
              </a:ext>
            </a:extLst>
          </p:cNvPr>
          <p:cNvSpPr>
            <a:spLocks xmlns:a="http://schemas.openxmlformats.org/drawingml/2006/main" noGrp="1"/>
          </p:cNvSpPr>
          <p:nvPr/>
        </p:nvSpPr>
        <p:spPr>
          <a:xfrm xmlns:a="http://schemas.openxmlformats.org/drawingml/2006/main">
            <a:off x="8401050" y="1409700"/>
            <a:ext cx="1466850" cy="285750"/>
          </a:xfrm>
          <a:prstGeom xmlns:a="http://schemas.openxmlformats.org/drawingml/2006/main" prst="roundRect">
            <a:avLst>
              <a:gd name="adj" fmla="val 40000"/>
            </a:avLst>
          </a:prstGeom>
          <a:solidFill xmlns:a="http://schemas.openxmlformats.org/drawingml/2006/main">
            <a:srgbClr val="00A58A"/>
          </a:solidFill>
          <a:ln xmlns:a="http://schemas.openxmlformats.org/drawingml/2006/main" w="0">
            <a:solidFill>
              <a:srgbClr val="00A58A"/>
            </a:solidFill>
            <a:prstDash val="solid"/>
          </a:ln>
        </p:spPr>
      </p:sp>
      <p:sp>
        <p:nvSpPr>
          <p:cNvPr id="30" name="">
            <a:extLst xmlns:a="http://schemas.openxmlformats.org/drawingml/2006/main">
              <a:ext uri="{FF2B5EF4-FFF2-40B4-BE49-F238E27FC236}">
                <a16:creationId xmlns:a16="http://schemas.microsoft.com/office/drawing/2014/main" id="{008DB2FF-F1F7-4694-BBC9-EE64E55860D8}"/>
              </a:ext>
            </a:extLst>
          </p:cNvPr>
          <p:cNvSpPr>
            <a:spLocks xmlns:a="http://schemas.openxmlformats.org/drawingml/2006/main" noGrp="1"/>
          </p:cNvSpPr>
          <p:nvPr/>
        </p:nvSpPr>
        <p:spPr>
          <a:xfrm xmlns:a="http://schemas.openxmlformats.org/drawingml/2006/main">
            <a:off x="8401050" y="14097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USAGE API</a:t>
            </a:r>
          </a:p>
        </p:txBody>
      </p:sp>
      <p:sp>
        <p:nvSpPr>
          <p:cNvPr id="31" name="">
            <a:extLst xmlns:a="http://schemas.openxmlformats.org/drawingml/2006/main">
              <a:ext uri="{FF2B5EF4-FFF2-40B4-BE49-F238E27FC236}">
                <a16:creationId xmlns:a16="http://schemas.microsoft.com/office/drawing/2014/main" id="{3C1FE809-0C16-4F0A-B155-7C011EEE4C72}"/>
              </a:ext>
            </a:extLst>
          </p:cNvPr>
          <p:cNvSpPr>
            <a:spLocks xmlns:a="http://schemas.openxmlformats.org/drawingml/2006/main" noGrp="1"/>
          </p:cNvSpPr>
          <p:nvPr/>
        </p:nvSpPr>
        <p:spPr>
          <a:xfrm xmlns:a="http://schemas.openxmlformats.org/drawingml/2006/main">
            <a:off x="7886700" y="198120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ERP·CRM·지원 플랫폼</a:t>
            </a:r>
          </a:p>
        </p:txBody>
      </p:sp>
      <p:sp>
        <p:nvSpPr>
          <p:cNvPr id="32" name="">
            <a:extLst xmlns:a="http://schemas.openxmlformats.org/drawingml/2006/main">
              <a:ext uri="{FF2B5EF4-FFF2-40B4-BE49-F238E27FC236}">
                <a16:creationId xmlns:a16="http://schemas.microsoft.com/office/drawing/2014/main" id="{3F831E1F-4B76-43D9-9120-76BC424A1BBC}"/>
              </a:ext>
            </a:extLst>
          </p:cNvPr>
          <p:cNvSpPr>
            <a:spLocks xmlns:a="http://schemas.openxmlformats.org/drawingml/2006/main" noGrp="1"/>
          </p:cNvSpPr>
          <p:nvPr/>
        </p:nvSpPr>
        <p:spPr>
          <a:xfrm xmlns:a="http://schemas.openxmlformats.org/drawingml/2006/main">
            <a:off x="7886700" y="2609850"/>
            <a:ext cx="30480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33" name="">
            <a:extLst xmlns:a="http://schemas.openxmlformats.org/drawingml/2006/main">
              <a:ext uri="{FF2B5EF4-FFF2-40B4-BE49-F238E27FC236}">
                <a16:creationId xmlns:a16="http://schemas.microsoft.com/office/drawing/2014/main" id="{68681648-307D-4EC8-B2B7-BC872669BFFF}"/>
              </a:ext>
            </a:extLst>
          </p:cNvPr>
          <p:cNvSpPr>
            <a:spLocks xmlns:a="http://schemas.openxmlformats.org/drawingml/2006/main" noGrp="1"/>
          </p:cNvSpPr>
          <p:nvPr/>
        </p:nvSpPr>
        <p:spPr>
          <a:xfrm xmlns:a="http://schemas.openxmlformats.org/drawingml/2006/main">
            <a:off x="7886700" y="28003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상품</a:t>
            </a:r>
          </a:p>
        </p:txBody>
      </p:sp>
      <p:sp>
        <p:nvSpPr>
          <p:cNvPr id="34" name="">
            <a:extLst xmlns:a="http://schemas.openxmlformats.org/drawingml/2006/main">
              <a:ext uri="{FF2B5EF4-FFF2-40B4-BE49-F238E27FC236}">
                <a16:creationId xmlns:a16="http://schemas.microsoft.com/office/drawing/2014/main" id="{6181A49C-4AF6-4720-96F3-BFF7C5877458}"/>
              </a:ext>
            </a:extLst>
          </p:cNvPr>
          <p:cNvSpPr>
            <a:spLocks xmlns:a="http://schemas.openxmlformats.org/drawingml/2006/main" noGrp="1"/>
          </p:cNvSpPr>
          <p:nvPr/>
        </p:nvSpPr>
        <p:spPr>
          <a:xfrm xmlns:a="http://schemas.openxmlformats.org/drawingml/2006/main">
            <a:off x="7886700" y="3105150"/>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근거·판단 API 연동</a:t>
            </a:r>
          </a:p>
        </p:txBody>
      </p:sp>
      <p:sp>
        <p:nvSpPr>
          <p:cNvPr id="35" name="">
            <a:extLst xmlns:a="http://schemas.openxmlformats.org/drawingml/2006/main">
              <a:ext uri="{FF2B5EF4-FFF2-40B4-BE49-F238E27FC236}">
                <a16:creationId xmlns:a16="http://schemas.microsoft.com/office/drawing/2014/main" id="{291B482D-DF85-4F64-A14F-5E61F4A70AD8}"/>
              </a:ext>
            </a:extLst>
          </p:cNvPr>
          <p:cNvSpPr>
            <a:spLocks xmlns:a="http://schemas.openxmlformats.org/drawingml/2006/main" noGrp="1"/>
          </p:cNvSpPr>
          <p:nvPr/>
        </p:nvSpPr>
        <p:spPr>
          <a:xfrm xmlns:a="http://schemas.openxmlformats.org/drawingml/2006/main">
            <a:off x="7886700" y="38481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수익</a:t>
            </a:r>
          </a:p>
        </p:txBody>
      </p:sp>
      <p:sp>
        <p:nvSpPr>
          <p:cNvPr id="36" name="">
            <a:extLst xmlns:a="http://schemas.openxmlformats.org/drawingml/2006/main">
              <a:ext uri="{FF2B5EF4-FFF2-40B4-BE49-F238E27FC236}">
                <a16:creationId xmlns:a16="http://schemas.microsoft.com/office/drawing/2014/main" id="{55FF26E0-25EF-4959-A63F-B970B43ADC4C}"/>
              </a:ext>
            </a:extLst>
          </p:cNvPr>
          <p:cNvSpPr>
            <a:spLocks xmlns:a="http://schemas.openxmlformats.org/drawingml/2006/main" noGrp="1"/>
          </p:cNvSpPr>
          <p:nvPr/>
        </p:nvSpPr>
        <p:spPr>
          <a:xfrm xmlns:a="http://schemas.openxmlformats.org/drawingml/2006/main">
            <a:off x="7886700" y="415290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사용량 기반</a:t>
            </a:r>
          </a:p>
        </p:txBody>
      </p:sp>
      <p:sp>
        <p:nvSpPr>
          <p:cNvPr id="37" name="">
            <a:extLst xmlns:a="http://schemas.openxmlformats.org/drawingml/2006/main">
              <a:ext uri="{FF2B5EF4-FFF2-40B4-BE49-F238E27FC236}">
                <a16:creationId xmlns:a16="http://schemas.microsoft.com/office/drawing/2014/main" id="{4B914FF7-7454-43D2-A29A-F6CFB63B24B3}"/>
              </a:ext>
            </a:extLst>
          </p:cNvPr>
          <p:cNvSpPr>
            <a:spLocks xmlns:a="http://schemas.openxmlformats.org/drawingml/2006/main" noGrp="1"/>
          </p:cNvSpPr>
          <p:nvPr/>
        </p:nvSpPr>
        <p:spPr>
          <a:xfrm xmlns:a="http://schemas.openxmlformats.org/drawingml/2006/main">
            <a:off x="685800" y="5010150"/>
            <a:ext cx="10820400" cy="1066800"/>
          </a:xfrm>
          <a:prstGeom xmlns:a="http://schemas.openxmlformats.org/drawingml/2006/main" prst="roundRect">
            <a:avLst>
              <a:gd name="adj" fmla="val 10714"/>
            </a:avLst>
          </a:prstGeom>
          <a:solidFill xmlns:a="http://schemas.openxmlformats.org/drawingml/2006/main">
            <a:srgbClr val="F3F6F7"/>
          </a:solidFill>
          <a:ln xmlns:a="http://schemas.openxmlformats.org/drawingml/2006/main" w="0">
            <a:solidFill>
              <a:srgbClr val="F3F6F7"/>
            </a:solidFill>
            <a:prstDash val="solid"/>
          </a:ln>
        </p:spPr>
      </p:sp>
      <p:sp>
        <p:nvSpPr>
          <p:cNvPr id="38" name="">
            <a:extLst xmlns:a="http://schemas.openxmlformats.org/drawingml/2006/main">
              <a:ext uri="{FF2B5EF4-FFF2-40B4-BE49-F238E27FC236}">
                <a16:creationId xmlns:a16="http://schemas.microsoft.com/office/drawing/2014/main" id="{86F95B4E-BB2A-4050-A0FC-A7F8D9184B27}"/>
              </a:ext>
            </a:extLst>
          </p:cNvPr>
          <p:cNvSpPr>
            <a:spLocks xmlns:a="http://schemas.openxmlformats.org/drawingml/2006/main" noGrp="1"/>
          </p:cNvSpPr>
          <p:nvPr/>
        </p:nvSpPr>
        <p:spPr>
          <a:xfrm xmlns:a="http://schemas.openxmlformats.org/drawingml/2006/main">
            <a:off x="914400" y="518160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운영 기반</a:t>
            </a:r>
          </a:p>
        </p:txBody>
      </p:sp>
      <p:sp>
        <p:nvSpPr>
          <p:cNvPr id="39" name="">
            <a:extLst xmlns:a="http://schemas.openxmlformats.org/drawingml/2006/main">
              <a:ext uri="{FF2B5EF4-FFF2-40B4-BE49-F238E27FC236}">
                <a16:creationId xmlns:a16="http://schemas.microsoft.com/office/drawing/2014/main" id="{F25C6B96-2D33-41EF-AF8B-444821D6C456}"/>
              </a:ext>
            </a:extLst>
          </p:cNvPr>
          <p:cNvSpPr>
            <a:spLocks xmlns:a="http://schemas.openxmlformats.org/drawingml/2006/main" noGrp="1"/>
          </p:cNvSpPr>
          <p:nvPr/>
        </p:nvSpPr>
        <p:spPr>
          <a:xfrm xmlns:a="http://schemas.openxmlformats.org/drawingml/2006/main">
            <a:off x="2686050" y="51816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공공데이터 상태 모니터링</a:t>
            </a:r>
          </a:p>
        </p:txBody>
      </p:sp>
      <p:sp>
        <p:nvSpPr>
          <p:cNvPr id="40" name="">
            <a:extLst xmlns:a="http://schemas.openxmlformats.org/drawingml/2006/main">
              <a:ext uri="{FF2B5EF4-FFF2-40B4-BE49-F238E27FC236}">
                <a16:creationId xmlns:a16="http://schemas.microsoft.com/office/drawing/2014/main" id="{30A7F9C8-9127-4600-A726-D6CA8646C937}"/>
              </a:ext>
            </a:extLst>
          </p:cNvPr>
          <p:cNvSpPr>
            <a:spLocks xmlns:a="http://schemas.openxmlformats.org/drawingml/2006/main" noGrp="1"/>
          </p:cNvSpPr>
          <p:nvPr/>
        </p:nvSpPr>
        <p:spPr>
          <a:xfrm xmlns:a="http://schemas.openxmlformats.org/drawingml/2006/main">
            <a:off x="5410200" y="51816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AI 사용량·캐시 관리</a:t>
            </a:r>
          </a:p>
        </p:txBody>
      </p:sp>
      <p:sp>
        <p:nvSpPr>
          <p:cNvPr id="41" name="">
            <a:extLst xmlns:a="http://schemas.openxmlformats.org/drawingml/2006/main">
              <a:ext uri="{FF2B5EF4-FFF2-40B4-BE49-F238E27FC236}">
                <a16:creationId xmlns:a16="http://schemas.microsoft.com/office/drawing/2014/main" id="{C851AE8E-EA83-426D-BCE2-D630BB4E28A5}"/>
              </a:ext>
            </a:extLst>
          </p:cNvPr>
          <p:cNvSpPr>
            <a:spLocks xmlns:a="http://schemas.openxmlformats.org/drawingml/2006/main" noGrp="1"/>
          </p:cNvSpPr>
          <p:nvPr/>
        </p:nvSpPr>
        <p:spPr>
          <a:xfrm xmlns:a="http://schemas.openxmlformats.org/drawingml/2006/main">
            <a:off x="8020050" y="51816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고위험 판단은 전문가 확인</a:t>
            </a:r>
          </a:p>
        </p:txBody>
      </p:sp>
      <p:sp>
        <p:nvSpPr>
          <p:cNvPr id="42" name="">
            <a:extLst xmlns:a="http://schemas.openxmlformats.org/drawingml/2006/main">
              <a:ext uri="{FF2B5EF4-FFF2-40B4-BE49-F238E27FC236}">
                <a16:creationId xmlns:a16="http://schemas.microsoft.com/office/drawing/2014/main" id="{0229CBAF-9FDD-4629-A0C3-FAA079D11268}"/>
              </a:ext>
            </a:extLst>
          </p:cNvPr>
          <p:cNvSpPr>
            <a:spLocks xmlns:a="http://schemas.openxmlformats.org/drawingml/2006/main" noGrp="1"/>
          </p:cNvSpPr>
          <p:nvPr/>
        </p:nvSpPr>
        <p:spPr>
          <a:xfrm xmlns:a="http://schemas.openxmlformats.org/drawingml/2006/main">
            <a:off x="2686050" y="561975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수혜자와 지불자가 일치하도록 상품·과금·운영을 단계별로 확장합니다.</a:t>
            </a:r>
          </a:p>
        </p:txBody>
      </p:sp>
    </p:spTree>
    <p:extLst>
      <p:ext uri="{BB962C8B-B14F-4D97-AF65-F5344CB8AC3E}">
        <p14:creationId xmlns:p14="http://schemas.microsoft.com/office/powerpoint/2010/main" val="17793242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0D929765-4204-448D-A61F-0F4F06AB099C}"/>
              </a:ext>
            </a:extLst>
          </p:cNvPr>
          <p:cNvSpPr>
            <a:spLocks xmlns:a="http://schemas.openxmlformats.org/drawingml/2006/main" noGrp="1"/>
          </p:cNvSpPr>
          <p:nvPr/>
        </p:nvSpPr>
        <p:spPr>
          <a:xfrm xmlns:a="http://schemas.openxmlformats.org/drawingml/2006/main">
            <a:off x="609600" y="285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SCALE-UP</a:t>
            </a:r>
          </a:p>
        </p:txBody>
      </p:sp>
      <p:sp>
        <p:nvSpPr>
          <p:cNvPr id="2" name="slide-14-title">
            <a:extLst xmlns:a="http://schemas.openxmlformats.org/drawingml/2006/main">
              <a:ext uri="{FF2B5EF4-FFF2-40B4-BE49-F238E27FC236}">
                <a16:creationId xmlns:a16="http://schemas.microsoft.com/office/drawing/2014/main" id="{3E3B590D-BD43-441E-84E5-04A43FA2CCED}"/>
              </a:ext>
            </a:extLst>
          </p:cNvPr>
          <p:cNvSpPr>
            <a:spLocks xmlns:a="http://schemas.openxmlformats.org/drawingml/2006/main" noGrp="1"/>
          </p:cNvSpPr>
          <p:nvPr/>
        </p:nvSpPr>
        <p:spPr>
          <a:xfrm xmlns:a="http://schemas.openxmlformats.org/drawingml/2006/main">
            <a:off x="609600" y="457200"/>
            <a:ext cx="10934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파일럿에서 기관 도입과 다중 에이전트까지 순서대로 확장합니다</a:t>
            </a:r>
          </a:p>
        </p:txBody>
      </p:sp>
      <p:sp>
        <p:nvSpPr>
          <p:cNvPr id="3" name="">
            <a:extLst xmlns:a="http://schemas.openxmlformats.org/drawingml/2006/main">
              <a:ext uri="{FF2B5EF4-FFF2-40B4-BE49-F238E27FC236}">
                <a16:creationId xmlns:a16="http://schemas.microsoft.com/office/drawing/2014/main" id="{A6B4A3B6-920C-47DC-85CF-202496D979D3}"/>
              </a:ext>
            </a:extLst>
          </p:cNvPr>
          <p:cNvSpPr>
            <a:spLocks xmlns:a="http://schemas.openxmlformats.org/drawingml/2006/main" noGrp="1"/>
          </p:cNvSpPr>
          <p:nvPr/>
        </p:nvSpPr>
        <p:spPr>
          <a:xfrm xmlns:a="http://schemas.openxmlformats.org/drawingml/2006/main">
            <a:off x="609600" y="1104900"/>
            <a:ext cx="10972800" cy="19050"/>
          </a:xfrm>
          <a:prstGeom xmlns:a="http://schemas.openxmlformats.org/drawingml/2006/main" prst="rect">
            <a:avLst/>
          </a:prstGeom>
          <a:solidFill xmlns:a="http://schemas.openxmlformats.org/drawingml/2006/main">
            <a:srgbClr val="051C2C"/>
          </a:solidFill>
          <a:ln xmlns:a="http://schemas.openxmlformats.org/drawingml/2006/main" w="0">
            <a:solidFill>
              <a:srgbClr val="051C2C"/>
            </a:solidFill>
            <a:prstDash val="solid"/>
          </a:ln>
        </p:spPr>
      </p:sp>
      <p:sp>
        <p:nvSpPr>
          <p:cNvPr id="4" name="">
            <a:extLst xmlns:a="http://schemas.openxmlformats.org/drawingml/2006/main">
              <a:ext uri="{FF2B5EF4-FFF2-40B4-BE49-F238E27FC236}">
                <a16:creationId xmlns:a16="http://schemas.microsoft.com/office/drawing/2014/main" id="{503508C1-A313-414A-9A3B-08D42AA5EC01}"/>
              </a:ext>
            </a:extLst>
          </p:cNvPr>
          <p:cNvSpPr>
            <a:spLocks xmlns:a="http://schemas.openxmlformats.org/drawingml/2006/main" noGrp="1"/>
          </p:cNvSpPr>
          <p:nvPr/>
        </p:nvSpPr>
        <p:spPr>
          <a:xfrm xmlns:a="http://schemas.openxmlformats.org/drawingml/2006/main">
            <a:off x="609600" y="1104900"/>
            <a:ext cx="1409700" cy="38100"/>
          </a:xfrm>
          <a:prstGeom xmlns:a="http://schemas.openxmlformats.org/drawingml/2006/main" prst="rect">
            <a:avLst/>
          </a:prstGeom>
          <a:solidFill xmlns:a="http://schemas.openxmlformats.org/drawingml/2006/main">
            <a:srgbClr val="00A58A"/>
          </a:solidFill>
          <a:ln xmlns:a="http://schemas.openxmlformats.org/drawingml/2006/main" w="0">
            <a:solidFill>
              <a:srgbClr val="00A58A"/>
            </a:solidFill>
            <a:prstDash val="solid"/>
          </a:ln>
        </p:spPr>
      </p:sp>
      <p:sp>
        <p:nvSpPr>
          <p:cNvPr id="5" name="">
            <a:extLst xmlns:a="http://schemas.openxmlformats.org/drawingml/2006/main">
              <a:ext uri="{FF2B5EF4-FFF2-40B4-BE49-F238E27FC236}">
                <a16:creationId xmlns:a16="http://schemas.microsoft.com/office/drawing/2014/main" id="{527C9B04-F6E3-4D31-BE9D-6D05FD31497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6" name="">
            <a:extLst xmlns:a="http://schemas.openxmlformats.org/drawingml/2006/main">
              <a:ext uri="{FF2B5EF4-FFF2-40B4-BE49-F238E27FC236}">
                <a16:creationId xmlns:a16="http://schemas.microsoft.com/office/drawing/2014/main" id="{63CCB730-75FA-4B64-A7DE-717AB6AD89C4}"/>
              </a:ext>
            </a:extLst>
          </p:cNvPr>
          <p:cNvSpPr>
            <a:spLocks xmlns:a="http://schemas.openxmlformats.org/drawingml/2006/main" noGrp="1"/>
          </p:cNvSpPr>
          <p:nvPr/>
        </p:nvSpPr>
        <p:spPr>
          <a:xfrm xmlns:a="http://schemas.openxmlformats.org/drawingml/2006/main">
            <a:off x="609600" y="64960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제안 확장 로드맵</a:t>
            </a:r>
          </a:p>
        </p:txBody>
      </p:sp>
      <p:sp>
        <p:nvSpPr>
          <p:cNvPr id="7" name="">
            <a:extLst xmlns:a="http://schemas.openxmlformats.org/drawingml/2006/main">
              <a:ext uri="{FF2B5EF4-FFF2-40B4-BE49-F238E27FC236}">
                <a16:creationId xmlns:a16="http://schemas.microsoft.com/office/drawing/2014/main" id="{6E48D80F-F21F-40AE-8169-3B67438BAF8F}"/>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14</a:t>
            </a:r>
          </a:p>
        </p:txBody>
      </p:sp>
      <p:sp>
        <p:nvSpPr>
          <p:cNvPr id="8" name="">
            <a:extLst xmlns:a="http://schemas.openxmlformats.org/drawingml/2006/main">
              <a:ext uri="{FF2B5EF4-FFF2-40B4-BE49-F238E27FC236}">
                <a16:creationId xmlns:a16="http://schemas.microsoft.com/office/drawing/2014/main" id="{EED093A8-52A6-4A7A-9094-4336A5F6B050}"/>
              </a:ext>
            </a:extLst>
          </p:cNvPr>
          <p:cNvSpPr>
            <a:spLocks xmlns:a="http://schemas.openxmlformats.org/drawingml/2006/main" noGrp="1"/>
          </p:cNvSpPr>
          <p:nvPr/>
        </p:nvSpPr>
        <p:spPr>
          <a:xfrm xmlns:a="http://schemas.openxmlformats.org/drawingml/2006/main">
            <a:off x="1066800" y="3086100"/>
            <a:ext cx="10058400" cy="38100"/>
          </a:xfrm>
          <a:prstGeom xmlns:a="http://schemas.openxmlformats.org/drawingml/2006/main" prst="rect">
            <a:avLst/>
          </a:prstGeom>
          <a:solidFill xmlns:a="http://schemas.openxmlformats.org/drawingml/2006/main">
            <a:srgbClr val="D7DEE2"/>
          </a:solidFill>
          <a:ln xmlns:a="http://schemas.openxmlformats.org/drawingml/2006/main" w="0">
            <a:solidFill>
              <a:srgbClr val="D7DEE2"/>
            </a:solidFill>
            <a:prstDash val="solid"/>
          </a:ln>
        </p:spPr>
      </p:sp>
      <p:sp>
        <p:nvSpPr>
          <p:cNvPr id="9" name="">
            <a:extLst xmlns:a="http://schemas.openxmlformats.org/drawingml/2006/main">
              <a:ext uri="{FF2B5EF4-FFF2-40B4-BE49-F238E27FC236}">
                <a16:creationId xmlns:a16="http://schemas.microsoft.com/office/drawing/2014/main" id="{E19A0606-BD96-41BC-B6CC-377A07336E1D}"/>
              </a:ext>
            </a:extLst>
          </p:cNvPr>
          <p:cNvSpPr>
            <a:spLocks xmlns:a="http://schemas.openxmlformats.org/drawingml/2006/main" noGrp="1"/>
          </p:cNvSpPr>
          <p:nvPr/>
        </p:nvSpPr>
        <p:spPr>
          <a:xfrm xmlns:a="http://schemas.openxmlformats.org/drawingml/2006/main">
            <a:off x="1314450" y="2724150"/>
            <a:ext cx="685800" cy="685800"/>
          </a:xfrm>
          <a:prstGeom xmlns:a="http://schemas.openxmlformats.org/drawingml/2006/main" prst="ellipse">
            <a:avLst/>
          </a:prstGeom>
          <a:solidFill xmlns:a="http://schemas.openxmlformats.org/drawingml/2006/main">
            <a:srgbClr val="00A58A"/>
          </a:solidFill>
          <a:ln xmlns:a="http://schemas.openxmlformats.org/drawingml/2006/main" w="0">
            <a:solidFill>
              <a:srgbClr val="00A58A"/>
            </a:solidFill>
            <a:prstDash val="solid"/>
          </a:ln>
        </p:spPr>
      </p:sp>
      <p:sp>
        <p:nvSpPr>
          <p:cNvPr id="10" name="">
            <a:extLst xmlns:a="http://schemas.openxmlformats.org/drawingml/2006/main">
              <a:ext uri="{FF2B5EF4-FFF2-40B4-BE49-F238E27FC236}">
                <a16:creationId xmlns:a16="http://schemas.microsoft.com/office/drawing/2014/main" id="{8533F915-38E1-4174-992D-28EDE5973B62}"/>
              </a:ext>
            </a:extLst>
          </p:cNvPr>
          <p:cNvSpPr>
            <a:spLocks xmlns:a="http://schemas.openxmlformats.org/drawingml/2006/main" noGrp="1"/>
          </p:cNvSpPr>
          <p:nvPr/>
        </p:nvSpPr>
        <p:spPr>
          <a:xfrm xmlns:a="http://schemas.openxmlformats.org/drawingml/2006/main">
            <a:off x="1314450" y="27241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NOW</a:t>
            </a:r>
          </a:p>
        </p:txBody>
      </p:sp>
      <p:sp>
        <p:nvSpPr>
          <p:cNvPr id="11" name="">
            <a:extLst xmlns:a="http://schemas.openxmlformats.org/drawingml/2006/main">
              <a:ext uri="{FF2B5EF4-FFF2-40B4-BE49-F238E27FC236}">
                <a16:creationId xmlns:a16="http://schemas.microsoft.com/office/drawing/2014/main" id="{5DEF93E2-C8A8-4A78-9B60-B3268B079D19}"/>
              </a:ext>
            </a:extLst>
          </p:cNvPr>
          <p:cNvSpPr>
            <a:spLocks xmlns:a="http://schemas.openxmlformats.org/drawingml/2006/main" noGrp="1"/>
          </p:cNvSpPr>
          <p:nvPr/>
        </p:nvSpPr>
        <p:spPr>
          <a:xfrm xmlns:a="http://schemas.openxmlformats.org/drawingml/2006/main">
            <a:off x="742950" y="3638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MVP</a:t>
            </a:r>
          </a:p>
        </p:txBody>
      </p:sp>
      <p:sp>
        <p:nvSpPr>
          <p:cNvPr id="12" name="">
            <a:extLst xmlns:a="http://schemas.openxmlformats.org/drawingml/2006/main">
              <a:ext uri="{FF2B5EF4-FFF2-40B4-BE49-F238E27FC236}">
                <a16:creationId xmlns:a16="http://schemas.microsoft.com/office/drawing/2014/main" id="{87405040-4542-409B-8225-371BCD64C5F6}"/>
              </a:ext>
            </a:extLst>
          </p:cNvPr>
          <p:cNvSpPr>
            <a:spLocks xmlns:a="http://schemas.openxmlformats.org/drawingml/2006/main" noGrp="1"/>
          </p:cNvSpPr>
          <p:nvPr/>
        </p:nvSpPr>
        <p:spPr>
          <a:xfrm xmlns:a="http://schemas.openxmlformats.org/drawingml/2006/main">
            <a:off x="819150" y="40957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E2E 시나리오</a:t>
            </a:r>
          </a:p>
        </p:txBody>
      </p:sp>
      <p:sp>
        <p:nvSpPr>
          <p:cNvPr id="13" name="">
            <a:extLst xmlns:a="http://schemas.openxmlformats.org/drawingml/2006/main">
              <a:ext uri="{FF2B5EF4-FFF2-40B4-BE49-F238E27FC236}">
                <a16:creationId xmlns:a16="http://schemas.microsoft.com/office/drawing/2014/main" id="{4A5F9D9A-53D0-42C3-BA66-DBC143B075D4}"/>
              </a:ext>
            </a:extLst>
          </p:cNvPr>
          <p:cNvSpPr>
            <a:spLocks xmlns:a="http://schemas.openxmlformats.org/drawingml/2006/main" noGrp="1"/>
          </p:cNvSpPr>
          <p:nvPr/>
        </p:nvSpPr>
        <p:spPr>
          <a:xfrm xmlns:a="http://schemas.openxmlformats.org/drawingml/2006/main">
            <a:off x="2324100" y="28003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14" name="">
            <a:extLst xmlns:a="http://schemas.openxmlformats.org/drawingml/2006/main">
              <a:ext uri="{FF2B5EF4-FFF2-40B4-BE49-F238E27FC236}">
                <a16:creationId xmlns:a16="http://schemas.microsoft.com/office/drawing/2014/main" id="{0420FD00-07ED-407E-B606-86B004EBBE50}"/>
              </a:ext>
            </a:extLst>
          </p:cNvPr>
          <p:cNvSpPr>
            <a:spLocks xmlns:a="http://schemas.openxmlformats.org/drawingml/2006/main" noGrp="1"/>
          </p:cNvSpPr>
          <p:nvPr/>
        </p:nvSpPr>
        <p:spPr>
          <a:xfrm xmlns:a="http://schemas.openxmlformats.org/drawingml/2006/main">
            <a:off x="3162300" y="2724150"/>
            <a:ext cx="685800" cy="6858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sp>
        <p:nvSpPr>
          <p:cNvPr id="15" name="">
            <a:extLst xmlns:a="http://schemas.openxmlformats.org/drawingml/2006/main">
              <a:ext uri="{FF2B5EF4-FFF2-40B4-BE49-F238E27FC236}">
                <a16:creationId xmlns:a16="http://schemas.microsoft.com/office/drawing/2014/main" id="{DC3326A1-170F-426A-8117-1880A7C0EB5B}"/>
              </a:ext>
            </a:extLst>
          </p:cNvPr>
          <p:cNvSpPr>
            <a:spLocks xmlns:a="http://schemas.openxmlformats.org/drawingml/2006/main" noGrp="1"/>
          </p:cNvSpPr>
          <p:nvPr/>
        </p:nvSpPr>
        <p:spPr>
          <a:xfrm xmlns:a="http://schemas.openxmlformats.org/drawingml/2006/main">
            <a:off x="3162300" y="27241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01</a:t>
            </a:r>
          </a:p>
        </p:txBody>
      </p:sp>
      <p:sp>
        <p:nvSpPr>
          <p:cNvPr id="16" name="">
            <a:extLst xmlns:a="http://schemas.openxmlformats.org/drawingml/2006/main">
              <a:ext uri="{FF2B5EF4-FFF2-40B4-BE49-F238E27FC236}">
                <a16:creationId xmlns:a16="http://schemas.microsoft.com/office/drawing/2014/main" id="{E004701B-6431-4876-8257-E54E3CD9AC17}"/>
              </a:ext>
            </a:extLst>
          </p:cNvPr>
          <p:cNvSpPr>
            <a:spLocks xmlns:a="http://schemas.openxmlformats.org/drawingml/2006/main" noGrp="1"/>
          </p:cNvSpPr>
          <p:nvPr/>
        </p:nvSpPr>
        <p:spPr>
          <a:xfrm xmlns:a="http://schemas.openxmlformats.org/drawingml/2006/main">
            <a:off x="2590800" y="3638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파일럿</a:t>
            </a:r>
          </a:p>
        </p:txBody>
      </p:sp>
      <p:sp>
        <p:nvSpPr>
          <p:cNvPr id="17" name="">
            <a:extLst xmlns:a="http://schemas.openxmlformats.org/drawingml/2006/main">
              <a:ext uri="{FF2B5EF4-FFF2-40B4-BE49-F238E27FC236}">
                <a16:creationId xmlns:a16="http://schemas.microsoft.com/office/drawing/2014/main" id="{6F15C226-FEB6-477D-A0BA-4752FB81654B}"/>
              </a:ext>
            </a:extLst>
          </p:cNvPr>
          <p:cNvSpPr>
            <a:spLocks xmlns:a="http://schemas.openxmlformats.org/drawingml/2006/main" noGrp="1"/>
          </p:cNvSpPr>
          <p:nvPr/>
        </p:nvSpPr>
        <p:spPr>
          <a:xfrm xmlns:a="http://schemas.openxmlformats.org/drawingml/2006/main">
            <a:off x="2667000" y="40957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시간·누락·채택률</a:t>
            </a:r>
          </a:p>
        </p:txBody>
      </p:sp>
      <p:sp>
        <p:nvSpPr>
          <p:cNvPr id="18" name="">
            <a:extLst xmlns:a="http://schemas.openxmlformats.org/drawingml/2006/main">
              <a:ext uri="{FF2B5EF4-FFF2-40B4-BE49-F238E27FC236}">
                <a16:creationId xmlns:a16="http://schemas.microsoft.com/office/drawing/2014/main" id="{A3ED483C-9532-4668-8CA9-7F6D6FE2AF01}"/>
              </a:ext>
            </a:extLst>
          </p:cNvPr>
          <p:cNvSpPr>
            <a:spLocks xmlns:a="http://schemas.openxmlformats.org/drawingml/2006/main" noGrp="1"/>
          </p:cNvSpPr>
          <p:nvPr/>
        </p:nvSpPr>
        <p:spPr>
          <a:xfrm xmlns:a="http://schemas.openxmlformats.org/drawingml/2006/main">
            <a:off x="4171950" y="28003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19" name="">
            <a:extLst xmlns:a="http://schemas.openxmlformats.org/drawingml/2006/main">
              <a:ext uri="{FF2B5EF4-FFF2-40B4-BE49-F238E27FC236}">
                <a16:creationId xmlns:a16="http://schemas.microsoft.com/office/drawing/2014/main" id="{9AE4279B-B861-4A96-AC57-ED6D7E91C1B0}"/>
              </a:ext>
            </a:extLst>
          </p:cNvPr>
          <p:cNvSpPr>
            <a:spLocks xmlns:a="http://schemas.openxmlformats.org/drawingml/2006/main" noGrp="1"/>
          </p:cNvSpPr>
          <p:nvPr/>
        </p:nvSpPr>
        <p:spPr>
          <a:xfrm xmlns:a="http://schemas.openxmlformats.org/drawingml/2006/main">
            <a:off x="5010150" y="2724150"/>
            <a:ext cx="685800" cy="6858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sp>
        <p:nvSpPr>
          <p:cNvPr id="20" name="">
            <a:extLst xmlns:a="http://schemas.openxmlformats.org/drawingml/2006/main">
              <a:ext uri="{FF2B5EF4-FFF2-40B4-BE49-F238E27FC236}">
                <a16:creationId xmlns:a16="http://schemas.microsoft.com/office/drawing/2014/main" id="{E3B3CF48-5512-42E4-BFD7-DE171AB0DDC6}"/>
              </a:ext>
            </a:extLst>
          </p:cNvPr>
          <p:cNvSpPr>
            <a:spLocks xmlns:a="http://schemas.openxmlformats.org/drawingml/2006/main" noGrp="1"/>
          </p:cNvSpPr>
          <p:nvPr/>
        </p:nvSpPr>
        <p:spPr>
          <a:xfrm xmlns:a="http://schemas.openxmlformats.org/drawingml/2006/main">
            <a:off x="5010150" y="27241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02</a:t>
            </a:r>
          </a:p>
        </p:txBody>
      </p:sp>
      <p:sp>
        <p:nvSpPr>
          <p:cNvPr id="21" name="">
            <a:extLst xmlns:a="http://schemas.openxmlformats.org/drawingml/2006/main">
              <a:ext uri="{FF2B5EF4-FFF2-40B4-BE49-F238E27FC236}">
                <a16:creationId xmlns:a16="http://schemas.microsoft.com/office/drawing/2014/main" id="{AC8C3D7F-12F4-4F91-8481-5A18518E1F92}"/>
              </a:ext>
            </a:extLst>
          </p:cNvPr>
          <p:cNvSpPr>
            <a:spLocks xmlns:a="http://schemas.openxmlformats.org/drawingml/2006/main" noGrp="1"/>
          </p:cNvSpPr>
          <p:nvPr/>
        </p:nvSpPr>
        <p:spPr>
          <a:xfrm xmlns:a="http://schemas.openxmlformats.org/drawingml/2006/main">
            <a:off x="4438650" y="3638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안정화</a:t>
            </a:r>
          </a:p>
        </p:txBody>
      </p:sp>
      <p:sp>
        <p:nvSpPr>
          <p:cNvPr id="22" name="">
            <a:extLst xmlns:a="http://schemas.openxmlformats.org/drawingml/2006/main">
              <a:ext uri="{FF2B5EF4-FFF2-40B4-BE49-F238E27FC236}">
                <a16:creationId xmlns:a16="http://schemas.microsoft.com/office/drawing/2014/main" id="{68A07D9E-6A67-4789-B3A5-EBBD5FFADF39}"/>
              </a:ext>
            </a:extLst>
          </p:cNvPr>
          <p:cNvSpPr>
            <a:spLocks xmlns:a="http://schemas.openxmlformats.org/drawingml/2006/main" noGrp="1"/>
          </p:cNvSpPr>
          <p:nvPr/>
        </p:nvSpPr>
        <p:spPr>
          <a:xfrm xmlns:a="http://schemas.openxmlformats.org/drawingml/2006/main">
            <a:off x="4514850" y="40957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상태·캐시·품질</a:t>
            </a:r>
          </a:p>
        </p:txBody>
      </p:sp>
      <p:sp>
        <p:nvSpPr>
          <p:cNvPr id="23" name="">
            <a:extLst xmlns:a="http://schemas.openxmlformats.org/drawingml/2006/main">
              <a:ext uri="{FF2B5EF4-FFF2-40B4-BE49-F238E27FC236}">
                <a16:creationId xmlns:a16="http://schemas.microsoft.com/office/drawing/2014/main" id="{B6BC6391-CB39-473E-90A5-5E5B3B09060D}"/>
              </a:ext>
            </a:extLst>
          </p:cNvPr>
          <p:cNvSpPr>
            <a:spLocks xmlns:a="http://schemas.openxmlformats.org/drawingml/2006/main" noGrp="1"/>
          </p:cNvSpPr>
          <p:nvPr/>
        </p:nvSpPr>
        <p:spPr>
          <a:xfrm xmlns:a="http://schemas.openxmlformats.org/drawingml/2006/main">
            <a:off x="6019800" y="28003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24" name="">
            <a:extLst xmlns:a="http://schemas.openxmlformats.org/drawingml/2006/main">
              <a:ext uri="{FF2B5EF4-FFF2-40B4-BE49-F238E27FC236}">
                <a16:creationId xmlns:a16="http://schemas.microsoft.com/office/drawing/2014/main" id="{E33F5E54-A16D-4351-830E-3764BDF4DBBD}"/>
              </a:ext>
            </a:extLst>
          </p:cNvPr>
          <p:cNvSpPr>
            <a:spLocks xmlns:a="http://schemas.openxmlformats.org/drawingml/2006/main" noGrp="1"/>
          </p:cNvSpPr>
          <p:nvPr/>
        </p:nvSpPr>
        <p:spPr>
          <a:xfrm xmlns:a="http://schemas.openxmlformats.org/drawingml/2006/main">
            <a:off x="6858000" y="2724150"/>
            <a:ext cx="685800" cy="6858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sp>
        <p:nvSpPr>
          <p:cNvPr id="25" name="">
            <a:extLst xmlns:a="http://schemas.openxmlformats.org/drawingml/2006/main">
              <a:ext uri="{FF2B5EF4-FFF2-40B4-BE49-F238E27FC236}">
                <a16:creationId xmlns:a16="http://schemas.microsoft.com/office/drawing/2014/main" id="{3DBE6F76-4164-4BA4-A494-6A59F7E8BACF}"/>
              </a:ext>
            </a:extLst>
          </p:cNvPr>
          <p:cNvSpPr>
            <a:spLocks xmlns:a="http://schemas.openxmlformats.org/drawingml/2006/main" noGrp="1"/>
          </p:cNvSpPr>
          <p:nvPr/>
        </p:nvSpPr>
        <p:spPr>
          <a:xfrm xmlns:a="http://schemas.openxmlformats.org/drawingml/2006/main">
            <a:off x="6858000" y="27241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03</a:t>
            </a:r>
          </a:p>
        </p:txBody>
      </p:sp>
      <p:sp>
        <p:nvSpPr>
          <p:cNvPr id="26" name="">
            <a:extLst xmlns:a="http://schemas.openxmlformats.org/drawingml/2006/main">
              <a:ext uri="{FF2B5EF4-FFF2-40B4-BE49-F238E27FC236}">
                <a16:creationId xmlns:a16="http://schemas.microsoft.com/office/drawing/2014/main" id="{F535CFCC-0B4C-466F-92FC-998E0C626309}"/>
              </a:ext>
            </a:extLst>
          </p:cNvPr>
          <p:cNvSpPr>
            <a:spLocks xmlns:a="http://schemas.openxmlformats.org/drawingml/2006/main" noGrp="1"/>
          </p:cNvSpPr>
          <p:nvPr/>
        </p:nvSpPr>
        <p:spPr>
          <a:xfrm xmlns:a="http://schemas.openxmlformats.org/drawingml/2006/main">
            <a:off x="6286500" y="3638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기관 도입</a:t>
            </a:r>
          </a:p>
        </p:txBody>
      </p:sp>
      <p:sp>
        <p:nvSpPr>
          <p:cNvPr id="27" name="">
            <a:extLst xmlns:a="http://schemas.openxmlformats.org/drawingml/2006/main">
              <a:ext uri="{FF2B5EF4-FFF2-40B4-BE49-F238E27FC236}">
                <a16:creationId xmlns:a16="http://schemas.microsoft.com/office/drawing/2014/main" id="{9285F3C1-CE37-4025-9FE6-0BDDF2305AFF}"/>
              </a:ext>
            </a:extLst>
          </p:cNvPr>
          <p:cNvSpPr>
            <a:spLocks xmlns:a="http://schemas.openxmlformats.org/drawingml/2006/main" noGrp="1"/>
          </p:cNvSpPr>
          <p:nvPr/>
        </p:nvSpPr>
        <p:spPr>
          <a:xfrm xmlns:a="http://schemas.openxmlformats.org/drawingml/2006/main">
            <a:off x="6362700" y="40957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포트폴리오·화이트라벨</a:t>
            </a:r>
          </a:p>
        </p:txBody>
      </p:sp>
      <p:sp>
        <p:nvSpPr>
          <p:cNvPr id="28" name="">
            <a:extLst xmlns:a="http://schemas.openxmlformats.org/drawingml/2006/main">
              <a:ext uri="{FF2B5EF4-FFF2-40B4-BE49-F238E27FC236}">
                <a16:creationId xmlns:a16="http://schemas.microsoft.com/office/drawing/2014/main" id="{8DF5B9D9-51B8-4D3E-AB84-B82E2327B655}"/>
              </a:ext>
            </a:extLst>
          </p:cNvPr>
          <p:cNvSpPr>
            <a:spLocks xmlns:a="http://schemas.openxmlformats.org/drawingml/2006/main" noGrp="1"/>
          </p:cNvSpPr>
          <p:nvPr/>
        </p:nvSpPr>
        <p:spPr>
          <a:xfrm xmlns:a="http://schemas.openxmlformats.org/drawingml/2006/main">
            <a:off x="7867650" y="28003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29" name="">
            <a:extLst xmlns:a="http://schemas.openxmlformats.org/drawingml/2006/main">
              <a:ext uri="{FF2B5EF4-FFF2-40B4-BE49-F238E27FC236}">
                <a16:creationId xmlns:a16="http://schemas.microsoft.com/office/drawing/2014/main" id="{B1ACE1DA-05C4-4DDD-A185-C60E62C0F707}"/>
              </a:ext>
            </a:extLst>
          </p:cNvPr>
          <p:cNvSpPr>
            <a:spLocks xmlns:a="http://schemas.openxmlformats.org/drawingml/2006/main" noGrp="1"/>
          </p:cNvSpPr>
          <p:nvPr/>
        </p:nvSpPr>
        <p:spPr>
          <a:xfrm xmlns:a="http://schemas.openxmlformats.org/drawingml/2006/main">
            <a:off x="8705850" y="2724150"/>
            <a:ext cx="685800" cy="6858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sp>
        <p:nvSpPr>
          <p:cNvPr id="30" name="">
            <a:extLst xmlns:a="http://schemas.openxmlformats.org/drawingml/2006/main">
              <a:ext uri="{FF2B5EF4-FFF2-40B4-BE49-F238E27FC236}">
                <a16:creationId xmlns:a16="http://schemas.microsoft.com/office/drawing/2014/main" id="{4951D580-7A91-490C-9179-BB2326B24512}"/>
              </a:ext>
            </a:extLst>
          </p:cNvPr>
          <p:cNvSpPr>
            <a:spLocks xmlns:a="http://schemas.openxmlformats.org/drawingml/2006/main" noGrp="1"/>
          </p:cNvSpPr>
          <p:nvPr/>
        </p:nvSpPr>
        <p:spPr>
          <a:xfrm xmlns:a="http://schemas.openxmlformats.org/drawingml/2006/main">
            <a:off x="8705850" y="27241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04</a:t>
            </a:r>
          </a:p>
        </p:txBody>
      </p:sp>
      <p:sp>
        <p:nvSpPr>
          <p:cNvPr id="31" name="">
            <a:extLst xmlns:a="http://schemas.openxmlformats.org/drawingml/2006/main">
              <a:ext uri="{FF2B5EF4-FFF2-40B4-BE49-F238E27FC236}">
                <a16:creationId xmlns:a16="http://schemas.microsoft.com/office/drawing/2014/main" id="{7B1BA652-E270-49DE-96CF-DBB703838395}"/>
              </a:ext>
            </a:extLst>
          </p:cNvPr>
          <p:cNvSpPr>
            <a:spLocks xmlns:a="http://schemas.openxmlformats.org/drawingml/2006/main" noGrp="1"/>
          </p:cNvSpPr>
          <p:nvPr/>
        </p:nvSpPr>
        <p:spPr>
          <a:xfrm xmlns:a="http://schemas.openxmlformats.org/drawingml/2006/main">
            <a:off x="8134350" y="3638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플랫폼</a:t>
            </a:r>
          </a:p>
        </p:txBody>
      </p:sp>
      <p:sp>
        <p:nvSpPr>
          <p:cNvPr id="32" name="">
            <a:extLst xmlns:a="http://schemas.openxmlformats.org/drawingml/2006/main">
              <a:ext uri="{FF2B5EF4-FFF2-40B4-BE49-F238E27FC236}">
                <a16:creationId xmlns:a16="http://schemas.microsoft.com/office/drawing/2014/main" id="{C14FF079-0B61-45EE-922C-2502E12555F4}"/>
              </a:ext>
            </a:extLst>
          </p:cNvPr>
          <p:cNvSpPr>
            <a:spLocks xmlns:a="http://schemas.openxmlformats.org/drawingml/2006/main" noGrp="1"/>
          </p:cNvSpPr>
          <p:nvPr/>
        </p:nvSpPr>
        <p:spPr>
          <a:xfrm xmlns:a="http://schemas.openxmlformats.org/drawingml/2006/main">
            <a:off x="8210550" y="40957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ERP·CRM·API</a:t>
            </a:r>
          </a:p>
        </p:txBody>
      </p:sp>
      <p:sp>
        <p:nvSpPr>
          <p:cNvPr id="33" name="">
            <a:extLst xmlns:a="http://schemas.openxmlformats.org/drawingml/2006/main">
              <a:ext uri="{FF2B5EF4-FFF2-40B4-BE49-F238E27FC236}">
                <a16:creationId xmlns:a16="http://schemas.microsoft.com/office/drawing/2014/main" id="{C241AE75-FBF7-4D4E-93B0-ADAAE8ADA3E2}"/>
              </a:ext>
            </a:extLst>
          </p:cNvPr>
          <p:cNvSpPr>
            <a:spLocks xmlns:a="http://schemas.openxmlformats.org/drawingml/2006/main" noGrp="1"/>
          </p:cNvSpPr>
          <p:nvPr/>
        </p:nvSpPr>
        <p:spPr>
          <a:xfrm xmlns:a="http://schemas.openxmlformats.org/drawingml/2006/main">
            <a:off x="9715500" y="28003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a:t>
            </a:r>
          </a:p>
        </p:txBody>
      </p:sp>
      <p:sp>
        <p:nvSpPr>
          <p:cNvPr id="34" name="">
            <a:extLst xmlns:a="http://schemas.openxmlformats.org/drawingml/2006/main">
              <a:ext uri="{FF2B5EF4-FFF2-40B4-BE49-F238E27FC236}">
                <a16:creationId xmlns:a16="http://schemas.microsoft.com/office/drawing/2014/main" id="{C54BBEA2-5B61-4344-A120-F62C62A59F3B}"/>
              </a:ext>
            </a:extLst>
          </p:cNvPr>
          <p:cNvSpPr>
            <a:spLocks xmlns:a="http://schemas.openxmlformats.org/drawingml/2006/main" noGrp="1"/>
          </p:cNvSpPr>
          <p:nvPr/>
        </p:nvSpPr>
        <p:spPr>
          <a:xfrm xmlns:a="http://schemas.openxmlformats.org/drawingml/2006/main">
            <a:off x="10553700" y="2724150"/>
            <a:ext cx="685800" cy="685800"/>
          </a:xfrm>
          <a:prstGeom xmlns:a="http://schemas.openxmlformats.org/drawingml/2006/main" prst="ellipse">
            <a:avLst/>
          </a:prstGeom>
          <a:solidFill xmlns:a="http://schemas.openxmlformats.org/drawingml/2006/main">
            <a:srgbClr val="051C2C"/>
          </a:solidFill>
          <a:ln xmlns:a="http://schemas.openxmlformats.org/drawingml/2006/main" w="0">
            <a:solidFill>
              <a:srgbClr val="051C2C"/>
            </a:solidFill>
            <a:prstDash val="solid"/>
          </a:ln>
        </p:spPr>
      </p:sp>
      <p:sp>
        <p:nvSpPr>
          <p:cNvPr id="35" name="">
            <a:extLst xmlns:a="http://schemas.openxmlformats.org/drawingml/2006/main">
              <a:ext uri="{FF2B5EF4-FFF2-40B4-BE49-F238E27FC236}">
                <a16:creationId xmlns:a16="http://schemas.microsoft.com/office/drawing/2014/main" id="{5F753855-3D68-4A89-A8E1-2021D9F72F95}"/>
              </a:ext>
            </a:extLst>
          </p:cNvPr>
          <p:cNvSpPr>
            <a:spLocks xmlns:a="http://schemas.openxmlformats.org/drawingml/2006/main" noGrp="1"/>
          </p:cNvSpPr>
          <p:nvPr/>
        </p:nvSpPr>
        <p:spPr>
          <a:xfrm xmlns:a="http://schemas.openxmlformats.org/drawingml/2006/main">
            <a:off x="10553700" y="27241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05</a:t>
            </a:r>
          </a:p>
        </p:txBody>
      </p:sp>
      <p:sp>
        <p:nvSpPr>
          <p:cNvPr id="36" name="">
            <a:extLst xmlns:a="http://schemas.openxmlformats.org/drawingml/2006/main">
              <a:ext uri="{FF2B5EF4-FFF2-40B4-BE49-F238E27FC236}">
                <a16:creationId xmlns:a16="http://schemas.microsoft.com/office/drawing/2014/main" id="{504201B0-CF7D-4E00-BBCB-D1CEAF080BCE}"/>
              </a:ext>
            </a:extLst>
          </p:cNvPr>
          <p:cNvSpPr>
            <a:spLocks xmlns:a="http://schemas.openxmlformats.org/drawingml/2006/main" noGrp="1"/>
          </p:cNvSpPr>
          <p:nvPr/>
        </p:nvSpPr>
        <p:spPr>
          <a:xfrm xmlns:a="http://schemas.openxmlformats.org/drawingml/2006/main">
            <a:off x="9982200" y="3638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에이전트</a:t>
            </a:r>
          </a:p>
        </p:txBody>
      </p:sp>
      <p:sp>
        <p:nvSpPr>
          <p:cNvPr id="37" name="">
            <a:extLst xmlns:a="http://schemas.openxmlformats.org/drawingml/2006/main">
              <a:ext uri="{FF2B5EF4-FFF2-40B4-BE49-F238E27FC236}">
                <a16:creationId xmlns:a16="http://schemas.microsoft.com/office/drawing/2014/main" id="{9BA2CA64-FB7D-46B3-BBAC-408DD51F0C89}"/>
              </a:ext>
            </a:extLst>
          </p:cNvPr>
          <p:cNvSpPr>
            <a:spLocks xmlns:a="http://schemas.openxmlformats.org/drawingml/2006/main" noGrp="1"/>
          </p:cNvSpPr>
          <p:nvPr/>
        </p:nvSpPr>
        <p:spPr>
          <a:xfrm xmlns:a="http://schemas.openxmlformats.org/drawingml/2006/main">
            <a:off x="10058400" y="409575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HS·인증·관세·리스크</a:t>
            </a:r>
          </a:p>
        </p:txBody>
      </p:sp>
      <p:sp>
        <p:nvSpPr>
          <p:cNvPr id="38" name="">
            <a:extLst xmlns:a="http://schemas.openxmlformats.org/drawingml/2006/main">
              <a:ext uri="{FF2B5EF4-FFF2-40B4-BE49-F238E27FC236}">
                <a16:creationId xmlns:a16="http://schemas.microsoft.com/office/drawing/2014/main" id="{768C1C2C-DF7F-4D73-B5AB-EFEC24DFEF49}"/>
              </a:ext>
            </a:extLst>
          </p:cNvPr>
          <p:cNvSpPr>
            <a:spLocks xmlns:a="http://schemas.openxmlformats.org/drawingml/2006/main" noGrp="1"/>
          </p:cNvSpPr>
          <p:nvPr/>
        </p:nvSpPr>
        <p:spPr>
          <a:xfrm xmlns:a="http://schemas.openxmlformats.org/drawingml/2006/main">
            <a:off x="1066800" y="5181600"/>
            <a:ext cx="10058400" cy="800100"/>
          </a:xfrm>
          <a:prstGeom xmlns:a="http://schemas.openxmlformats.org/drawingml/2006/main" prst="roundRect">
            <a:avLst>
              <a:gd name="adj" fmla="val 14286"/>
            </a:avLst>
          </a:prstGeom>
          <a:solidFill xmlns:a="http://schemas.openxmlformats.org/drawingml/2006/main">
            <a:srgbClr val="051C2C"/>
          </a:solidFill>
          <a:ln xmlns:a="http://schemas.openxmlformats.org/drawingml/2006/main" w="0">
            <a:solidFill>
              <a:srgbClr val="051C2C"/>
            </a:solidFill>
            <a:prstDash val="solid"/>
          </a:ln>
        </p:spPr>
      </p:sp>
      <p:sp>
        <p:nvSpPr>
          <p:cNvPr id="39" name="">
            <a:extLst xmlns:a="http://schemas.openxmlformats.org/drawingml/2006/main">
              <a:ext uri="{FF2B5EF4-FFF2-40B4-BE49-F238E27FC236}">
                <a16:creationId xmlns:a16="http://schemas.microsoft.com/office/drawing/2014/main" id="{0573A56B-BF00-49AB-B857-F71356655235}"/>
              </a:ext>
            </a:extLst>
          </p:cNvPr>
          <p:cNvSpPr>
            <a:spLocks xmlns:a="http://schemas.openxmlformats.org/drawingml/2006/main" noGrp="1"/>
          </p:cNvSpPr>
          <p:nvPr/>
        </p:nvSpPr>
        <p:spPr>
          <a:xfrm xmlns:a="http://schemas.openxmlformats.org/drawingml/2006/main">
            <a:off x="1333500" y="53149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1">
                <a:solidFill>
                  <a:srgbClr val="8FD8CB"/>
                </a:solidFill>
                <a:latin typeface="Noto Sans KR"/>
                <a:ea typeface="Noto Sans KR"/>
                <a:cs typeface="Noto Sans KR"/>
              </a:defRPr>
            </a:pPr>
            <a:r>
              <a:rPr sz="1350" b="1">
                <a:solidFill>
                  <a:srgbClr val="8FD8CB"/>
                </a:solidFill>
                <a:latin typeface="Noto Sans KR"/>
                <a:ea typeface="Noto Sans KR"/>
                <a:cs typeface="Noto Sans KR"/>
              </a:rPr>
              <a:t>공통 기반</a:t>
            </a:r>
          </a:p>
        </p:txBody>
      </p:sp>
      <p:sp>
        <p:nvSpPr>
          <p:cNvPr id="40" name="">
            <a:extLst xmlns:a="http://schemas.openxmlformats.org/drawingml/2006/main">
              <a:ext uri="{FF2B5EF4-FFF2-40B4-BE49-F238E27FC236}">
                <a16:creationId xmlns:a16="http://schemas.microsoft.com/office/drawing/2014/main" id="{C3DB8A57-6F5C-49D5-8853-971971B5213A}"/>
              </a:ext>
            </a:extLst>
          </p:cNvPr>
          <p:cNvSpPr>
            <a:spLocks xmlns:a="http://schemas.openxmlformats.org/drawingml/2006/main" noGrp="1"/>
          </p:cNvSpPr>
          <p:nvPr/>
        </p:nvSpPr>
        <p:spPr>
          <a:xfrm xmlns:a="http://schemas.openxmlformats.org/drawingml/2006/main">
            <a:off x="3105150" y="5314950"/>
            <a:ext cx="771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FFFFFF"/>
                </a:solidFill>
                <a:latin typeface="Noto Sans KR"/>
                <a:ea typeface="Noto Sans KR"/>
                <a:cs typeface="Noto Sans KR"/>
              </a:defRPr>
            </a:pPr>
            <a:r>
              <a:rPr sz="1500" b="1">
                <a:solidFill>
                  <a:srgbClr val="FFFFFF"/>
                </a:solidFill>
                <a:latin typeface="Noto Sans KR"/>
                <a:ea typeface="Noto Sans KR"/>
                <a:cs typeface="Noto Sans KR"/>
              </a:rPr>
              <a:t>동일한 근거 스키마  →  외부 시스템 연동  →  전문 AI 에이전트 협업</a:t>
            </a:r>
          </a:p>
        </p:txBody>
      </p:sp>
    </p:spTree>
    <p:extLst>
      <p:ext uri="{BB962C8B-B14F-4D97-AF65-F5344CB8AC3E}">
        <p14:creationId xmlns:p14="http://schemas.microsoft.com/office/powerpoint/2010/main" val="1361084364"/>
      </p:ext>
    </p:extLst>
  </p:cSld>
</p:sld>
</file>

<file path=ppt/slides/slide15.xml><?xml version="1.0" encoding="utf-8"?>
<p:sld xmlns:p="http://schemas.openxmlformats.org/presentationml/2006/main">
  <p:cSld>
    <p:bg>
      <p:bgPr>
        <a:solidFill xmlns:a="http://schemas.openxmlformats.org/drawingml/2006/main">
          <a:srgbClr val="051C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F414E4B-FC11-4585-9D27-40FEDE7C83E2}"/>
              </a:ext>
            </a:extLst>
          </p:cNvPr>
          <p:cNvSpPr>
            <a:spLocks xmlns:a="http://schemas.openxmlformats.org/drawingml/2006/main" noGrp="1"/>
          </p:cNvSpPr>
          <p:nvPr/>
        </p:nvSpPr>
        <p:spPr>
          <a:xfrm xmlns:a="http://schemas.openxmlformats.org/drawingml/2006/main">
            <a:off x="742950" y="68580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450" b="1">
                <a:solidFill>
                  <a:srgbClr val="FFFFFF"/>
                </a:solidFill>
                <a:latin typeface="Noto Sans KR"/>
                <a:ea typeface="Noto Sans KR"/>
                <a:cs typeface="Noto Sans KR"/>
              </a:defRPr>
            </a:pPr>
            <a:r>
              <a:rPr sz="3450" b="1">
                <a:solidFill>
                  <a:srgbClr val="FFFFFF"/>
                </a:solidFill>
                <a:latin typeface="Noto Sans KR"/>
                <a:ea typeface="Noto Sans KR"/>
                <a:cs typeface="Noto Sans KR"/>
              </a:rPr>
              <a:t>수출의 첫 판단을</a:t>
            </a:r>
          </a:p>
        </p:txBody>
      </p:sp>
      <p:sp>
        <p:nvSpPr>
          <p:cNvPr id="2" name="">
            <a:extLst xmlns:a="http://schemas.openxmlformats.org/drawingml/2006/main">
              <a:ext uri="{FF2B5EF4-FFF2-40B4-BE49-F238E27FC236}">
                <a16:creationId xmlns:a16="http://schemas.microsoft.com/office/drawing/2014/main" id="{9829E11E-D504-4E0E-9D05-22C9177A12EE}"/>
              </a:ext>
            </a:extLst>
          </p:cNvPr>
          <p:cNvSpPr>
            <a:spLocks xmlns:a="http://schemas.openxmlformats.org/drawingml/2006/main" noGrp="1"/>
          </p:cNvSpPr>
          <p:nvPr/>
        </p:nvSpPr>
        <p:spPr>
          <a:xfrm xmlns:a="http://schemas.openxmlformats.org/drawingml/2006/main">
            <a:off x="742950" y="1352550"/>
            <a:ext cx="685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5100" b="1">
                <a:solidFill>
                  <a:srgbClr val="8FD8CB"/>
                </a:solidFill>
                <a:latin typeface="Noto Sans KR"/>
                <a:ea typeface="Noto Sans KR"/>
                <a:cs typeface="Noto Sans KR"/>
              </a:defRPr>
            </a:pPr>
            <a:r>
              <a:rPr sz="5100" b="1">
                <a:solidFill>
                  <a:srgbClr val="8FD8CB"/>
                </a:solidFill>
                <a:latin typeface="Noto Sans KR"/>
                <a:ea typeface="Noto Sans KR"/>
                <a:cs typeface="Noto Sans KR"/>
              </a:rPr>
              <a:t>5분 안에</a:t>
            </a:r>
          </a:p>
        </p:txBody>
      </p:sp>
      <p:sp>
        <p:nvSpPr>
          <p:cNvPr id="3" name="">
            <a:extLst xmlns:a="http://schemas.openxmlformats.org/drawingml/2006/main">
              <a:ext uri="{FF2B5EF4-FFF2-40B4-BE49-F238E27FC236}">
                <a16:creationId xmlns:a16="http://schemas.microsoft.com/office/drawing/2014/main" id="{23773D4B-0F34-4E4C-B66C-0653DCF5E70E}"/>
              </a:ext>
            </a:extLst>
          </p:cNvPr>
          <p:cNvSpPr>
            <a:spLocks xmlns:a="http://schemas.openxmlformats.org/drawingml/2006/main" noGrp="1"/>
          </p:cNvSpPr>
          <p:nvPr/>
        </p:nvSpPr>
        <p:spPr>
          <a:xfrm xmlns:a="http://schemas.openxmlformats.org/drawingml/2006/main">
            <a:off x="781050" y="26289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8FD8CB"/>
                </a:solidFill>
                <a:latin typeface="Noto Sans KR"/>
                <a:ea typeface="Noto Sans KR"/>
                <a:cs typeface="Noto Sans KR"/>
              </a:defRPr>
            </a:pPr>
            <a:r>
              <a:rPr sz="975" b="1">
                <a:solidFill>
                  <a:srgbClr val="8FD8CB"/>
                </a:solidFill>
                <a:latin typeface="Noto Sans KR"/>
                <a:ea typeface="Noto Sans KR"/>
                <a:cs typeface="Noto Sans KR"/>
              </a:rPr>
              <a:t>구현된 흐름</a:t>
            </a:r>
          </a:p>
        </p:txBody>
      </p:sp>
      <p:sp>
        <p:nvSpPr>
          <p:cNvPr id="4" name="">
            <a:extLst xmlns:a="http://schemas.openxmlformats.org/drawingml/2006/main">
              <a:ext uri="{FF2B5EF4-FFF2-40B4-BE49-F238E27FC236}">
                <a16:creationId xmlns:a16="http://schemas.microsoft.com/office/drawing/2014/main" id="{9379BD55-A0FC-4009-997A-2D21563FFDA6}"/>
              </a:ext>
            </a:extLst>
          </p:cNvPr>
          <p:cNvSpPr>
            <a:spLocks xmlns:a="http://schemas.openxmlformats.org/drawingml/2006/main" noGrp="1"/>
          </p:cNvSpPr>
          <p:nvPr/>
        </p:nvSpPr>
        <p:spPr>
          <a:xfrm xmlns:a="http://schemas.openxmlformats.org/drawingml/2006/main">
            <a:off x="762000" y="3086100"/>
            <a:ext cx="114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10</a:t>
            </a:r>
          </a:p>
        </p:txBody>
      </p:sp>
      <p:sp>
        <p:nvSpPr>
          <p:cNvPr id="5" name="">
            <a:extLst xmlns:a="http://schemas.openxmlformats.org/drawingml/2006/main">
              <a:ext uri="{FF2B5EF4-FFF2-40B4-BE49-F238E27FC236}">
                <a16:creationId xmlns:a16="http://schemas.microsoft.com/office/drawing/2014/main" id="{1A74CEA8-3312-442A-A113-A9BA24535BFA}"/>
              </a:ext>
            </a:extLst>
          </p:cNvPr>
          <p:cNvSpPr>
            <a:spLocks xmlns:a="http://schemas.openxmlformats.org/drawingml/2006/main" noGrp="1"/>
          </p:cNvSpPr>
          <p:nvPr/>
        </p:nvSpPr>
        <p:spPr>
          <a:xfrm xmlns:a="http://schemas.openxmlformats.org/drawingml/2006/main">
            <a:off x="1905000" y="3295650"/>
            <a:ext cx="1466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종 공공데이터</a:t>
            </a:r>
          </a:p>
        </p:txBody>
      </p:sp>
      <p:sp>
        <p:nvSpPr>
          <p:cNvPr id="6" name="">
            <a:extLst xmlns:a="http://schemas.openxmlformats.org/drawingml/2006/main">
              <a:ext uri="{FF2B5EF4-FFF2-40B4-BE49-F238E27FC236}">
                <a16:creationId xmlns:a16="http://schemas.microsoft.com/office/drawing/2014/main" id="{9FD86A76-8DE5-4E08-90BA-3FCED5ADF2F4}"/>
              </a:ext>
            </a:extLst>
          </p:cNvPr>
          <p:cNvSpPr>
            <a:spLocks xmlns:a="http://schemas.openxmlformats.org/drawingml/2006/main" noGrp="1"/>
          </p:cNvSpPr>
          <p:nvPr/>
        </p:nvSpPr>
        <p:spPr>
          <a:xfrm xmlns:a="http://schemas.openxmlformats.org/drawingml/2006/main">
            <a:off x="3181350" y="32194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7" name="">
            <a:extLst xmlns:a="http://schemas.openxmlformats.org/drawingml/2006/main">
              <a:ext uri="{FF2B5EF4-FFF2-40B4-BE49-F238E27FC236}">
                <a16:creationId xmlns:a16="http://schemas.microsoft.com/office/drawing/2014/main" id="{6C951559-C3F3-45AF-ADD4-DCD7D20116ED}"/>
              </a:ext>
            </a:extLst>
          </p:cNvPr>
          <p:cNvSpPr>
            <a:spLocks xmlns:a="http://schemas.openxmlformats.org/drawingml/2006/main" noGrp="1"/>
          </p:cNvSpPr>
          <p:nvPr/>
        </p:nvSpPr>
        <p:spPr>
          <a:xfrm xmlns:a="http://schemas.openxmlformats.org/drawingml/2006/main">
            <a:off x="3486150" y="3086100"/>
            <a:ext cx="114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3</a:t>
            </a:r>
          </a:p>
        </p:txBody>
      </p:sp>
      <p:sp>
        <p:nvSpPr>
          <p:cNvPr id="8" name="">
            <a:extLst xmlns:a="http://schemas.openxmlformats.org/drawingml/2006/main">
              <a:ext uri="{FF2B5EF4-FFF2-40B4-BE49-F238E27FC236}">
                <a16:creationId xmlns:a16="http://schemas.microsoft.com/office/drawing/2014/main" id="{EA73D9EB-0FB9-4F99-A74F-74ADB0158F53}"/>
              </a:ext>
            </a:extLst>
          </p:cNvPr>
          <p:cNvSpPr>
            <a:spLocks xmlns:a="http://schemas.openxmlformats.org/drawingml/2006/main" noGrp="1"/>
          </p:cNvSpPr>
          <p:nvPr/>
        </p:nvSpPr>
        <p:spPr>
          <a:xfrm xmlns:a="http://schemas.openxmlformats.org/drawingml/2006/main">
            <a:off x="4629150" y="3295650"/>
            <a:ext cx="1466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후보국 Top 3</a:t>
            </a:r>
          </a:p>
        </p:txBody>
      </p:sp>
      <p:sp>
        <p:nvSpPr>
          <p:cNvPr id="9" name="">
            <a:extLst xmlns:a="http://schemas.openxmlformats.org/drawingml/2006/main">
              <a:ext uri="{FF2B5EF4-FFF2-40B4-BE49-F238E27FC236}">
                <a16:creationId xmlns:a16="http://schemas.microsoft.com/office/drawing/2014/main" id="{624575F5-B4B0-4084-8CEA-519B3E09D9A1}"/>
              </a:ext>
            </a:extLst>
          </p:cNvPr>
          <p:cNvSpPr>
            <a:spLocks xmlns:a="http://schemas.openxmlformats.org/drawingml/2006/main" noGrp="1"/>
          </p:cNvSpPr>
          <p:nvPr/>
        </p:nvSpPr>
        <p:spPr>
          <a:xfrm xmlns:a="http://schemas.openxmlformats.org/drawingml/2006/main">
            <a:off x="5905500" y="32194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10" name="">
            <a:extLst xmlns:a="http://schemas.openxmlformats.org/drawingml/2006/main">
              <a:ext uri="{FF2B5EF4-FFF2-40B4-BE49-F238E27FC236}">
                <a16:creationId xmlns:a16="http://schemas.microsoft.com/office/drawing/2014/main" id="{239F9B05-716A-45FA-924B-BBB61DB98569}"/>
              </a:ext>
            </a:extLst>
          </p:cNvPr>
          <p:cNvSpPr>
            <a:spLocks xmlns:a="http://schemas.openxmlformats.org/drawingml/2006/main" noGrp="1"/>
          </p:cNvSpPr>
          <p:nvPr/>
        </p:nvSpPr>
        <p:spPr>
          <a:xfrm xmlns:a="http://schemas.openxmlformats.org/drawingml/2006/main">
            <a:off x="6210300" y="3086100"/>
            <a:ext cx="114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5</a:t>
            </a:r>
          </a:p>
        </p:txBody>
      </p:sp>
      <p:sp>
        <p:nvSpPr>
          <p:cNvPr id="11" name="">
            <a:extLst xmlns:a="http://schemas.openxmlformats.org/drawingml/2006/main">
              <a:ext uri="{FF2B5EF4-FFF2-40B4-BE49-F238E27FC236}">
                <a16:creationId xmlns:a16="http://schemas.microsoft.com/office/drawing/2014/main" id="{C8653247-9F38-46F5-8EDF-5F22E280AA05}"/>
              </a:ext>
            </a:extLst>
          </p:cNvPr>
          <p:cNvSpPr>
            <a:spLocks xmlns:a="http://schemas.openxmlformats.org/drawingml/2006/main" noGrp="1"/>
          </p:cNvSpPr>
          <p:nvPr/>
        </p:nvSpPr>
        <p:spPr>
          <a:xfrm xmlns:a="http://schemas.openxmlformats.org/drawingml/2006/main">
            <a:off x="7353300" y="3295650"/>
            <a:ext cx="1466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단계 검증</a:t>
            </a:r>
          </a:p>
        </p:txBody>
      </p:sp>
      <p:sp>
        <p:nvSpPr>
          <p:cNvPr id="12" name="">
            <a:extLst xmlns:a="http://schemas.openxmlformats.org/drawingml/2006/main">
              <a:ext uri="{FF2B5EF4-FFF2-40B4-BE49-F238E27FC236}">
                <a16:creationId xmlns:a16="http://schemas.microsoft.com/office/drawing/2014/main" id="{14F2E378-9D34-4258-B57B-D621D83E8DFB}"/>
              </a:ext>
            </a:extLst>
          </p:cNvPr>
          <p:cNvSpPr>
            <a:spLocks xmlns:a="http://schemas.openxmlformats.org/drawingml/2006/main" noGrp="1"/>
          </p:cNvSpPr>
          <p:nvPr/>
        </p:nvSpPr>
        <p:spPr>
          <a:xfrm xmlns:a="http://schemas.openxmlformats.org/drawingml/2006/main">
            <a:off x="8629650" y="32194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13" name="">
            <a:extLst xmlns:a="http://schemas.openxmlformats.org/drawingml/2006/main">
              <a:ext uri="{FF2B5EF4-FFF2-40B4-BE49-F238E27FC236}">
                <a16:creationId xmlns:a16="http://schemas.microsoft.com/office/drawing/2014/main" id="{921C06B0-0D9A-4117-B805-CDAC59F6B202}"/>
              </a:ext>
            </a:extLst>
          </p:cNvPr>
          <p:cNvSpPr>
            <a:spLocks xmlns:a="http://schemas.openxmlformats.org/drawingml/2006/main" noGrp="1"/>
          </p:cNvSpPr>
          <p:nvPr/>
        </p:nvSpPr>
        <p:spPr>
          <a:xfrm xmlns:a="http://schemas.openxmlformats.org/drawingml/2006/main">
            <a:off x="8934450" y="3086100"/>
            <a:ext cx="114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1</a:t>
            </a:r>
          </a:p>
        </p:txBody>
      </p:sp>
      <p:sp>
        <p:nvSpPr>
          <p:cNvPr id="14" name="">
            <a:extLst xmlns:a="http://schemas.openxmlformats.org/drawingml/2006/main">
              <a:ext uri="{FF2B5EF4-FFF2-40B4-BE49-F238E27FC236}">
                <a16:creationId xmlns:a16="http://schemas.microsoft.com/office/drawing/2014/main" id="{A4D037E5-6258-4D9D-B964-5196033623C4}"/>
              </a:ext>
            </a:extLst>
          </p:cNvPr>
          <p:cNvSpPr>
            <a:spLocks xmlns:a="http://schemas.openxmlformats.org/drawingml/2006/main" noGrp="1"/>
          </p:cNvSpPr>
          <p:nvPr/>
        </p:nvSpPr>
        <p:spPr>
          <a:xfrm xmlns:a="http://schemas.openxmlformats.org/drawingml/2006/main">
            <a:off x="10077450" y="3295650"/>
            <a:ext cx="1466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실행 리포트</a:t>
            </a:r>
          </a:p>
        </p:txBody>
      </p:sp>
      <p:sp>
        <p:nvSpPr>
          <p:cNvPr id="15" name="">
            <a:extLst xmlns:a="http://schemas.openxmlformats.org/drawingml/2006/main">
              <a:ext uri="{FF2B5EF4-FFF2-40B4-BE49-F238E27FC236}">
                <a16:creationId xmlns:a16="http://schemas.microsoft.com/office/drawing/2014/main" id="{9ED95DC9-918A-4568-840E-E88493B5AB98}"/>
              </a:ext>
            </a:extLst>
          </p:cNvPr>
          <p:cNvSpPr>
            <a:spLocks xmlns:a="http://schemas.openxmlformats.org/drawingml/2006/main" noGrp="1"/>
          </p:cNvSpPr>
          <p:nvPr/>
        </p:nvSpPr>
        <p:spPr>
          <a:xfrm xmlns:a="http://schemas.openxmlformats.org/drawingml/2006/main">
            <a:off x="762000" y="4305300"/>
            <a:ext cx="10668000" cy="9525"/>
          </a:xfrm>
          <a:prstGeom xmlns:a="http://schemas.openxmlformats.org/drawingml/2006/main" prst="rect">
            <a:avLst/>
          </a:prstGeom>
          <a:solidFill xmlns:a="http://schemas.openxmlformats.org/drawingml/2006/main">
            <a:srgbClr val="426170"/>
          </a:solidFill>
          <a:ln xmlns:a="http://schemas.openxmlformats.org/drawingml/2006/main" w="0">
            <a:solidFill>
              <a:srgbClr val="426170"/>
            </a:solidFill>
            <a:prstDash val="solid"/>
          </a:ln>
        </p:spPr>
      </p:sp>
      <p:sp>
        <p:nvSpPr>
          <p:cNvPr id="16" name="">
            <a:extLst xmlns:a="http://schemas.openxmlformats.org/drawingml/2006/main">
              <a:ext uri="{FF2B5EF4-FFF2-40B4-BE49-F238E27FC236}">
                <a16:creationId xmlns:a16="http://schemas.microsoft.com/office/drawing/2014/main" id="{FECC8267-03BA-462A-86F5-98CD13A11945}"/>
              </a:ext>
            </a:extLst>
          </p:cNvPr>
          <p:cNvSpPr>
            <a:spLocks xmlns:a="http://schemas.openxmlformats.org/drawingml/2006/main" noGrp="1"/>
          </p:cNvSpPr>
          <p:nvPr/>
        </p:nvSpPr>
        <p:spPr>
          <a:xfrm xmlns:a="http://schemas.openxmlformats.org/drawingml/2006/main">
            <a:off x="762000" y="4686300"/>
            <a:ext cx="106680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0CD3F04C-D215-4245-A4C2-594DCD1B500E}"/>
              </a:ext>
            </a:extLst>
          </p:cNvPr>
          <p:cNvSpPr>
            <a:spLocks xmlns:a="http://schemas.openxmlformats.org/drawingml/2006/main" noGrp="1"/>
          </p:cNvSpPr>
          <p:nvPr/>
        </p:nvSpPr>
        <p:spPr>
          <a:xfrm xmlns:a="http://schemas.openxmlformats.org/drawingml/2006/main">
            <a:off x="1047750" y="4914900"/>
            <a:ext cx="152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1">
                <a:solidFill>
                  <a:srgbClr val="00A58A"/>
                </a:solidFill>
                <a:latin typeface="Noto Sans KR"/>
                <a:ea typeface="Noto Sans KR"/>
                <a:cs typeface="Noto Sans KR"/>
              </a:defRPr>
            </a:pPr>
            <a:r>
              <a:rPr sz="1350" b="1">
                <a:solidFill>
                  <a:srgbClr val="00A58A"/>
                </a:solidFill>
                <a:latin typeface="Noto Sans KR"/>
                <a:ea typeface="Noto Sans KR"/>
                <a:cs typeface="Noto Sans KR"/>
              </a:rPr>
              <a:t>다음 단계</a:t>
            </a:r>
          </a:p>
        </p:txBody>
      </p:sp>
      <p:sp>
        <p:nvSpPr>
          <p:cNvPr id="18" name="">
            <a:extLst xmlns:a="http://schemas.openxmlformats.org/drawingml/2006/main">
              <a:ext uri="{FF2B5EF4-FFF2-40B4-BE49-F238E27FC236}">
                <a16:creationId xmlns:a16="http://schemas.microsoft.com/office/drawing/2014/main" id="{141E9EE3-4F89-4CF1-B956-48A0C82D3D8E}"/>
              </a:ext>
            </a:extLst>
          </p:cNvPr>
          <p:cNvSpPr>
            <a:spLocks xmlns:a="http://schemas.openxmlformats.org/drawingml/2006/main" noGrp="1"/>
          </p:cNvSpPr>
          <p:nvPr/>
        </p:nvSpPr>
        <p:spPr>
          <a:xfrm xmlns:a="http://schemas.openxmlformats.org/drawingml/2006/main">
            <a:off x="2781300" y="4876800"/>
            <a:ext cx="828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산단·지원기관 파일럿으로 시간 단축과 판단 품질을 검증하겠습니다.</a:t>
            </a:r>
          </a:p>
        </p:txBody>
      </p:sp>
      <p:sp>
        <p:nvSpPr>
          <p:cNvPr id="19" name="">
            <a:extLst xmlns:a="http://schemas.openxmlformats.org/drawingml/2006/main">
              <a:ext uri="{FF2B5EF4-FFF2-40B4-BE49-F238E27FC236}">
                <a16:creationId xmlns:a16="http://schemas.microsoft.com/office/drawing/2014/main" id="{E0FAC429-0649-4798-AAE9-86FCFCEAF194}"/>
              </a:ext>
            </a:extLst>
          </p:cNvPr>
          <p:cNvSpPr>
            <a:spLocks xmlns:a="http://schemas.openxmlformats.org/drawingml/2006/main" noGrp="1"/>
          </p:cNvSpPr>
          <p:nvPr/>
        </p:nvSpPr>
        <p:spPr>
          <a:xfrm xmlns:a="http://schemas.openxmlformats.org/drawingml/2006/main">
            <a:off x="762000" y="60198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AI 산단수출 코파일럿</a:t>
            </a:r>
          </a:p>
        </p:txBody>
      </p:sp>
      <p:sp>
        <p:nvSpPr>
          <p:cNvPr id="20" name="">
            <a:extLst xmlns:a="http://schemas.openxmlformats.org/drawingml/2006/main">
              <a:ext uri="{FF2B5EF4-FFF2-40B4-BE49-F238E27FC236}">
                <a16:creationId xmlns:a16="http://schemas.microsoft.com/office/drawing/2014/main" id="{25C0DBCB-58A8-4A90-B9CC-A528E9AA17AF}"/>
              </a:ext>
            </a:extLst>
          </p:cNvPr>
          <p:cNvSpPr>
            <a:spLocks xmlns:a="http://schemas.openxmlformats.org/drawingml/2006/main" noGrp="1"/>
          </p:cNvSpPr>
          <p:nvPr/>
        </p:nvSpPr>
        <p:spPr>
          <a:xfrm xmlns:a="http://schemas.openxmlformats.org/drawingml/2006/main">
            <a:off x="9810750" y="6019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THANK YOU</a:t>
            </a:r>
          </a:p>
        </p:txBody>
      </p:sp>
    </p:spTree>
    <p:extLst>
      <p:ext uri="{BB962C8B-B14F-4D97-AF65-F5344CB8AC3E}">
        <p14:creationId xmlns:p14="http://schemas.microsoft.com/office/powerpoint/2010/main" val="2860240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2026-07-24T07:44:16.5960000Z</dcterms:created>
  <dcterms:modified xsi:type="dcterms:W3CDTF">2026-07-24T07:44:16.5960000Z</dcterms:modified>
</coreProperties>
</file>