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84" autoAdjust="0"/>
  </p:normalViewPr>
  <p:slideViewPr>
    <p:cSldViewPr snapToGrid="0">
      <p:cViewPr>
        <p:scale>
          <a:sx n="50" d="100"/>
          <a:sy n="50" d="100"/>
        </p:scale>
        <p:origin x="-43" y="7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안녕하세요</a:t>
            </a:r>
            <a:r>
              <a:rPr dirty="0"/>
              <a:t>. </a:t>
            </a:r>
            <a:r>
              <a:rPr dirty="0" err="1"/>
              <a:t>저희가</a:t>
            </a:r>
            <a:r>
              <a:rPr dirty="0"/>
              <a:t> </a:t>
            </a:r>
            <a:r>
              <a:rPr dirty="0" err="1"/>
              <a:t>만든</a:t>
            </a:r>
            <a:r>
              <a:rPr dirty="0"/>
              <a:t> AI </a:t>
            </a:r>
            <a:r>
              <a:rPr dirty="0" err="1"/>
              <a:t>산단수출</a:t>
            </a:r>
            <a:r>
              <a:rPr dirty="0"/>
              <a:t> </a:t>
            </a:r>
            <a:r>
              <a:rPr dirty="0" err="1"/>
              <a:t>코파일럿은</a:t>
            </a:r>
            <a:r>
              <a:rPr dirty="0"/>
              <a:t> </a:t>
            </a:r>
            <a:r>
              <a:rPr dirty="0" err="1"/>
              <a:t>수출</a:t>
            </a:r>
            <a:r>
              <a:rPr dirty="0"/>
              <a:t> </a:t>
            </a:r>
            <a:r>
              <a:rPr dirty="0" err="1"/>
              <a:t>경험과</a:t>
            </a:r>
            <a:r>
              <a:rPr dirty="0"/>
              <a:t> </a:t>
            </a:r>
            <a:r>
              <a:rPr dirty="0" err="1"/>
              <a:t>전담</a:t>
            </a:r>
            <a:r>
              <a:rPr dirty="0"/>
              <a:t> </a:t>
            </a:r>
            <a:r>
              <a:rPr dirty="0" err="1"/>
              <a:t>인력이</a:t>
            </a:r>
            <a:r>
              <a:rPr dirty="0"/>
              <a:t> </a:t>
            </a:r>
            <a:r>
              <a:rPr dirty="0" err="1"/>
              <a:t>부족한</a:t>
            </a:r>
            <a:r>
              <a:rPr dirty="0"/>
              <a:t> </a:t>
            </a:r>
            <a:r>
              <a:rPr dirty="0" err="1"/>
              <a:t>산업단지</a:t>
            </a:r>
            <a:r>
              <a:rPr dirty="0"/>
              <a:t> </a:t>
            </a:r>
            <a:r>
              <a:rPr dirty="0" err="1"/>
              <a:t>제조기업이</a:t>
            </a:r>
            <a:r>
              <a:rPr dirty="0"/>
              <a:t> </a:t>
            </a:r>
            <a:r>
              <a:rPr dirty="0" err="1"/>
              <a:t>기업과</a:t>
            </a:r>
            <a:r>
              <a:rPr dirty="0"/>
              <a:t> </a:t>
            </a:r>
            <a:r>
              <a:rPr dirty="0" err="1"/>
              <a:t>제품</a:t>
            </a:r>
            <a:r>
              <a:rPr dirty="0"/>
              <a:t> </a:t>
            </a:r>
            <a:r>
              <a:rPr dirty="0" err="1"/>
              <a:t>정보만으로</a:t>
            </a:r>
            <a:r>
              <a:rPr dirty="0"/>
              <a:t> </a:t>
            </a:r>
            <a:r>
              <a:rPr dirty="0" err="1"/>
              <a:t>후보국</a:t>
            </a:r>
            <a:r>
              <a:rPr dirty="0"/>
              <a:t>, </a:t>
            </a:r>
            <a:r>
              <a:rPr dirty="0" err="1"/>
              <a:t>인증·규제</a:t>
            </a:r>
            <a:r>
              <a:rPr dirty="0"/>
              <a:t>, </a:t>
            </a:r>
            <a:r>
              <a:rPr dirty="0" err="1"/>
              <a:t>결제</a:t>
            </a:r>
            <a:r>
              <a:rPr dirty="0"/>
              <a:t> </a:t>
            </a:r>
            <a:r>
              <a:rPr dirty="0" err="1"/>
              <a:t>위험</a:t>
            </a:r>
            <a:r>
              <a:rPr dirty="0"/>
              <a:t>, </a:t>
            </a:r>
            <a:r>
              <a:rPr dirty="0" err="1"/>
              <a:t>다음</a:t>
            </a:r>
            <a:r>
              <a:rPr dirty="0"/>
              <a:t> </a:t>
            </a:r>
            <a:r>
              <a:rPr dirty="0" err="1"/>
              <a:t>행동까지</a:t>
            </a:r>
            <a:r>
              <a:rPr dirty="0"/>
              <a:t> 한 </a:t>
            </a:r>
            <a:r>
              <a:rPr dirty="0" err="1"/>
              <a:t>번에</a:t>
            </a:r>
            <a:r>
              <a:rPr dirty="0"/>
              <a:t> </a:t>
            </a:r>
            <a:r>
              <a:rPr dirty="0" err="1"/>
              <a:t>판단하도록</a:t>
            </a:r>
            <a:r>
              <a:rPr dirty="0"/>
              <a:t> </a:t>
            </a:r>
            <a:r>
              <a:rPr dirty="0" err="1"/>
              <a:t>돕는</a:t>
            </a:r>
            <a:r>
              <a:rPr dirty="0"/>
              <a:t> </a:t>
            </a:r>
            <a:r>
              <a:rPr dirty="0" err="1"/>
              <a:t>서비스입니다</a:t>
            </a:r>
            <a:r>
              <a:rPr dirty="0"/>
              <a:t>. </a:t>
            </a:r>
            <a:r>
              <a:rPr dirty="0" err="1"/>
              <a:t>오늘은</a:t>
            </a:r>
            <a:r>
              <a:rPr dirty="0"/>
              <a:t> </a:t>
            </a:r>
            <a:r>
              <a:rPr dirty="0" err="1"/>
              <a:t>실제</a:t>
            </a:r>
            <a:r>
              <a:rPr dirty="0"/>
              <a:t> </a:t>
            </a:r>
            <a:r>
              <a:rPr dirty="0" err="1"/>
              <a:t>구현</a:t>
            </a:r>
            <a:r>
              <a:rPr dirty="0"/>
              <a:t> </a:t>
            </a:r>
            <a:r>
              <a:rPr dirty="0" err="1"/>
              <a:t>화면을</a:t>
            </a:r>
            <a:r>
              <a:rPr dirty="0"/>
              <a:t> </a:t>
            </a:r>
            <a:r>
              <a:rPr dirty="0" err="1"/>
              <a:t>중심으로</a:t>
            </a:r>
            <a:r>
              <a:rPr dirty="0"/>
              <a:t> </a:t>
            </a:r>
            <a:r>
              <a:rPr dirty="0" err="1"/>
              <a:t>필요성</a:t>
            </a:r>
            <a:r>
              <a:rPr dirty="0"/>
              <a:t>, </a:t>
            </a:r>
            <a:r>
              <a:rPr dirty="0" err="1"/>
              <a:t>구현</a:t>
            </a:r>
            <a:r>
              <a:rPr dirty="0"/>
              <a:t> </a:t>
            </a:r>
            <a:r>
              <a:rPr dirty="0" err="1"/>
              <a:t>수준</a:t>
            </a:r>
            <a:r>
              <a:rPr dirty="0"/>
              <a:t>, </a:t>
            </a:r>
            <a:r>
              <a:rPr dirty="0" err="1"/>
              <a:t>차별성</a:t>
            </a:r>
            <a:r>
              <a:rPr dirty="0"/>
              <a:t>, </a:t>
            </a:r>
            <a:r>
              <a:rPr dirty="0" err="1"/>
              <a:t>사업화</a:t>
            </a:r>
            <a:r>
              <a:rPr dirty="0"/>
              <a:t> </a:t>
            </a:r>
            <a:r>
              <a:rPr dirty="0" err="1"/>
              <a:t>가능성을</a:t>
            </a:r>
            <a:r>
              <a:rPr dirty="0"/>
              <a:t> </a:t>
            </a:r>
            <a:r>
              <a:rPr dirty="0" err="1"/>
              <a:t>말씀드리겠습니다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발표</a:t>
            </a:r>
            <a:r>
              <a:rPr dirty="0"/>
              <a:t> </a:t>
            </a:r>
            <a:r>
              <a:rPr dirty="0" err="1"/>
              <a:t>대본</a:t>
            </a:r>
            <a:r>
              <a:rPr dirty="0"/>
              <a:t>:</a:t>
            </a:r>
          </a:p>
          <a:p>
            <a:r>
              <a:rPr dirty="0" err="1"/>
              <a:t>수출을</a:t>
            </a:r>
            <a:r>
              <a:rPr dirty="0"/>
              <a:t> </a:t>
            </a:r>
            <a:r>
              <a:rPr dirty="0" err="1"/>
              <a:t>시작하려는</a:t>
            </a:r>
            <a:r>
              <a:rPr dirty="0"/>
              <a:t> </a:t>
            </a:r>
            <a:r>
              <a:rPr dirty="0" err="1"/>
              <a:t>기업의</a:t>
            </a:r>
            <a:r>
              <a:rPr dirty="0"/>
              <a:t> 첫 </a:t>
            </a:r>
            <a:r>
              <a:rPr dirty="0" err="1"/>
              <a:t>질문은</a:t>
            </a:r>
            <a:r>
              <a:rPr dirty="0"/>
              <a:t> </a:t>
            </a:r>
            <a:r>
              <a:rPr dirty="0" err="1"/>
              <a:t>단순히</a:t>
            </a:r>
            <a:r>
              <a:rPr dirty="0"/>
              <a:t> </a:t>
            </a:r>
            <a:r>
              <a:rPr dirty="0" err="1"/>
              <a:t>어느</a:t>
            </a:r>
            <a:r>
              <a:rPr dirty="0"/>
              <a:t> </a:t>
            </a:r>
            <a:r>
              <a:rPr dirty="0" err="1"/>
              <a:t>나라가</a:t>
            </a:r>
            <a:r>
              <a:rPr dirty="0"/>
              <a:t> 큰 </a:t>
            </a:r>
            <a:r>
              <a:rPr dirty="0" err="1"/>
              <a:t>시장인가가</a:t>
            </a:r>
            <a:r>
              <a:rPr dirty="0"/>
              <a:t> </a:t>
            </a:r>
            <a:r>
              <a:rPr dirty="0" err="1"/>
              <a:t>아닙니다</a:t>
            </a:r>
            <a:r>
              <a:rPr dirty="0"/>
              <a:t>. </a:t>
            </a:r>
            <a:r>
              <a:rPr dirty="0" err="1"/>
              <a:t>우리</a:t>
            </a:r>
            <a:r>
              <a:rPr dirty="0"/>
              <a:t> </a:t>
            </a:r>
            <a:r>
              <a:rPr dirty="0" err="1"/>
              <a:t>공장과</a:t>
            </a:r>
            <a:r>
              <a:rPr dirty="0"/>
              <a:t> </a:t>
            </a:r>
            <a:r>
              <a:rPr dirty="0" err="1"/>
              <a:t>제품</a:t>
            </a:r>
            <a:r>
              <a:rPr dirty="0"/>
              <a:t> </a:t>
            </a:r>
            <a:r>
              <a:rPr dirty="0" err="1"/>
              <a:t>기준으로</a:t>
            </a:r>
            <a:r>
              <a:rPr dirty="0"/>
              <a:t> </a:t>
            </a:r>
            <a:r>
              <a:rPr dirty="0" err="1"/>
              <a:t>어느</a:t>
            </a:r>
            <a:r>
              <a:rPr dirty="0"/>
              <a:t> </a:t>
            </a:r>
            <a:r>
              <a:rPr dirty="0" err="1"/>
              <a:t>나라를</a:t>
            </a:r>
            <a:r>
              <a:rPr dirty="0"/>
              <a:t> </a:t>
            </a:r>
            <a:r>
              <a:rPr dirty="0" err="1"/>
              <a:t>먼저</a:t>
            </a:r>
            <a:r>
              <a:rPr dirty="0"/>
              <a:t> </a:t>
            </a:r>
            <a:r>
              <a:rPr dirty="0" err="1"/>
              <a:t>볼지</a:t>
            </a:r>
            <a:r>
              <a:rPr dirty="0"/>
              <a:t>, </a:t>
            </a:r>
            <a:r>
              <a:rPr dirty="0" err="1"/>
              <a:t>어떤</a:t>
            </a:r>
            <a:r>
              <a:rPr dirty="0"/>
              <a:t> </a:t>
            </a:r>
            <a:r>
              <a:rPr dirty="0" err="1"/>
              <a:t>인증과</a:t>
            </a:r>
            <a:r>
              <a:rPr dirty="0"/>
              <a:t> </a:t>
            </a:r>
            <a:r>
              <a:rPr dirty="0" err="1"/>
              <a:t>규제를</a:t>
            </a:r>
            <a:r>
              <a:rPr dirty="0"/>
              <a:t> </a:t>
            </a:r>
            <a:r>
              <a:rPr dirty="0" err="1"/>
              <a:t>넘을지</a:t>
            </a:r>
            <a:r>
              <a:rPr dirty="0"/>
              <a:t>, </a:t>
            </a:r>
            <a:r>
              <a:rPr dirty="0" err="1"/>
              <a:t>관세와</a:t>
            </a:r>
            <a:r>
              <a:rPr dirty="0"/>
              <a:t> </a:t>
            </a:r>
            <a:r>
              <a:rPr dirty="0" err="1"/>
              <a:t>결제</a:t>
            </a:r>
            <a:r>
              <a:rPr dirty="0"/>
              <a:t> </a:t>
            </a:r>
            <a:r>
              <a:rPr dirty="0" err="1"/>
              <a:t>위험을</a:t>
            </a:r>
            <a:r>
              <a:rPr dirty="0"/>
              <a:t> </a:t>
            </a:r>
            <a:r>
              <a:rPr dirty="0" err="1"/>
              <a:t>감수할</a:t>
            </a:r>
            <a:r>
              <a:rPr dirty="0"/>
              <a:t> 수 </a:t>
            </a:r>
            <a:r>
              <a:rPr dirty="0" err="1"/>
              <a:t>있는지를</a:t>
            </a:r>
            <a:r>
              <a:rPr dirty="0"/>
              <a:t> </a:t>
            </a:r>
            <a:r>
              <a:rPr dirty="0" err="1"/>
              <a:t>함께</a:t>
            </a:r>
            <a:r>
              <a:rPr dirty="0"/>
              <a:t> </a:t>
            </a:r>
            <a:r>
              <a:rPr dirty="0" err="1"/>
              <a:t>판단해야</a:t>
            </a:r>
            <a:r>
              <a:rPr dirty="0"/>
              <a:t> </a:t>
            </a:r>
            <a:r>
              <a:rPr dirty="0" err="1"/>
              <a:t>합니다</a:t>
            </a:r>
            <a:r>
              <a:rPr dirty="0"/>
              <a:t>. </a:t>
            </a:r>
            <a:r>
              <a:rPr dirty="0" err="1"/>
              <a:t>지금은</a:t>
            </a:r>
            <a:r>
              <a:rPr dirty="0"/>
              <a:t> 이 </a:t>
            </a:r>
            <a:r>
              <a:rPr dirty="0" err="1"/>
              <a:t>근거가</a:t>
            </a:r>
            <a:r>
              <a:rPr dirty="0"/>
              <a:t> </a:t>
            </a:r>
            <a:r>
              <a:rPr dirty="0" err="1"/>
              <a:t>여러</a:t>
            </a:r>
            <a:r>
              <a:rPr dirty="0"/>
              <a:t> </a:t>
            </a:r>
            <a:r>
              <a:rPr dirty="0" err="1"/>
              <a:t>기관에</a:t>
            </a:r>
            <a:r>
              <a:rPr dirty="0"/>
              <a:t> </a:t>
            </a:r>
            <a:r>
              <a:rPr dirty="0" err="1"/>
              <a:t>흩어져</a:t>
            </a:r>
            <a:r>
              <a:rPr dirty="0"/>
              <a:t> </a:t>
            </a:r>
            <a:r>
              <a:rPr dirty="0" err="1"/>
              <a:t>있어</a:t>
            </a:r>
            <a:r>
              <a:rPr dirty="0"/>
              <a:t> </a:t>
            </a:r>
            <a:r>
              <a:rPr dirty="0" err="1"/>
              <a:t>정보는</a:t>
            </a:r>
            <a:r>
              <a:rPr dirty="0"/>
              <a:t> </a:t>
            </a:r>
            <a:r>
              <a:rPr dirty="0" err="1"/>
              <a:t>많지만</a:t>
            </a:r>
            <a:r>
              <a:rPr dirty="0"/>
              <a:t> </a:t>
            </a:r>
            <a:r>
              <a:rPr dirty="0" err="1"/>
              <a:t>결정은</a:t>
            </a:r>
            <a:r>
              <a:rPr dirty="0"/>
              <a:t> </a:t>
            </a:r>
            <a:r>
              <a:rPr dirty="0" err="1"/>
              <a:t>느리고</a:t>
            </a:r>
            <a:r>
              <a:rPr dirty="0"/>
              <a:t> </a:t>
            </a:r>
            <a:r>
              <a:rPr dirty="0" err="1"/>
              <a:t>누락</a:t>
            </a:r>
            <a:r>
              <a:rPr dirty="0"/>
              <a:t> </a:t>
            </a:r>
            <a:r>
              <a:rPr dirty="0" err="1"/>
              <a:t>위험은</a:t>
            </a:r>
            <a:r>
              <a:rPr dirty="0"/>
              <a:t> </a:t>
            </a:r>
            <a:r>
              <a:rPr dirty="0" err="1"/>
              <a:t>큽니다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예상</a:t>
            </a:r>
            <a:r>
              <a:rPr dirty="0"/>
              <a:t> </a:t>
            </a:r>
            <a:r>
              <a:rPr dirty="0" err="1"/>
              <a:t>발표시간</a:t>
            </a:r>
            <a:r>
              <a:rPr dirty="0"/>
              <a:t>: 0:55</a:t>
            </a:r>
          </a:p>
          <a:p>
            <a:r>
              <a:rPr dirty="0" err="1"/>
              <a:t>핵심</a:t>
            </a:r>
            <a:r>
              <a:rPr dirty="0"/>
              <a:t> </a:t>
            </a:r>
            <a:r>
              <a:rPr dirty="0" err="1"/>
              <a:t>메시지</a:t>
            </a:r>
            <a:r>
              <a:rPr dirty="0"/>
              <a:t>: </a:t>
            </a:r>
            <a:r>
              <a:rPr dirty="0" err="1"/>
              <a:t>기존</a:t>
            </a:r>
            <a:r>
              <a:rPr dirty="0"/>
              <a:t> </a:t>
            </a:r>
            <a:r>
              <a:rPr dirty="0" err="1"/>
              <a:t>대안은</a:t>
            </a:r>
            <a:r>
              <a:rPr dirty="0"/>
              <a:t> </a:t>
            </a:r>
            <a:r>
              <a:rPr dirty="0" err="1"/>
              <a:t>정확성·속도·실행성</a:t>
            </a:r>
            <a:r>
              <a:rPr dirty="0"/>
              <a:t> 중 </a:t>
            </a:r>
            <a:r>
              <a:rPr dirty="0" err="1"/>
              <a:t>하나에서</a:t>
            </a:r>
            <a:r>
              <a:rPr dirty="0"/>
              <a:t> </a:t>
            </a:r>
            <a:r>
              <a:rPr dirty="0" err="1"/>
              <a:t>흐름이</a:t>
            </a:r>
            <a:r>
              <a:rPr dirty="0"/>
              <a:t> </a:t>
            </a:r>
            <a:r>
              <a:rPr dirty="0" err="1"/>
              <a:t>끊깁니다</a:t>
            </a:r>
            <a:r>
              <a:rPr dirty="0"/>
              <a:t>.</a:t>
            </a:r>
          </a:p>
          <a:p>
            <a:r>
              <a:rPr dirty="0" err="1"/>
              <a:t>삽입할</a:t>
            </a:r>
            <a:r>
              <a:rPr dirty="0"/>
              <a:t> </a:t>
            </a:r>
            <a:r>
              <a:rPr dirty="0" err="1"/>
              <a:t>프로그램</a:t>
            </a:r>
            <a:r>
              <a:rPr dirty="0"/>
              <a:t> </a:t>
            </a:r>
            <a:r>
              <a:rPr dirty="0" err="1"/>
              <a:t>스크린샷</a:t>
            </a:r>
            <a:r>
              <a:rPr dirty="0"/>
              <a:t>: </a:t>
            </a:r>
            <a:r>
              <a:rPr dirty="0" err="1"/>
              <a:t>없음</a:t>
            </a:r>
            <a:endParaRPr dirty="0"/>
          </a:p>
          <a:p>
            <a:r>
              <a:rPr dirty="0" err="1"/>
              <a:t>화면에서</a:t>
            </a:r>
            <a:r>
              <a:rPr dirty="0"/>
              <a:t> </a:t>
            </a:r>
            <a:r>
              <a:rPr dirty="0" err="1"/>
              <a:t>강조할</a:t>
            </a:r>
            <a:r>
              <a:rPr dirty="0"/>
              <a:t> </a:t>
            </a:r>
            <a:r>
              <a:rPr dirty="0" err="1"/>
              <a:t>부분</a:t>
            </a:r>
            <a:r>
              <a:rPr dirty="0"/>
              <a:t>: </a:t>
            </a:r>
            <a:r>
              <a:rPr dirty="0" err="1"/>
              <a:t>기능</a:t>
            </a:r>
            <a:r>
              <a:rPr dirty="0"/>
              <a:t> </a:t>
            </a:r>
            <a:r>
              <a:rPr dirty="0" err="1"/>
              <a:t>나열이</a:t>
            </a:r>
            <a:r>
              <a:rPr dirty="0"/>
              <a:t> </a:t>
            </a:r>
            <a:r>
              <a:rPr dirty="0" err="1"/>
              <a:t>아니라</a:t>
            </a:r>
            <a:r>
              <a:rPr dirty="0"/>
              <a:t> Go/No-</a:t>
            </a:r>
            <a:r>
              <a:rPr dirty="0" err="1"/>
              <a:t>Go까지</a:t>
            </a:r>
            <a:r>
              <a:rPr dirty="0"/>
              <a:t> </a:t>
            </a:r>
            <a:r>
              <a:rPr dirty="0" err="1"/>
              <a:t>이어지는지</a:t>
            </a:r>
            <a:r>
              <a:rPr dirty="0"/>
              <a:t> </a:t>
            </a:r>
            <a:r>
              <a:rPr dirty="0" err="1"/>
              <a:t>비교</a:t>
            </a:r>
            <a:endParaRPr dirty="0"/>
          </a:p>
          <a:p>
            <a:r>
              <a:rPr dirty="0"/>
              <a:t>PPT </a:t>
            </a:r>
            <a:r>
              <a:rPr dirty="0" err="1"/>
              <a:t>핵심</a:t>
            </a:r>
            <a:r>
              <a:rPr dirty="0"/>
              <a:t> </a:t>
            </a:r>
            <a:r>
              <a:rPr dirty="0" err="1"/>
              <a:t>문구</a:t>
            </a:r>
            <a:r>
              <a:rPr dirty="0"/>
              <a:t>: </a:t>
            </a:r>
            <a:r>
              <a:rPr dirty="0" err="1"/>
              <a:t>정확성·속도·실행성을</a:t>
            </a:r>
            <a:r>
              <a:rPr dirty="0"/>
              <a:t> 한 </a:t>
            </a:r>
            <a:r>
              <a:rPr dirty="0" err="1"/>
              <a:t>흐름에서</a:t>
            </a:r>
            <a:r>
              <a:rPr dirty="0"/>
              <a:t> </a:t>
            </a:r>
            <a:r>
              <a:rPr dirty="0" err="1"/>
              <a:t>충족</a:t>
            </a:r>
            <a:endParaRPr dirty="0"/>
          </a:p>
          <a:p>
            <a:r>
              <a:rPr dirty="0" err="1"/>
              <a:t>발표</a:t>
            </a:r>
            <a:r>
              <a:rPr dirty="0"/>
              <a:t> </a:t>
            </a:r>
            <a:r>
              <a:rPr dirty="0" err="1"/>
              <a:t>대본</a:t>
            </a:r>
            <a:r>
              <a:rPr dirty="0"/>
              <a:t>:</a:t>
            </a:r>
          </a:p>
          <a:p>
            <a:r>
              <a:rPr dirty="0" err="1"/>
              <a:t>기존</a:t>
            </a:r>
            <a:r>
              <a:rPr dirty="0"/>
              <a:t> </a:t>
            </a:r>
            <a:r>
              <a:rPr dirty="0" err="1"/>
              <a:t>정보</a:t>
            </a:r>
            <a:r>
              <a:rPr dirty="0"/>
              <a:t> </a:t>
            </a:r>
            <a:r>
              <a:rPr dirty="0" err="1"/>
              <a:t>포털은</a:t>
            </a:r>
            <a:r>
              <a:rPr dirty="0"/>
              <a:t> </a:t>
            </a:r>
            <a:r>
              <a:rPr dirty="0" err="1"/>
              <a:t>정확하지만</a:t>
            </a:r>
            <a:r>
              <a:rPr dirty="0"/>
              <a:t> </a:t>
            </a:r>
            <a:r>
              <a:rPr dirty="0" err="1"/>
              <a:t>기관별로</a:t>
            </a:r>
            <a:r>
              <a:rPr dirty="0"/>
              <a:t> </a:t>
            </a:r>
            <a:r>
              <a:rPr dirty="0" err="1"/>
              <a:t>다시</a:t>
            </a:r>
            <a:r>
              <a:rPr dirty="0"/>
              <a:t> </a:t>
            </a:r>
            <a:r>
              <a:rPr dirty="0" err="1"/>
              <a:t>검색해야</a:t>
            </a:r>
            <a:r>
              <a:rPr dirty="0"/>
              <a:t> </a:t>
            </a:r>
            <a:r>
              <a:rPr dirty="0" err="1"/>
              <a:t>하고</a:t>
            </a:r>
            <a:r>
              <a:rPr dirty="0"/>
              <a:t>, </a:t>
            </a:r>
            <a:r>
              <a:rPr dirty="0" err="1"/>
              <a:t>일반</a:t>
            </a:r>
            <a:r>
              <a:rPr dirty="0"/>
              <a:t> </a:t>
            </a:r>
            <a:r>
              <a:rPr dirty="0" err="1"/>
              <a:t>생성형</a:t>
            </a:r>
            <a:r>
              <a:rPr dirty="0"/>
              <a:t> </a:t>
            </a:r>
            <a:r>
              <a:rPr dirty="0" err="1"/>
              <a:t>AI는</a:t>
            </a:r>
            <a:r>
              <a:rPr dirty="0"/>
              <a:t> </a:t>
            </a:r>
            <a:r>
              <a:rPr dirty="0" err="1"/>
              <a:t>빠르지만</a:t>
            </a:r>
            <a:r>
              <a:rPr dirty="0"/>
              <a:t> </a:t>
            </a:r>
            <a:r>
              <a:rPr dirty="0" err="1"/>
              <a:t>출처와</a:t>
            </a:r>
            <a:r>
              <a:rPr dirty="0"/>
              <a:t> </a:t>
            </a:r>
            <a:r>
              <a:rPr dirty="0" err="1"/>
              <a:t>조회일을</a:t>
            </a:r>
            <a:r>
              <a:rPr dirty="0"/>
              <a:t> </a:t>
            </a:r>
            <a:r>
              <a:rPr dirty="0" err="1"/>
              <a:t>추적하기</a:t>
            </a:r>
            <a:r>
              <a:rPr dirty="0"/>
              <a:t> </a:t>
            </a:r>
            <a:r>
              <a:rPr dirty="0" err="1"/>
              <a:t>어렵습니다</a:t>
            </a:r>
            <a:r>
              <a:rPr dirty="0"/>
              <a:t>. </a:t>
            </a:r>
            <a:r>
              <a:rPr dirty="0" err="1"/>
              <a:t>컨설팅</a:t>
            </a:r>
            <a:r>
              <a:rPr dirty="0"/>
              <a:t> </a:t>
            </a:r>
            <a:r>
              <a:rPr dirty="0" err="1"/>
              <a:t>보고서는</a:t>
            </a:r>
            <a:r>
              <a:rPr dirty="0"/>
              <a:t> </a:t>
            </a:r>
            <a:r>
              <a:rPr dirty="0" err="1"/>
              <a:t>유용하지만</a:t>
            </a:r>
            <a:r>
              <a:rPr dirty="0"/>
              <a:t> </a:t>
            </a:r>
            <a:r>
              <a:rPr dirty="0" err="1"/>
              <a:t>데이터가</a:t>
            </a:r>
            <a:r>
              <a:rPr dirty="0"/>
              <a:t> </a:t>
            </a:r>
            <a:r>
              <a:rPr dirty="0" err="1"/>
              <a:t>바뀔</a:t>
            </a:r>
            <a:r>
              <a:rPr dirty="0"/>
              <a:t> </a:t>
            </a:r>
            <a:r>
              <a:rPr dirty="0" err="1"/>
              <a:t>때마다</a:t>
            </a:r>
            <a:r>
              <a:rPr dirty="0"/>
              <a:t> </a:t>
            </a:r>
            <a:r>
              <a:rPr dirty="0" err="1"/>
              <a:t>다시</a:t>
            </a:r>
            <a:r>
              <a:rPr dirty="0"/>
              <a:t> </a:t>
            </a:r>
            <a:r>
              <a:rPr dirty="0" err="1"/>
              <a:t>작성해야</a:t>
            </a:r>
            <a:r>
              <a:rPr dirty="0"/>
              <a:t> </a:t>
            </a:r>
            <a:r>
              <a:rPr dirty="0" err="1"/>
              <a:t>합니다</a:t>
            </a:r>
            <a:r>
              <a:rPr dirty="0"/>
              <a:t>. </a:t>
            </a:r>
            <a:r>
              <a:rPr dirty="0" err="1"/>
              <a:t>그래서</a:t>
            </a:r>
            <a:r>
              <a:rPr dirty="0"/>
              <a:t> </a:t>
            </a:r>
            <a:r>
              <a:rPr dirty="0" err="1"/>
              <a:t>기업·품목·국가·위험·행동이</a:t>
            </a:r>
            <a:r>
              <a:rPr dirty="0"/>
              <a:t> </a:t>
            </a:r>
            <a:r>
              <a:rPr dirty="0" err="1"/>
              <a:t>끊기지</a:t>
            </a:r>
            <a:r>
              <a:rPr dirty="0"/>
              <a:t> </a:t>
            </a:r>
            <a:r>
              <a:rPr dirty="0" err="1"/>
              <a:t>않는</a:t>
            </a:r>
            <a:r>
              <a:rPr dirty="0"/>
              <a:t> </a:t>
            </a:r>
            <a:r>
              <a:rPr dirty="0" err="1"/>
              <a:t>의사결정</a:t>
            </a:r>
            <a:r>
              <a:rPr dirty="0"/>
              <a:t> </a:t>
            </a:r>
            <a:r>
              <a:rPr dirty="0" err="1"/>
              <a:t>구조가</a:t>
            </a:r>
            <a:r>
              <a:rPr dirty="0"/>
              <a:t> </a:t>
            </a:r>
            <a:r>
              <a:rPr dirty="0" err="1"/>
              <a:t>필요합니다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1:00</a:t>
            </a:r>
          </a:p>
          <a:p>
            <a:r>
              <a:t>핵심 메시지: 의사결정을 해야 하는 제조기업과 지원기관이 핵심 고객입니다.</a:t>
            </a:r>
          </a:p>
          <a:p>
            <a:r>
              <a:t>삽입할 프로그램 스크린샷: 없음</a:t>
            </a:r>
          </a:p>
          <a:p>
            <a:r>
              <a:t>화면에서 강조할 부분: 대표의 Go/No-Go, 실무자의 요건, 기관의 표준 진단</a:t>
            </a:r>
          </a:p>
          <a:p>
            <a:r>
              <a:t>PPT 핵심 문구: 검색보다 다음 결정을 내려야 하는 세 고객</a:t>
            </a:r>
          </a:p>
          <a:p>
            <a:r>
              <a:t>발표 대본:</a:t>
            </a:r>
          </a:p>
          <a:p>
            <a:r>
              <a:t>1차 고객은 수출 전담자가 없거나 경험이 적은 산단 제조기업입니다. 대표는 추진 여부와 우선시장을, 실무자는 HS 코드와 인증·규제·결제 조건을 필요로 합니다. 두 번째는 산단공, 지자체, 테크노파크 같은 지원기관으로 상담 전에 기업을 표준 진단하고 근거 리포트를 남겨야 합니다. 세 번째는 관세·인증·무역 전문가로, 흩어진 근거를 빠르게 확인하고 고부가 자문에 집중할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0:45</a:t>
            </a:r>
          </a:p>
          <a:p>
            <a:r>
              <a:t>핵심 메시지: 입력-판단-실행이 한 흐름으로 이어집니다.</a:t>
            </a:r>
          </a:p>
          <a:p>
            <a:r>
              <a:t>삽입할 프로그램 스크린샷: 없음</a:t>
            </a:r>
          </a:p>
          <a:p>
            <a:r>
              <a:t>화면에서 강조할 부분: 기업·HSK에서 Top 3, 국가 게이트, 실행 리포트로 이어지는 다섯 단계</a:t>
            </a:r>
          </a:p>
          <a:p>
            <a:r>
              <a:t>PPT 핵심 문구: 기업·제품 입력부터 실행 리포트까지 5단계</a:t>
            </a:r>
          </a:p>
          <a:p>
            <a:r>
              <a:t>발표 대본:</a:t>
            </a:r>
          </a:p>
          <a:p>
            <a:r>
              <a:t>이용 흐름은 단순합니다. 먼저 KICOX 기업·공장 정보와 제품·HSK를 고정합니다. 다음으로 후보국 Top 3를 도출하고, 선택 국가의 시장·인증·규제·결제·안전을 상세 검증합니다. 마지막으로 AI가 조건부 추진 여부와 다음 행동을 정리해 PDF 리포트로 제공합니다.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1:10</a:t>
            </a:r>
          </a:p>
          <a:p>
            <a:r>
              <a:t>핵심 메시지: 분석의 출발점을 공식 기업·품목 데이터와 사용자 확인으로 고정합니다.</a:t>
            </a:r>
          </a:p>
          <a:p>
            <a:r>
              <a:t>삽입할 프로그램 스크린샷: company.png, product.png</a:t>
            </a:r>
          </a:p>
          <a:p>
            <a:r>
              <a:t>화면에서 강조할 부분: 넥센타이어 공장 정보와 HS 401110 / HSK 4011100000</a:t>
            </a:r>
          </a:p>
          <a:p>
            <a:r>
              <a:t>PPT 핵심 문구: 공식 기업정보 + 공식 코드 + 사용자 확정</a:t>
            </a:r>
          </a:p>
          <a:p>
            <a:r>
              <a:t>발표 대본:</a:t>
            </a:r>
          </a:p>
          <a:p>
            <a:r>
              <a:t>실제 데모입니다. 넥센타이어를 선택하면 KICOX에서 공장, 산단, 업종, 생산품 정보를 불러옵니다. 제품 설명을 입력하면 관세청 공식 코드표와 AI 보조를 통해 HS·HSK 후보를 제시하고 사용자가 분석 코드를 확정합니다. 즉 AI가 임의로 품목을 정하는 것이 아니라 공식 코드와 사용자 확인을 출발점으로 삼습니다.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1:10</a:t>
            </a:r>
          </a:p>
          <a:p>
            <a:r>
              <a:t>핵심 메시지: 추천은 일반 국가 순위가 아니라 기업·품목 기준의 추적 가능한 후보군입니다.</a:t>
            </a:r>
          </a:p>
          <a:p>
            <a:r>
              <a:t>삽입할 프로그램 스크린샷: countries.png</a:t>
            </a:r>
          </a:p>
          <a:p>
            <a:r>
              <a:t>화면에서 강조할 부분: 미국·베트남·브라질과 포함·감점 이유</a:t>
            </a:r>
          </a:p>
          <a:p>
            <a:r>
              <a:t>PPT 핵심 문구: Top 3를 이유와 함께 좁힌다</a:t>
            </a:r>
          </a:p>
          <a:p>
            <a:r>
              <a:t>발표 대본:</a:t>
            </a:r>
          </a:p>
          <a:p>
            <a:r>
              <a:t>확정된 타이어 코드로 미국, 베트남, 브라질이 상위 후보로 제시됩니다. 각 카드에는 포함 이유뿐 아니라 낮은 점수의 이유가 함께 표시됩니다. 후보군 안에서만 시장성, 인증, 규제, 결제, 안전을 비교하기 때문에 시장 규모만 큰 국가를 무조건 추천하지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1:10</a:t>
            </a:r>
          </a:p>
          <a:p>
            <a:r>
              <a:t>핵심 메시지: 기회와 준비도를 분리해 과도한 낙관을 막습니다.</a:t>
            </a:r>
          </a:p>
          <a:p>
            <a:r>
              <a:t>삽입할 프로그램 스크린샷: country-us.png</a:t>
            </a:r>
          </a:p>
          <a:p>
            <a:r>
              <a:t>화면에서 강조할 부분: 조건부 검토, 시장 기회 100/100, 근거 충족도 57%</a:t>
            </a:r>
          </a:p>
          <a:p>
            <a:r>
              <a:t>PPT 핵심 문구: 100점 시장도 57% 준비면 조건부</a:t>
            </a:r>
          </a:p>
          <a:p>
            <a:r>
              <a:t>발표 대본:</a:t>
            </a:r>
          </a:p>
          <a:p>
            <a:r>
              <a:t>미국 상세 화면입니다. 시장 기회는 100점이지만 수출 적합도는 조건부 검토이고, 근거 충족도는 57%로 표시됩니다. 반덤핑, DOT 인증, 세번 확정 같은 미확인 조건을 숨기지 않습니다. 이처럼 기회 점수와 진입 가능성을 분리해야 기업이 과도한 낙관을 피할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1:10</a:t>
            </a:r>
          </a:p>
          <a:p>
            <a:r>
              <a:t>핵심 메시지: AI 출력은 출처가 연결된 조건부 판단과 실행 항목입니다.</a:t>
            </a:r>
          </a:p>
          <a:p>
            <a:r>
              <a:t>삽입할 프로그램 스크린샷: report.png</a:t>
            </a:r>
          </a:p>
          <a:p>
            <a:r>
              <a:t>화면에서 강조할 부분: 조건부 추진, 14.72%, DOT, O/A 85.7%, PDF</a:t>
            </a:r>
          </a:p>
          <a:p>
            <a:r>
              <a:t>PPT 핵심 문구: 조건을 담당자와 다음 행동으로 전환</a:t>
            </a:r>
          </a:p>
          <a:p>
            <a:r>
              <a:t>발표 대본:</a:t>
            </a:r>
          </a:p>
          <a:p>
            <a:r>
              <a:t>최종 리포트는 미국 시장을 조건부 추진으로 판단합니다. 현재 데모에서는 한미 FTA 기본 무관세와 함께 14.72% 반덤핑 관세, DOT 인증, O/A 결제 비중 85.7%를 동시에 검토하도록 제시합니다. 그리고 원가 재산정, 인증 확인, 무역보험 검토처럼 담당자와 다음 행동으로 연결하며 PDF로 내려받을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1:05</a:t>
            </a:r>
          </a:p>
          <a:p>
            <a:r>
              <a:t>핵심 메시지: AI는 공공데이터를 대체하지 않고 근거 위에서 판단과 행동을 생성합니다.</a:t>
            </a:r>
          </a:p>
          <a:p>
            <a:r>
              <a:t>삽입할 프로그램 스크린샷: 없음</a:t>
            </a:r>
          </a:p>
          <a:p>
            <a:r>
              <a:t>화면에서 강조할 부분: 사실층-근거층-게이트-AI 출력의 분리</a:t>
            </a:r>
          </a:p>
          <a:p>
            <a:r>
              <a:t>PPT 핵심 문구: 공공데이터가 사실을 만들고 AI가 행동으로 변환</a:t>
            </a:r>
          </a:p>
          <a:p>
            <a:r>
              <a:t>발표 대본:</a:t>
            </a:r>
          </a:p>
          <a:p>
            <a:r>
              <a:t>구조의 핵심은 AI가 출처를 대신하지 않는다는 점입니다. KICOX, KOTRA, K-SURE, 관세청, 안전·전략물자 데이터를 기업·HSK·국가 키로 정규화하고 출처, 조회일, 상태, 근거 ID를 붙입니다. 그 위에서 Gemini와 에이전트가 추천·판단·행동을 생성합니다. 따라서 다른 AI나 ERP, 지원기관 플랫폼도 동일한 근거 API를 호출해 확장할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0:55</a:t>
            </a:r>
          </a:p>
          <a:p>
            <a:r>
              <a:t>핵심 메시지: 경쟁력은 데이터·게이트·도메인 규칙이 한 흐름에서 작동하는 구조입니다.</a:t>
            </a:r>
          </a:p>
          <a:p>
            <a:r>
              <a:t>삽입할 프로그램 스크린샷: 없음</a:t>
            </a:r>
          </a:p>
          <a:p>
            <a:r>
              <a:t>화면에서 강조할 부분: 코파일럿 열의 전 과정 유지, 근거 ID, 미확인 게이트</a:t>
            </a:r>
          </a:p>
          <a:p>
            <a:r>
              <a:t>PPT 핵심 문구: 데이터 수가 아니라 근거가 끊기지 않는 구조</a:t>
            </a:r>
          </a:p>
          <a:p>
            <a:r>
              <a:t>발표 대본:</a:t>
            </a:r>
          </a:p>
          <a:p>
            <a:r>
              <a:t>차별점은 API를 많이 붙였다는 데 있지 않습니다. 기업과 품목을 기준으로 10종 공공데이터를 연결하고, 정확 일치부터 HS6, 제품명 순으로 근거 신뢰도를 관리하며, 미확인을 의사결정 게이트로 남기는 구조가 핵심입니다. 이 데이터·게이트 스키마가 일반 포털이나 단순 챗봇과 다른 경쟁력입니다.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0:55</a:t>
            </a:r>
          </a:p>
          <a:p>
            <a:r>
              <a:t>핵심 메시지: 현재 증거는 E2E 시나리오 검증이며 사용자 파일럿이 다음입니다.</a:t>
            </a:r>
          </a:p>
          <a:p>
            <a:r>
              <a:t>삽입할 프로그램 스크린샷: data-sources.png</a:t>
            </a:r>
          </a:p>
          <a:p>
            <a:r>
              <a:t>화면에서 강조할 부분: 5단계 완주, 10종 API 상태·로그, PDF 생성</a:t>
            </a:r>
          </a:p>
          <a:p>
            <a:r>
              <a:t>PPT 핵심 문구: 구현 검증 완료, 사용자 검증은 다음 단계</a:t>
            </a:r>
          </a:p>
          <a:p>
            <a:r>
              <a:t>발표 대본:</a:t>
            </a:r>
          </a:p>
          <a:p>
            <a:r>
              <a:t>현재 검증 수준을 과장하지 않겠습니다. 실제 넥센타이어 시나리오로 기업 입력부터 후보국, 미국 상세, AI 판단, PDF까지 5단계를 완주했고, 데이터 출처 화면에서 공공데이터 API 10종의 성공·부분·대기 상태와 호출 로그를 확인했습니다. 다음 검증은 산단 및 지원기관 담당자와 실제 업무시간, 판단 유용성, 누락 감소를 측정하는 사용자 파일럿입니다.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1:00</a:t>
            </a:r>
          </a:p>
          <a:p>
            <a:r>
              <a:t>핵심 메시지: 기업 구독에서 기관 라이선스와 API 반복매출로 확장하는 제안 모델입니다.</a:t>
            </a:r>
          </a:p>
          <a:p>
            <a:r>
              <a:t>삽입할 프로그램 스크린샷: 없음</a:t>
            </a:r>
          </a:p>
          <a:p>
            <a:r>
              <a:t>화면에서 강조할 부분: 수혜자, 상품, 과금, 운영이 단계별로 연결됨</a:t>
            </a:r>
          </a:p>
          <a:p>
            <a:r>
              <a:t>PPT 핵심 문구: B2B SaaS → B2G 라이선스 → 사용량 API</a:t>
            </a:r>
          </a:p>
          <a:p>
            <a:r>
              <a:t>발표 대본:</a:t>
            </a:r>
          </a:p>
          <a:p>
            <a:r>
              <a:t>초기에는 제조기업이 프로젝트와 좌석 단위로 쓰는 B2B SaaS로 시작합니다. 지원기관에는 다수 기업을 관리하는 기관 라이선스와 화이트라벨 대시보드를 제공합니다. 이후 ERP·CRM·수출지원 플랫폼에 근거·판단 API를 사용량 기반으로 공급합니다. 운영은 공공데이터 상태 모니터링, AI 사용량 관리, 공식 데이터 갱신, 전문가 최종 확인의 조합입니다.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0:55</a:t>
            </a:r>
          </a:p>
          <a:p>
            <a:r>
              <a:t>핵심 메시지: 검증과 도입을 먼저 만들고 같은 근거 스키마로 플랫폼과 에이전트까지 확장합니다.</a:t>
            </a:r>
          </a:p>
          <a:p>
            <a:r>
              <a:t>삽입할 프로그램 스크린샷: 없음</a:t>
            </a:r>
          </a:p>
          <a:p>
            <a:r>
              <a:t>화면에서 강조할 부분: 파일럿-안정화-기관-플랫폼-다중 에이전트 순서</a:t>
            </a:r>
          </a:p>
          <a:p>
            <a:r>
              <a:t>PPT 핵심 문구: 확장의 공통 기반은 동일한 근거 스키마</a:t>
            </a:r>
          </a:p>
          <a:p>
            <a:r>
              <a:t>발표 대본:</a:t>
            </a:r>
          </a:p>
          <a:p>
            <a:r>
              <a:t>다음 단계는 기능을 더 붙이는 것보다 검증과 도입 순서가 중요합니다. 먼저 기관 파일럿으로 KPI를 확보하고, 승인 대기 데이터와 캐시 갱신 체계를 안정화합니다. 이후 기관용 포트폴리오와 API를 제공하고, 장기적으로는 HS 분류, 인증, 관세·물류, 바이어 리스크 에이전트가 같은 근거 스키마 위에서 협업하도록 확장하겠습니다.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0:50</a:t>
            </a:r>
          </a:p>
          <a:p>
            <a:r>
              <a:t>핵심 메시지: 구현된 10종 데이터·5단계 흐름을 실제 기관 파일럿으로 검증할 단계입니다.</a:t>
            </a:r>
          </a:p>
          <a:p>
            <a:r>
              <a:t>삽입할 프로그램 스크린샷: 없음</a:t>
            </a:r>
          </a:p>
          <a:p>
            <a:r>
              <a:t>화면에서 강조할 부분: 10→3→5→1의 구현 요약과 파일럿 제안</a:t>
            </a:r>
          </a:p>
          <a:p>
            <a:r>
              <a:t>PPT 핵심 문구: 수출의 첫 판단을 5분 안에</a:t>
            </a:r>
          </a:p>
          <a:p>
            <a:r>
              <a:t>발표 대본:</a:t>
            </a:r>
          </a:p>
          <a:p>
            <a:r>
              <a:t>AI 산단수출 코파일럿은 10종 공공데이터를 후보국 Top 3, 5단계 검증, 1개의 실행 리포트로 연결합니다. 목표는 수일 걸리던 초기 조사를 5분의 첫 판단으로 바꾸고, 중요한 미확인 조건을 놓치지 않게 하는 것입니다. 이제 실제 산단과 지원기관 파일럿으로 시간 단축과 판단 품질을 검증하겠습니다. 감사합니다.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C2C"/>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E9E8A322-7D9A-4A6C-960E-A0EA7DA73A25}"/>
              </a:ext>
            </a:extLst>
          </p:cNvPr>
          <p:cNvSpPr>
            <a:spLocks noGrp="1"/>
          </p:cNvSpPr>
          <p:nvPr/>
        </p:nvSpPr>
        <p:spPr>
          <a:xfrm>
            <a:off x="685800" y="723900"/>
            <a:ext cx="57150" cy="5410200"/>
          </a:xfrm>
          <a:prstGeom prst="rect">
            <a:avLst/>
          </a:prstGeom>
          <a:solidFill>
            <a:srgbClr val="00A58A"/>
          </a:solidFill>
          <a:ln w="0">
            <a:solidFill>
              <a:srgbClr val="00A58A"/>
            </a:solidFill>
            <a:prstDash val="solid"/>
          </a:ln>
        </p:spPr>
      </p:sp>
      <p:sp>
        <p:nvSpPr>
          <p:cNvPr id="2" name="직사각형 1">
            <a:extLst>
              <a:ext uri="{FF2B5EF4-FFF2-40B4-BE49-F238E27FC236}">
                <a16:creationId xmlns:a16="http://schemas.microsoft.com/office/drawing/2014/main" id="{7AC4C646-6CB7-4636-AB17-5D0FC9BD34D3}"/>
              </a:ext>
            </a:extLst>
          </p:cNvPr>
          <p:cNvSpPr>
            <a:spLocks noGrp="1"/>
          </p:cNvSpPr>
          <p:nvPr/>
        </p:nvSpPr>
        <p:spPr>
          <a:xfrm>
            <a:off x="1028700" y="704850"/>
            <a:ext cx="3714750" cy="247650"/>
          </a:xfrm>
          <a:prstGeom prst="rect">
            <a:avLst/>
          </a:prstGeom>
          <a:noFill/>
          <a:ln w="0">
            <a:noFill/>
            <a:prstDash val="solid"/>
          </a:ln>
        </p:spPr>
        <p:txBody>
          <a:bodyPr lIns="0" tIns="0" rIns="0" bIns="0" anchor="ctr"/>
          <a:lstStyle/>
          <a:p>
            <a:pPr algn="l">
              <a:defRPr sz="975" b="1">
                <a:solidFill>
                  <a:srgbClr val="8FD8CB"/>
                </a:solidFill>
                <a:latin typeface="Noto Sans KR"/>
                <a:ea typeface="Noto Sans KR"/>
                <a:cs typeface="Noto Sans KR"/>
              </a:defRPr>
            </a:pPr>
            <a:r>
              <a:rPr sz="975" b="1">
                <a:solidFill>
                  <a:srgbClr val="8FD8CB"/>
                </a:solidFill>
                <a:latin typeface="Noto Sans KR"/>
                <a:ea typeface="Noto Sans KR"/>
                <a:cs typeface="Noto Sans KR"/>
              </a:rPr>
              <a:t>제품·서비스 개발 부문</a:t>
            </a:r>
          </a:p>
        </p:txBody>
      </p:sp>
      <p:sp>
        <p:nvSpPr>
          <p:cNvPr id="3" name="직사각형 2">
            <a:extLst>
              <a:ext uri="{FF2B5EF4-FFF2-40B4-BE49-F238E27FC236}">
                <a16:creationId xmlns:a16="http://schemas.microsoft.com/office/drawing/2014/main" id="{88C42337-97A8-4DE3-ABE9-4AFB496A68AE}"/>
              </a:ext>
            </a:extLst>
          </p:cNvPr>
          <p:cNvSpPr>
            <a:spLocks noGrp="1"/>
          </p:cNvSpPr>
          <p:nvPr/>
        </p:nvSpPr>
        <p:spPr>
          <a:xfrm>
            <a:off x="1028700" y="1238250"/>
            <a:ext cx="4857750" cy="1619250"/>
          </a:xfrm>
          <a:prstGeom prst="rect">
            <a:avLst/>
          </a:prstGeom>
          <a:noFill/>
          <a:ln w="0">
            <a:noFill/>
            <a:prstDash val="solid"/>
          </a:ln>
        </p:spPr>
        <p:txBody>
          <a:bodyPr lIns="0" tIns="0" rIns="0" bIns="0" anchor="ctr"/>
          <a:lstStyle/>
          <a:p>
            <a:pPr algn="l">
              <a:defRPr sz="4500" b="1">
                <a:solidFill>
                  <a:srgbClr val="FFFFFF"/>
                </a:solidFill>
                <a:latin typeface="Noto Sans KR"/>
                <a:ea typeface="Noto Sans KR"/>
                <a:cs typeface="Noto Sans KR"/>
              </a:defRPr>
            </a:pPr>
            <a:r>
              <a:rPr sz="4500" b="1">
                <a:solidFill>
                  <a:srgbClr val="FFFFFF"/>
                </a:solidFill>
                <a:latin typeface="Noto Sans KR"/>
                <a:ea typeface="Noto Sans KR"/>
                <a:cs typeface="Noto Sans KR"/>
              </a:rPr>
              <a:t>AI 산단수출</a:t>
            </a:r>
          </a:p>
          <a:p>
            <a:pPr algn="l">
              <a:defRPr sz="4500" b="1">
                <a:solidFill>
                  <a:srgbClr val="FFFFFF"/>
                </a:solidFill>
                <a:latin typeface="Noto Sans KR"/>
                <a:ea typeface="Noto Sans KR"/>
                <a:cs typeface="Noto Sans KR"/>
              </a:defRPr>
            </a:pPr>
            <a:r>
              <a:rPr sz="4500" b="1">
                <a:solidFill>
                  <a:srgbClr val="FFFFFF"/>
                </a:solidFill>
                <a:latin typeface="Noto Sans KR"/>
                <a:ea typeface="Noto Sans KR"/>
                <a:cs typeface="Noto Sans KR"/>
              </a:rPr>
              <a:t>코파일럿</a:t>
            </a:r>
          </a:p>
        </p:txBody>
      </p:sp>
      <p:sp>
        <p:nvSpPr>
          <p:cNvPr id="4" name="직사각형 3">
            <a:extLst>
              <a:ext uri="{FF2B5EF4-FFF2-40B4-BE49-F238E27FC236}">
                <a16:creationId xmlns:a16="http://schemas.microsoft.com/office/drawing/2014/main" id="{3211E310-2DB1-461F-BC6E-9F81C8F114CE}"/>
              </a:ext>
            </a:extLst>
          </p:cNvPr>
          <p:cNvSpPr>
            <a:spLocks noGrp="1"/>
          </p:cNvSpPr>
          <p:nvPr/>
        </p:nvSpPr>
        <p:spPr>
          <a:xfrm>
            <a:off x="1028700" y="3105150"/>
            <a:ext cx="4857750" cy="876300"/>
          </a:xfrm>
          <a:prstGeom prst="rect">
            <a:avLst/>
          </a:prstGeom>
          <a:noFill/>
          <a:ln w="0">
            <a:noFill/>
            <a:prstDash val="solid"/>
          </a:ln>
        </p:spPr>
        <p:txBody>
          <a:bodyPr lIns="0" tIns="0" rIns="0" bIns="0" anchor="ctr"/>
          <a:lstStyle/>
          <a:p>
            <a:pPr algn="l">
              <a:defRPr sz="2100" b="0">
                <a:solidFill>
                  <a:srgbClr val="D7E7ED"/>
                </a:solidFill>
                <a:latin typeface="Noto Sans KR"/>
                <a:ea typeface="Noto Sans KR"/>
                <a:cs typeface="Noto Sans KR"/>
              </a:defRPr>
            </a:pPr>
            <a:r>
              <a:rPr sz="2100" b="0">
                <a:solidFill>
                  <a:srgbClr val="D7E7ED"/>
                </a:solidFill>
                <a:latin typeface="Noto Sans KR"/>
                <a:ea typeface="Noto Sans KR"/>
                <a:cs typeface="Noto Sans KR"/>
              </a:rPr>
              <a:t>흩어진 공공데이터를</a:t>
            </a:r>
          </a:p>
          <a:p>
            <a:pPr algn="l">
              <a:defRPr sz="2100" b="0">
                <a:solidFill>
                  <a:srgbClr val="D7E7ED"/>
                </a:solidFill>
                <a:latin typeface="Noto Sans KR"/>
                <a:ea typeface="Noto Sans KR"/>
                <a:cs typeface="Noto Sans KR"/>
              </a:defRPr>
            </a:pPr>
            <a:r>
              <a:rPr sz="2100" b="0">
                <a:solidFill>
                  <a:srgbClr val="D7E7ED"/>
                </a:solidFill>
                <a:latin typeface="Noto Sans KR"/>
                <a:ea typeface="Noto Sans KR"/>
                <a:cs typeface="Noto Sans KR"/>
              </a:rPr>
              <a:t>5분 수출 의사결정으로</a:t>
            </a:r>
          </a:p>
        </p:txBody>
      </p:sp>
      <p:sp>
        <p:nvSpPr>
          <p:cNvPr id="5" name="사각형: 둥근 모서리 4">
            <a:extLst>
              <a:ext uri="{FF2B5EF4-FFF2-40B4-BE49-F238E27FC236}">
                <a16:creationId xmlns:a16="http://schemas.microsoft.com/office/drawing/2014/main" id="{AC0346BC-B800-4E1F-BD78-3967320D2708}"/>
              </a:ext>
            </a:extLst>
          </p:cNvPr>
          <p:cNvSpPr>
            <a:spLocks noGrp="1"/>
          </p:cNvSpPr>
          <p:nvPr/>
        </p:nvSpPr>
        <p:spPr>
          <a:xfrm>
            <a:off x="1028700" y="4343400"/>
            <a:ext cx="2000250" cy="285750"/>
          </a:xfrm>
          <a:prstGeom prst="roundRect">
            <a:avLst>
              <a:gd name="adj" fmla="val 40000"/>
            </a:avLst>
          </a:prstGeom>
          <a:solidFill>
            <a:srgbClr val="00A58A"/>
          </a:solidFill>
          <a:ln w="0">
            <a:solidFill>
              <a:srgbClr val="00A58A"/>
            </a:solidFill>
            <a:prstDash val="solid"/>
          </a:ln>
        </p:spPr>
      </p:sp>
      <p:sp>
        <p:nvSpPr>
          <p:cNvPr id="6" name="직사각형 5">
            <a:extLst>
              <a:ext uri="{FF2B5EF4-FFF2-40B4-BE49-F238E27FC236}">
                <a16:creationId xmlns:a16="http://schemas.microsoft.com/office/drawing/2014/main" id="{AA6A7FAF-DC96-4778-AB7B-D7CEA1DC8C9F}"/>
              </a:ext>
            </a:extLst>
          </p:cNvPr>
          <p:cNvSpPr>
            <a:spLocks noGrp="1"/>
          </p:cNvSpPr>
          <p:nvPr/>
        </p:nvSpPr>
        <p:spPr>
          <a:xfrm>
            <a:off x="1028700" y="4343400"/>
            <a:ext cx="20002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IMPLEMENTED PROTOTYPE</a:t>
            </a:r>
          </a:p>
        </p:txBody>
      </p:sp>
      <p:sp>
        <p:nvSpPr>
          <p:cNvPr id="7" name="직사각형 6">
            <a:extLst>
              <a:ext uri="{FF2B5EF4-FFF2-40B4-BE49-F238E27FC236}">
                <a16:creationId xmlns:a16="http://schemas.microsoft.com/office/drawing/2014/main" id="{D6F7FB67-0DE1-414B-AA26-60F03E0131B6}"/>
              </a:ext>
            </a:extLst>
          </p:cNvPr>
          <p:cNvSpPr>
            <a:spLocks noGrp="1"/>
          </p:cNvSpPr>
          <p:nvPr/>
        </p:nvSpPr>
        <p:spPr>
          <a:xfrm>
            <a:off x="1028700" y="4905375"/>
            <a:ext cx="4857750" cy="247650"/>
          </a:xfrm>
          <a:prstGeom prst="rect">
            <a:avLst/>
          </a:prstGeom>
          <a:noFill/>
          <a:ln w="0">
            <a:noFill/>
            <a:prstDash val="solid"/>
          </a:ln>
        </p:spPr>
        <p:txBody>
          <a:bodyPr lIns="0" tIns="0" rIns="0" bIns="0" anchor="ctr"/>
          <a:lstStyle/>
          <a:p>
            <a:pPr algn="l">
              <a:defRPr sz="1050" b="0">
                <a:solidFill>
                  <a:srgbClr val="AFC4CD"/>
                </a:solidFill>
                <a:latin typeface="Noto Sans KR"/>
                <a:ea typeface="Noto Sans KR"/>
                <a:cs typeface="Noto Sans KR"/>
              </a:defRPr>
            </a:pPr>
            <a:r>
              <a:rPr sz="1050" b="0">
                <a:solidFill>
                  <a:srgbClr val="AFC4CD"/>
                </a:solidFill>
                <a:latin typeface="Noto Sans KR"/>
                <a:ea typeface="Noto Sans KR"/>
                <a:cs typeface="Noto Sans KR"/>
              </a:rPr>
              <a:t>제14회 산업통상부 공공데이터 활용 아이디어 공모전</a:t>
            </a:r>
          </a:p>
        </p:txBody>
      </p:sp>
      <p:sp>
        <p:nvSpPr>
          <p:cNvPr id="9" name="사각형: 둥근 모서리 8">
            <a:extLst>
              <a:ext uri="{FF2B5EF4-FFF2-40B4-BE49-F238E27FC236}">
                <a16:creationId xmlns:a16="http://schemas.microsoft.com/office/drawing/2014/main" id="{89ECCB4E-92C6-4489-AB47-CA6FBC4DA1D4}"/>
              </a:ext>
            </a:extLst>
          </p:cNvPr>
          <p:cNvSpPr>
            <a:spLocks noGrp="1"/>
          </p:cNvSpPr>
          <p:nvPr/>
        </p:nvSpPr>
        <p:spPr>
          <a:xfrm>
            <a:off x="6477000" y="666750"/>
            <a:ext cx="5048250" cy="5486400"/>
          </a:xfrm>
          <a:prstGeom prst="roundRect">
            <a:avLst>
              <a:gd name="adj" fmla="val 2264"/>
            </a:avLst>
          </a:prstGeom>
          <a:solidFill>
            <a:srgbClr val="0D344A"/>
          </a:solidFill>
          <a:ln w="9525">
            <a:solidFill>
              <a:srgbClr val="426170"/>
            </a:solidFill>
            <a:prstDash val="solid"/>
          </a:ln>
        </p:spPr>
      </p:sp>
      <p:sp>
        <p:nvSpPr>
          <p:cNvPr id="10" name="직사각형 9">
            <a:extLst>
              <a:ext uri="{FF2B5EF4-FFF2-40B4-BE49-F238E27FC236}">
                <a16:creationId xmlns:a16="http://schemas.microsoft.com/office/drawing/2014/main" id="{F72A3531-E497-4A73-95A9-2DF6215E2F90}"/>
              </a:ext>
            </a:extLst>
          </p:cNvPr>
          <p:cNvSpPr>
            <a:spLocks noGrp="1"/>
          </p:cNvSpPr>
          <p:nvPr/>
        </p:nvSpPr>
        <p:spPr>
          <a:xfrm>
            <a:off x="6667500" y="876300"/>
            <a:ext cx="4667250" cy="228600"/>
          </a:xfrm>
          <a:prstGeom prst="rect">
            <a:avLst/>
          </a:prstGeom>
          <a:noFill/>
          <a:ln w="0">
            <a:noFill/>
            <a:prstDash val="solid"/>
          </a:ln>
        </p:spPr>
        <p:txBody>
          <a:bodyPr lIns="0" tIns="0" rIns="0" bIns="0" anchor="ctr"/>
          <a:lstStyle/>
          <a:p>
            <a:pPr algn="l">
              <a:defRPr sz="825" b="1">
                <a:solidFill>
                  <a:srgbClr val="8FD8CB"/>
                </a:solidFill>
                <a:latin typeface="Noto Sans KR"/>
                <a:ea typeface="Noto Sans KR"/>
                <a:cs typeface="Noto Sans KR"/>
              </a:defRPr>
            </a:pPr>
            <a:r>
              <a:rPr sz="825" b="1">
                <a:solidFill>
                  <a:srgbClr val="8FD8CB"/>
                </a:solidFill>
                <a:latin typeface="Noto Sans KR"/>
                <a:ea typeface="Noto Sans KR"/>
                <a:cs typeface="Noto Sans KR"/>
              </a:rPr>
              <a:t>LIVE PRODUCT · 국가 상세 화면</a:t>
            </a:r>
          </a:p>
        </p:txBody>
      </p:sp>
      <p:pic>
        <p:nvPicPr>
          <p:cNvPr id="31" name="그림 30"/>
          <p:cNvPicPr>
            <a:picLocks noChangeAspect="1"/>
          </p:cNvPicPr>
          <p:nvPr/>
        </p:nvPicPr>
        <p:blipFill>
          <a:blip r:embed="rId3"/>
          <a:stretch/>
        </p:blipFill>
        <p:spPr>
          <a:xfrm>
            <a:off x="6667500" y="1295400"/>
            <a:ext cx="4667250" cy="2876549"/>
          </a:xfrm>
          <a:prstGeom prst="roundRect">
            <a:avLst>
              <a:gd name="adj" fmla="val 4110"/>
            </a:avLst>
          </a:prstGeom>
        </p:spPr>
      </p:pic>
      <p:sp>
        <p:nvSpPr>
          <p:cNvPr id="12" name="직사각형 11">
            <a:extLst>
              <a:ext uri="{FF2B5EF4-FFF2-40B4-BE49-F238E27FC236}">
                <a16:creationId xmlns:a16="http://schemas.microsoft.com/office/drawing/2014/main" id="{BDE2E305-30E5-4F96-B460-0CB85D7B0C14}"/>
              </a:ext>
            </a:extLst>
          </p:cNvPr>
          <p:cNvSpPr>
            <a:spLocks noGrp="1"/>
          </p:cNvSpPr>
          <p:nvPr/>
        </p:nvSpPr>
        <p:spPr>
          <a:xfrm>
            <a:off x="6800850" y="4305300"/>
            <a:ext cx="552450" cy="514350"/>
          </a:xfrm>
          <a:prstGeom prst="rect">
            <a:avLst/>
          </a:prstGeom>
          <a:noFill/>
          <a:ln w="0">
            <a:noFill/>
            <a:prstDash val="solid"/>
          </a:ln>
        </p:spPr>
        <p:txBody>
          <a:bodyPr lIns="0" tIns="0" rIns="0" bIns="0" anchor="ctr"/>
          <a:lstStyle/>
          <a:p>
            <a:pPr algn="ctr">
              <a:defRPr sz="2550" b="1">
                <a:solidFill>
                  <a:srgbClr val="FFFFFF"/>
                </a:solidFill>
                <a:latin typeface="Noto Sans KR"/>
                <a:ea typeface="Noto Sans KR"/>
                <a:cs typeface="Noto Sans KR"/>
              </a:defRPr>
            </a:pPr>
            <a:r>
              <a:rPr sz="2550" b="1">
                <a:solidFill>
                  <a:srgbClr val="FFFFFF"/>
                </a:solidFill>
                <a:latin typeface="Noto Sans KR"/>
                <a:ea typeface="Noto Sans KR"/>
                <a:cs typeface="Noto Sans KR"/>
              </a:rPr>
              <a:t>10</a:t>
            </a:r>
          </a:p>
        </p:txBody>
      </p:sp>
      <p:sp>
        <p:nvSpPr>
          <p:cNvPr id="13" name="직사각형 12">
            <a:extLst>
              <a:ext uri="{FF2B5EF4-FFF2-40B4-BE49-F238E27FC236}">
                <a16:creationId xmlns:a16="http://schemas.microsoft.com/office/drawing/2014/main" id="{32535B0B-B3BF-4FCD-8CBD-E8E0857C47C5}"/>
              </a:ext>
            </a:extLst>
          </p:cNvPr>
          <p:cNvSpPr>
            <a:spLocks noGrp="1"/>
          </p:cNvSpPr>
          <p:nvPr/>
        </p:nvSpPr>
        <p:spPr>
          <a:xfrm>
            <a:off x="7353300" y="4362450"/>
            <a:ext cx="876300" cy="400050"/>
          </a:xfrm>
          <a:prstGeom prst="rect">
            <a:avLst/>
          </a:prstGeom>
          <a:noFill/>
          <a:ln w="0">
            <a:noFill/>
            <a:prstDash val="solid"/>
          </a:ln>
        </p:spPr>
        <p:txBody>
          <a:bodyPr lIns="0" tIns="0" rIns="0" bIns="0" anchor="ctr"/>
          <a:lstStyle/>
          <a:p>
            <a:pPr algn="l">
              <a:defRPr sz="900" b="1">
                <a:solidFill>
                  <a:srgbClr val="AFC4CD"/>
                </a:solidFill>
                <a:latin typeface="Noto Sans KR"/>
                <a:ea typeface="Noto Sans KR"/>
                <a:cs typeface="Noto Sans KR"/>
              </a:defRPr>
            </a:pPr>
            <a:r>
              <a:rPr sz="900" b="1">
                <a:solidFill>
                  <a:srgbClr val="AFC4CD"/>
                </a:solidFill>
                <a:latin typeface="Noto Sans KR"/>
                <a:ea typeface="Noto Sans KR"/>
                <a:cs typeface="Noto Sans KR"/>
              </a:rPr>
              <a:t>공공데이터</a:t>
            </a:r>
          </a:p>
        </p:txBody>
      </p:sp>
      <p:sp>
        <p:nvSpPr>
          <p:cNvPr id="14" name="직사각형 13">
            <a:extLst>
              <a:ext uri="{FF2B5EF4-FFF2-40B4-BE49-F238E27FC236}">
                <a16:creationId xmlns:a16="http://schemas.microsoft.com/office/drawing/2014/main" id="{73F43B17-453B-4AF5-9E8F-2631A5596BE5}"/>
              </a:ext>
            </a:extLst>
          </p:cNvPr>
          <p:cNvSpPr>
            <a:spLocks noGrp="1"/>
          </p:cNvSpPr>
          <p:nvPr/>
        </p:nvSpPr>
        <p:spPr>
          <a:xfrm>
            <a:off x="8305800" y="4305300"/>
            <a:ext cx="552450" cy="514350"/>
          </a:xfrm>
          <a:prstGeom prst="rect">
            <a:avLst/>
          </a:prstGeom>
          <a:noFill/>
          <a:ln w="0">
            <a:noFill/>
            <a:prstDash val="solid"/>
          </a:ln>
        </p:spPr>
        <p:txBody>
          <a:bodyPr lIns="0" tIns="0" rIns="0" bIns="0" anchor="ctr"/>
          <a:lstStyle/>
          <a:p>
            <a:pPr algn="ctr">
              <a:defRPr sz="2550" b="1">
                <a:solidFill>
                  <a:srgbClr val="FFFFFF"/>
                </a:solidFill>
                <a:latin typeface="Noto Sans KR"/>
                <a:ea typeface="Noto Sans KR"/>
                <a:cs typeface="Noto Sans KR"/>
              </a:defRPr>
            </a:pPr>
            <a:r>
              <a:rPr sz="2550" b="1">
                <a:solidFill>
                  <a:srgbClr val="FFFFFF"/>
                </a:solidFill>
                <a:latin typeface="Noto Sans KR"/>
                <a:ea typeface="Noto Sans KR"/>
                <a:cs typeface="Noto Sans KR"/>
              </a:rPr>
              <a:t>3</a:t>
            </a:r>
          </a:p>
        </p:txBody>
      </p:sp>
      <p:sp>
        <p:nvSpPr>
          <p:cNvPr id="15" name="직사각형 14">
            <a:extLst>
              <a:ext uri="{FF2B5EF4-FFF2-40B4-BE49-F238E27FC236}">
                <a16:creationId xmlns:a16="http://schemas.microsoft.com/office/drawing/2014/main" id="{72BABE88-E321-4037-BD9D-BBD095A553B3}"/>
              </a:ext>
            </a:extLst>
          </p:cNvPr>
          <p:cNvSpPr>
            <a:spLocks noGrp="1"/>
          </p:cNvSpPr>
          <p:nvPr/>
        </p:nvSpPr>
        <p:spPr>
          <a:xfrm>
            <a:off x="8858250" y="4362450"/>
            <a:ext cx="876300" cy="400050"/>
          </a:xfrm>
          <a:prstGeom prst="rect">
            <a:avLst/>
          </a:prstGeom>
          <a:noFill/>
          <a:ln w="0">
            <a:noFill/>
            <a:prstDash val="solid"/>
          </a:ln>
        </p:spPr>
        <p:txBody>
          <a:bodyPr lIns="0" tIns="0" rIns="0" bIns="0" anchor="ctr"/>
          <a:lstStyle/>
          <a:p>
            <a:pPr algn="l">
              <a:defRPr sz="900" b="1">
                <a:solidFill>
                  <a:srgbClr val="AFC4CD"/>
                </a:solidFill>
                <a:latin typeface="Noto Sans KR"/>
                <a:ea typeface="Noto Sans KR"/>
                <a:cs typeface="Noto Sans KR"/>
              </a:defRPr>
            </a:pPr>
            <a:r>
              <a:rPr sz="900" b="1">
                <a:solidFill>
                  <a:srgbClr val="AFC4CD"/>
                </a:solidFill>
                <a:latin typeface="Noto Sans KR"/>
                <a:ea typeface="Noto Sans KR"/>
                <a:cs typeface="Noto Sans KR"/>
              </a:rPr>
              <a:t>후보국</a:t>
            </a:r>
          </a:p>
        </p:txBody>
      </p:sp>
      <p:sp>
        <p:nvSpPr>
          <p:cNvPr id="16" name="직사각형 15">
            <a:extLst>
              <a:ext uri="{FF2B5EF4-FFF2-40B4-BE49-F238E27FC236}">
                <a16:creationId xmlns:a16="http://schemas.microsoft.com/office/drawing/2014/main" id="{09937278-8CBF-45F1-BB84-332FCDE3A8CA}"/>
              </a:ext>
            </a:extLst>
          </p:cNvPr>
          <p:cNvSpPr>
            <a:spLocks noGrp="1"/>
          </p:cNvSpPr>
          <p:nvPr/>
        </p:nvSpPr>
        <p:spPr>
          <a:xfrm>
            <a:off x="9810750" y="4305300"/>
            <a:ext cx="552450" cy="514350"/>
          </a:xfrm>
          <a:prstGeom prst="rect">
            <a:avLst/>
          </a:prstGeom>
          <a:noFill/>
          <a:ln w="0">
            <a:noFill/>
            <a:prstDash val="solid"/>
          </a:ln>
        </p:spPr>
        <p:txBody>
          <a:bodyPr lIns="0" tIns="0" rIns="0" bIns="0" anchor="ctr"/>
          <a:lstStyle/>
          <a:p>
            <a:pPr algn="ctr">
              <a:defRPr sz="2550" b="1">
                <a:solidFill>
                  <a:srgbClr val="FFFFFF"/>
                </a:solidFill>
                <a:latin typeface="Noto Sans KR"/>
                <a:ea typeface="Noto Sans KR"/>
                <a:cs typeface="Noto Sans KR"/>
              </a:defRPr>
            </a:pPr>
            <a:r>
              <a:rPr sz="2550" b="1">
                <a:solidFill>
                  <a:srgbClr val="FFFFFF"/>
                </a:solidFill>
                <a:latin typeface="Noto Sans KR"/>
                <a:ea typeface="Noto Sans KR"/>
                <a:cs typeface="Noto Sans KR"/>
              </a:rPr>
              <a:t>5</a:t>
            </a:r>
          </a:p>
        </p:txBody>
      </p:sp>
      <p:sp>
        <p:nvSpPr>
          <p:cNvPr id="17" name="직사각형 16">
            <a:extLst>
              <a:ext uri="{FF2B5EF4-FFF2-40B4-BE49-F238E27FC236}">
                <a16:creationId xmlns:a16="http://schemas.microsoft.com/office/drawing/2014/main" id="{76E09E3D-AB37-49BE-8917-0F987414336A}"/>
              </a:ext>
            </a:extLst>
          </p:cNvPr>
          <p:cNvSpPr>
            <a:spLocks noGrp="1"/>
          </p:cNvSpPr>
          <p:nvPr/>
        </p:nvSpPr>
        <p:spPr>
          <a:xfrm>
            <a:off x="10363200" y="4362450"/>
            <a:ext cx="876300" cy="400050"/>
          </a:xfrm>
          <a:prstGeom prst="rect">
            <a:avLst/>
          </a:prstGeom>
          <a:noFill/>
          <a:ln w="0">
            <a:noFill/>
            <a:prstDash val="solid"/>
          </a:ln>
        </p:spPr>
        <p:txBody>
          <a:bodyPr lIns="0" tIns="0" rIns="0" bIns="0" anchor="ctr"/>
          <a:lstStyle/>
          <a:p>
            <a:pPr algn="l">
              <a:defRPr sz="900" b="1">
                <a:solidFill>
                  <a:srgbClr val="AFC4CD"/>
                </a:solidFill>
                <a:latin typeface="Noto Sans KR"/>
                <a:ea typeface="Noto Sans KR"/>
                <a:cs typeface="Noto Sans KR"/>
              </a:defRPr>
            </a:pPr>
            <a:r>
              <a:rPr sz="900" b="1">
                <a:solidFill>
                  <a:srgbClr val="AFC4CD"/>
                </a:solidFill>
                <a:latin typeface="Noto Sans KR"/>
                <a:ea typeface="Noto Sans KR"/>
                <a:cs typeface="Noto Sans KR"/>
              </a:rPr>
              <a:t>검증 단계</a:t>
            </a:r>
          </a:p>
        </p:txBody>
      </p:sp>
      <p:sp>
        <p:nvSpPr>
          <p:cNvPr id="18" name="직사각형 17">
            <a:extLst>
              <a:ext uri="{FF2B5EF4-FFF2-40B4-BE49-F238E27FC236}">
                <a16:creationId xmlns:a16="http://schemas.microsoft.com/office/drawing/2014/main" id="{03B566AC-F759-4AE4-AA52-9DD31CCCEA36}"/>
              </a:ext>
            </a:extLst>
          </p:cNvPr>
          <p:cNvSpPr>
            <a:spLocks noGrp="1"/>
          </p:cNvSpPr>
          <p:nvPr/>
        </p:nvSpPr>
        <p:spPr>
          <a:xfrm>
            <a:off x="6800850" y="5010150"/>
            <a:ext cx="4400550" cy="285750"/>
          </a:xfrm>
          <a:prstGeom prst="rect">
            <a:avLst/>
          </a:prstGeom>
          <a:noFill/>
          <a:ln w="0">
            <a:noFill/>
            <a:prstDash val="solid"/>
          </a:ln>
        </p:spPr>
        <p:txBody>
          <a:bodyPr lIns="0" tIns="0" rIns="0" bIns="0" anchor="ctr"/>
          <a:lstStyle/>
          <a:p>
            <a:pPr algn="ctr">
              <a:defRPr sz="1050" b="1">
                <a:solidFill>
                  <a:srgbClr val="8FD8CB"/>
                </a:solidFill>
                <a:latin typeface="Noto Sans KR"/>
                <a:ea typeface="Noto Sans KR"/>
                <a:cs typeface="Noto Sans KR"/>
              </a:defRPr>
            </a:pPr>
            <a:r>
              <a:rPr sz="1050" b="1">
                <a:solidFill>
                  <a:srgbClr val="8FD8CB"/>
                </a:solidFill>
                <a:latin typeface="Noto Sans KR"/>
                <a:ea typeface="Noto Sans KR"/>
                <a:cs typeface="Noto Sans KR"/>
              </a:rPr>
              <a:t>조건부 검토  ·  근거 ID  ·  미확인 게이트 공개</a:t>
            </a:r>
          </a:p>
        </p:txBody>
      </p:sp>
      <p:sp>
        <p:nvSpPr>
          <p:cNvPr id="19" name="직사각형 18">
            <a:extLst>
              <a:ext uri="{FF2B5EF4-FFF2-40B4-BE49-F238E27FC236}">
                <a16:creationId xmlns:a16="http://schemas.microsoft.com/office/drawing/2014/main" id="{B0188A50-C87A-4255-875A-EDC37F4B4589}"/>
              </a:ext>
            </a:extLst>
          </p:cNvPr>
          <p:cNvSpPr>
            <a:spLocks noGrp="1"/>
          </p:cNvSpPr>
          <p:nvPr/>
        </p:nvSpPr>
        <p:spPr>
          <a:xfrm>
            <a:off x="6667500" y="5638800"/>
            <a:ext cx="4667250" cy="323850"/>
          </a:xfrm>
          <a:prstGeom prst="rect">
            <a:avLst/>
          </a:prstGeom>
          <a:solidFill>
            <a:srgbClr val="0A2A3D"/>
          </a:solidFill>
          <a:ln w="0">
            <a:solidFill>
              <a:srgbClr val="0A2A3D"/>
            </a:solidFill>
            <a:prstDash val="solid"/>
          </a:ln>
        </p:spPr>
      </p:sp>
      <p:sp>
        <p:nvSpPr>
          <p:cNvPr id="20" name="직사각형 19">
            <a:extLst>
              <a:ext uri="{FF2B5EF4-FFF2-40B4-BE49-F238E27FC236}">
                <a16:creationId xmlns:a16="http://schemas.microsoft.com/office/drawing/2014/main" id="{FF4217AB-0D30-4282-ACCA-7A0AB1146C88}"/>
              </a:ext>
            </a:extLst>
          </p:cNvPr>
          <p:cNvSpPr>
            <a:spLocks noGrp="1"/>
          </p:cNvSpPr>
          <p:nvPr/>
        </p:nvSpPr>
        <p:spPr>
          <a:xfrm>
            <a:off x="6800850" y="5638800"/>
            <a:ext cx="4381500" cy="323850"/>
          </a:xfrm>
          <a:prstGeom prst="rect">
            <a:avLst/>
          </a:prstGeom>
          <a:noFill/>
          <a:ln w="0">
            <a:noFill/>
            <a:prstDash val="solid"/>
          </a:ln>
        </p:spPr>
        <p:txBody>
          <a:bodyPr lIns="0" tIns="0" rIns="0" bIns="0" anchor="ctr"/>
          <a:lstStyle/>
          <a:p>
            <a:pPr algn="ctr">
              <a:defRPr sz="975" b="1">
                <a:solidFill>
                  <a:srgbClr val="FFFFFF"/>
                </a:solidFill>
                <a:latin typeface="Noto Sans KR"/>
                <a:ea typeface="Noto Sans KR"/>
                <a:cs typeface="Noto Sans KR"/>
              </a:defRPr>
            </a:pPr>
            <a:r>
              <a:rPr sz="975" b="1">
                <a:solidFill>
                  <a:srgbClr val="FFFFFF"/>
                </a:solidFill>
                <a:latin typeface="Noto Sans KR"/>
                <a:ea typeface="Noto Sans KR"/>
                <a:cs typeface="Noto Sans KR"/>
              </a:rPr>
              <a:t>기업 → 품목 → 후보국 → 국가검증 → 실행리포트</a:t>
            </a:r>
          </a:p>
        </p:txBody>
      </p:sp>
    </p:spTree>
    <p:extLst>
      <p:ext uri="{BB962C8B-B14F-4D97-AF65-F5344CB8AC3E}">
        <p14:creationId xmlns:p14="http://schemas.microsoft.com/office/powerpoint/2010/main" val="949853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직사각형 28">
            <a:extLst>
              <a:ext uri="{FF2B5EF4-FFF2-40B4-BE49-F238E27FC236}">
                <a16:creationId xmlns:a16="http://schemas.microsoft.com/office/drawing/2014/main" id="{8B262FFA-FB86-4508-9114-86A2C7946CE9}"/>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PROBLEM</a:t>
            </a:r>
          </a:p>
        </p:txBody>
      </p:sp>
      <p:sp>
        <p:nvSpPr>
          <p:cNvPr id="2" name="slide-2-title">
            <a:extLst>
              <a:ext uri="{FF2B5EF4-FFF2-40B4-BE49-F238E27FC236}">
                <a16:creationId xmlns:a16="http://schemas.microsoft.com/office/drawing/2014/main" id="{5C9125B2-F907-45F6-BB7B-DA7A1F0424DB}"/>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데이터는 10곳에 있지만 기업이 원하는 결정은 하나입니다</a:t>
            </a:r>
          </a:p>
        </p:txBody>
      </p:sp>
      <p:sp>
        <p:nvSpPr>
          <p:cNvPr id="3" name="직사각형 2">
            <a:extLst>
              <a:ext uri="{FF2B5EF4-FFF2-40B4-BE49-F238E27FC236}">
                <a16:creationId xmlns:a16="http://schemas.microsoft.com/office/drawing/2014/main" id="{3A577E65-B6A8-4DAF-B217-CC71AD031D93}"/>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7B824DDA-2148-43B6-A8C7-506499F7BD30}"/>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D3C0429B-5546-4891-BBDE-85574386487E}"/>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B54E7A25-7BBB-4D1C-96DB-086D2500C5C7}"/>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프로젝트 명세 및 공공데이터 API 구성</a:t>
            </a:r>
          </a:p>
        </p:txBody>
      </p:sp>
      <p:sp>
        <p:nvSpPr>
          <p:cNvPr id="7" name="직사각형 6">
            <a:extLst>
              <a:ext uri="{FF2B5EF4-FFF2-40B4-BE49-F238E27FC236}">
                <a16:creationId xmlns:a16="http://schemas.microsoft.com/office/drawing/2014/main" id="{02CFE385-15C6-4A77-9A4C-F222509A2928}"/>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02</a:t>
            </a:r>
          </a:p>
        </p:txBody>
      </p:sp>
      <p:sp>
        <p:nvSpPr>
          <p:cNvPr id="8" name="직사각형 7">
            <a:extLst>
              <a:ext uri="{FF2B5EF4-FFF2-40B4-BE49-F238E27FC236}">
                <a16:creationId xmlns:a16="http://schemas.microsoft.com/office/drawing/2014/main" id="{53E4ECC3-1E7C-4881-97B1-0DF22B3BCE6C}"/>
              </a:ext>
            </a:extLst>
          </p:cNvPr>
          <p:cNvSpPr>
            <a:spLocks noGrp="1"/>
          </p:cNvSpPr>
          <p:nvPr/>
        </p:nvSpPr>
        <p:spPr>
          <a:xfrm>
            <a:off x="704850" y="1352550"/>
            <a:ext cx="3143250" cy="2000250"/>
          </a:xfrm>
          <a:prstGeom prst="rect">
            <a:avLst/>
          </a:prstGeom>
          <a:noFill/>
          <a:ln w="0">
            <a:noFill/>
            <a:prstDash val="solid"/>
          </a:ln>
        </p:spPr>
        <p:txBody>
          <a:bodyPr lIns="0" tIns="0" rIns="0" bIns="0" anchor="ctr"/>
          <a:lstStyle/>
          <a:p>
            <a:pPr algn="l">
              <a:defRPr sz="11550" b="1">
                <a:solidFill>
                  <a:srgbClr val="051C2C"/>
                </a:solidFill>
                <a:latin typeface="Noto Sans KR"/>
                <a:ea typeface="Noto Sans KR"/>
                <a:cs typeface="Noto Sans KR"/>
              </a:defRPr>
            </a:pPr>
            <a:r>
              <a:rPr sz="11550" b="1">
                <a:solidFill>
                  <a:srgbClr val="051C2C"/>
                </a:solidFill>
                <a:latin typeface="Noto Sans KR"/>
                <a:ea typeface="Noto Sans KR"/>
                <a:cs typeface="Noto Sans KR"/>
              </a:rPr>
              <a:t>10</a:t>
            </a:r>
          </a:p>
        </p:txBody>
      </p:sp>
      <p:sp>
        <p:nvSpPr>
          <p:cNvPr id="9" name="직사각형 8">
            <a:extLst>
              <a:ext uri="{FF2B5EF4-FFF2-40B4-BE49-F238E27FC236}">
                <a16:creationId xmlns:a16="http://schemas.microsoft.com/office/drawing/2014/main" id="{CC468083-723F-45EF-9B5C-D2852CD4F385}"/>
              </a:ext>
            </a:extLst>
          </p:cNvPr>
          <p:cNvSpPr>
            <a:spLocks noGrp="1"/>
          </p:cNvSpPr>
          <p:nvPr/>
        </p:nvSpPr>
        <p:spPr>
          <a:xfrm>
            <a:off x="819150" y="3219450"/>
            <a:ext cx="2857500" cy="361950"/>
          </a:xfrm>
          <a:prstGeom prst="rect">
            <a:avLst/>
          </a:prstGeom>
          <a:noFill/>
          <a:ln w="0">
            <a:noFill/>
            <a:prstDash val="solid"/>
          </a:ln>
        </p:spPr>
        <p:txBody>
          <a:bodyPr lIns="0" tIns="0" rIns="0" bIns="0" anchor="ctr"/>
          <a:lstStyle/>
          <a:p>
            <a:pPr algn="l">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종 공공데이터 API</a:t>
            </a:r>
          </a:p>
        </p:txBody>
      </p:sp>
      <p:sp>
        <p:nvSpPr>
          <p:cNvPr id="10" name="직사각형 9">
            <a:extLst>
              <a:ext uri="{FF2B5EF4-FFF2-40B4-BE49-F238E27FC236}">
                <a16:creationId xmlns:a16="http://schemas.microsoft.com/office/drawing/2014/main" id="{AF36A0EF-C642-4523-9AD6-36589C2E3F66}"/>
              </a:ext>
            </a:extLst>
          </p:cNvPr>
          <p:cNvSpPr>
            <a:spLocks noGrp="1"/>
          </p:cNvSpPr>
          <p:nvPr/>
        </p:nvSpPr>
        <p:spPr>
          <a:xfrm>
            <a:off x="819150" y="3829050"/>
            <a:ext cx="3276600" cy="1181100"/>
          </a:xfrm>
          <a:prstGeom prst="rect">
            <a:avLst/>
          </a:prstGeom>
          <a:noFill/>
          <a:ln w="0">
            <a:noFill/>
            <a:prstDash val="solid"/>
          </a:ln>
        </p:spPr>
        <p:txBody>
          <a:bodyPr lIns="0" tIns="0" rIns="0" bIns="0" anchor="ctr"/>
          <a:lstStyle/>
          <a:p>
            <a:pPr algn="l">
              <a:defRPr sz="1650" b="0">
                <a:solidFill>
                  <a:srgbClr val="14212B"/>
                </a:solidFill>
                <a:latin typeface="Noto Sans KR"/>
                <a:ea typeface="Noto Sans KR"/>
                <a:cs typeface="Noto Sans KR"/>
              </a:defRPr>
            </a:pPr>
            <a:r>
              <a:rPr sz="1650" b="0" dirty="0" err="1">
                <a:solidFill>
                  <a:srgbClr val="14212B"/>
                </a:solidFill>
                <a:latin typeface="Noto Sans KR"/>
                <a:ea typeface="Noto Sans KR"/>
                <a:cs typeface="Noto Sans KR"/>
              </a:rPr>
              <a:t>기관별</a:t>
            </a:r>
            <a:r>
              <a:rPr sz="1650" b="0" dirty="0">
                <a:solidFill>
                  <a:srgbClr val="14212B"/>
                </a:solidFill>
                <a:latin typeface="Noto Sans KR"/>
                <a:ea typeface="Noto Sans KR"/>
                <a:cs typeface="Noto Sans KR"/>
              </a:rPr>
              <a:t> </a:t>
            </a:r>
            <a:r>
              <a:rPr sz="1650" b="0" dirty="0" err="1">
                <a:solidFill>
                  <a:srgbClr val="14212B"/>
                </a:solidFill>
                <a:latin typeface="Noto Sans KR"/>
                <a:ea typeface="Noto Sans KR"/>
                <a:cs typeface="Noto Sans KR"/>
              </a:rPr>
              <a:t>정보는</a:t>
            </a:r>
            <a:r>
              <a:rPr sz="1650" b="0" dirty="0">
                <a:solidFill>
                  <a:srgbClr val="14212B"/>
                </a:solidFill>
                <a:latin typeface="Noto Sans KR"/>
                <a:ea typeface="Noto Sans KR"/>
                <a:cs typeface="Noto Sans KR"/>
              </a:rPr>
              <a:t> </a:t>
            </a:r>
            <a:r>
              <a:rPr sz="1650" b="0" dirty="0" err="1">
                <a:solidFill>
                  <a:srgbClr val="14212B"/>
                </a:solidFill>
                <a:latin typeface="Noto Sans KR"/>
                <a:ea typeface="Noto Sans KR"/>
                <a:cs typeface="Noto Sans KR"/>
              </a:rPr>
              <a:t>충분하지만</a:t>
            </a:r>
            <a:endParaRPr sz="1650" b="0" dirty="0">
              <a:solidFill>
                <a:srgbClr val="14212B"/>
              </a:solidFill>
              <a:latin typeface="Noto Sans KR"/>
              <a:ea typeface="Noto Sans KR"/>
              <a:cs typeface="Noto Sans KR"/>
            </a:endParaRPr>
          </a:p>
          <a:p>
            <a:pPr algn="l">
              <a:defRPr sz="1650" b="0">
                <a:solidFill>
                  <a:srgbClr val="14212B"/>
                </a:solidFill>
                <a:latin typeface="Noto Sans KR"/>
                <a:ea typeface="Noto Sans KR"/>
                <a:cs typeface="Noto Sans KR"/>
              </a:defRPr>
            </a:pPr>
            <a:r>
              <a:rPr sz="1650" b="0" dirty="0">
                <a:solidFill>
                  <a:srgbClr val="14212B"/>
                </a:solidFill>
                <a:latin typeface="Noto Sans KR"/>
                <a:ea typeface="Noto Sans KR"/>
                <a:cs typeface="Noto Sans KR"/>
              </a:rPr>
              <a:t>한 </a:t>
            </a:r>
            <a:r>
              <a:rPr sz="1650" b="0" dirty="0" err="1">
                <a:solidFill>
                  <a:srgbClr val="14212B"/>
                </a:solidFill>
                <a:latin typeface="Noto Sans KR"/>
                <a:ea typeface="Noto Sans KR"/>
                <a:cs typeface="Noto Sans KR"/>
              </a:rPr>
              <a:t>기업·한</a:t>
            </a:r>
            <a:r>
              <a:rPr sz="1650" b="0" dirty="0">
                <a:solidFill>
                  <a:srgbClr val="14212B"/>
                </a:solidFill>
                <a:latin typeface="Noto Sans KR"/>
                <a:ea typeface="Noto Sans KR"/>
                <a:cs typeface="Noto Sans KR"/>
              </a:rPr>
              <a:t> </a:t>
            </a:r>
            <a:r>
              <a:rPr sz="1650" b="0" dirty="0" err="1">
                <a:solidFill>
                  <a:srgbClr val="14212B"/>
                </a:solidFill>
                <a:latin typeface="Noto Sans KR"/>
                <a:ea typeface="Noto Sans KR"/>
                <a:cs typeface="Noto Sans KR"/>
              </a:rPr>
              <a:t>품목의</a:t>
            </a:r>
            <a:r>
              <a:rPr sz="1650" b="0" dirty="0">
                <a:solidFill>
                  <a:srgbClr val="14212B"/>
                </a:solidFill>
                <a:latin typeface="Noto Sans KR"/>
                <a:ea typeface="Noto Sans KR"/>
                <a:cs typeface="Noto Sans KR"/>
              </a:rPr>
              <a:t> Go/No-</a:t>
            </a:r>
            <a:r>
              <a:rPr sz="1650" b="0" dirty="0" err="1">
                <a:solidFill>
                  <a:srgbClr val="14212B"/>
                </a:solidFill>
                <a:latin typeface="Noto Sans KR"/>
                <a:ea typeface="Noto Sans KR"/>
                <a:cs typeface="Noto Sans KR"/>
              </a:rPr>
              <a:t>Go로</a:t>
            </a:r>
            <a:endParaRPr sz="1650" b="0" dirty="0">
              <a:solidFill>
                <a:srgbClr val="14212B"/>
              </a:solidFill>
              <a:latin typeface="Noto Sans KR"/>
              <a:ea typeface="Noto Sans KR"/>
              <a:cs typeface="Noto Sans KR"/>
            </a:endParaRPr>
          </a:p>
          <a:p>
            <a:pPr algn="l">
              <a:defRPr sz="1650" b="0">
                <a:solidFill>
                  <a:srgbClr val="14212B"/>
                </a:solidFill>
                <a:latin typeface="Noto Sans KR"/>
                <a:ea typeface="Noto Sans KR"/>
                <a:cs typeface="Noto Sans KR"/>
              </a:defRPr>
            </a:pPr>
            <a:r>
              <a:rPr sz="1650" b="0" dirty="0" err="1">
                <a:solidFill>
                  <a:srgbClr val="14212B"/>
                </a:solidFill>
                <a:latin typeface="Noto Sans KR"/>
                <a:ea typeface="Noto Sans KR"/>
                <a:cs typeface="Noto Sans KR"/>
              </a:rPr>
              <a:t>이어지지</a:t>
            </a:r>
            <a:r>
              <a:rPr sz="1650" b="0" dirty="0">
                <a:solidFill>
                  <a:srgbClr val="14212B"/>
                </a:solidFill>
                <a:latin typeface="Noto Sans KR"/>
                <a:ea typeface="Noto Sans KR"/>
                <a:cs typeface="Noto Sans KR"/>
              </a:rPr>
              <a:t> </a:t>
            </a:r>
            <a:r>
              <a:rPr sz="1650" b="0" dirty="0" err="1">
                <a:solidFill>
                  <a:srgbClr val="14212B"/>
                </a:solidFill>
                <a:latin typeface="Noto Sans KR"/>
                <a:ea typeface="Noto Sans KR"/>
                <a:cs typeface="Noto Sans KR"/>
              </a:rPr>
              <a:t>않습니다</a:t>
            </a:r>
            <a:r>
              <a:rPr sz="1650" b="0" dirty="0">
                <a:solidFill>
                  <a:srgbClr val="14212B"/>
                </a:solidFill>
                <a:latin typeface="Noto Sans KR"/>
                <a:ea typeface="Noto Sans KR"/>
                <a:cs typeface="Noto Sans KR"/>
              </a:rPr>
              <a:t>.</a:t>
            </a:r>
          </a:p>
        </p:txBody>
      </p:sp>
      <p:sp>
        <p:nvSpPr>
          <p:cNvPr id="11" name="직사각형 10">
            <a:extLst>
              <a:ext uri="{FF2B5EF4-FFF2-40B4-BE49-F238E27FC236}">
                <a16:creationId xmlns:a16="http://schemas.microsoft.com/office/drawing/2014/main" id="{6FC16759-4FA7-4612-99CF-A26691EBC2A4}"/>
              </a:ext>
            </a:extLst>
          </p:cNvPr>
          <p:cNvSpPr>
            <a:spLocks noGrp="1"/>
          </p:cNvSpPr>
          <p:nvPr/>
        </p:nvSpPr>
        <p:spPr>
          <a:xfrm>
            <a:off x="4762500" y="1466850"/>
            <a:ext cx="419100" cy="4762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01</a:t>
            </a:r>
          </a:p>
        </p:txBody>
      </p:sp>
      <p:sp>
        <p:nvSpPr>
          <p:cNvPr id="12" name="직사각형 11">
            <a:extLst>
              <a:ext uri="{FF2B5EF4-FFF2-40B4-BE49-F238E27FC236}">
                <a16:creationId xmlns:a16="http://schemas.microsoft.com/office/drawing/2014/main" id="{9264AFC4-7C18-4D2A-B7B7-E3937C6C8D61}"/>
              </a:ext>
            </a:extLst>
          </p:cNvPr>
          <p:cNvSpPr>
            <a:spLocks noGrp="1"/>
          </p:cNvSpPr>
          <p:nvPr/>
        </p:nvSpPr>
        <p:spPr>
          <a:xfrm>
            <a:off x="5334000" y="1466850"/>
            <a:ext cx="276225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기업·공장</a:t>
            </a:r>
          </a:p>
        </p:txBody>
      </p:sp>
      <p:sp>
        <p:nvSpPr>
          <p:cNvPr id="13" name="직사각형 12">
            <a:extLst>
              <a:ext uri="{FF2B5EF4-FFF2-40B4-BE49-F238E27FC236}">
                <a16:creationId xmlns:a16="http://schemas.microsoft.com/office/drawing/2014/main" id="{BA21DDA4-7B60-4E72-AACE-EA89C2155EF0}"/>
              </a:ext>
            </a:extLst>
          </p:cNvPr>
          <p:cNvSpPr>
            <a:spLocks noGrp="1"/>
          </p:cNvSpPr>
          <p:nvPr/>
        </p:nvSpPr>
        <p:spPr>
          <a:xfrm>
            <a:off x="8362950" y="1466850"/>
            <a:ext cx="2990850" cy="361950"/>
          </a:xfrm>
          <a:prstGeom prst="rect">
            <a:avLst/>
          </a:prstGeom>
          <a:noFill/>
          <a:ln w="0">
            <a:noFill/>
            <a:prstDash val="solid"/>
          </a:ln>
        </p:spPr>
        <p:txBody>
          <a:bodyPr lIns="0" tIns="0" rIns="0" bIns="0" anchor="ctr"/>
          <a:lstStyle/>
          <a:p>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한국산업단지공단</a:t>
            </a:r>
          </a:p>
        </p:txBody>
      </p:sp>
      <p:sp>
        <p:nvSpPr>
          <p:cNvPr id="14" name="직사각형 13">
            <a:extLst>
              <a:ext uri="{FF2B5EF4-FFF2-40B4-BE49-F238E27FC236}">
                <a16:creationId xmlns:a16="http://schemas.microsoft.com/office/drawing/2014/main" id="{5D7F5582-A632-48D9-992C-EDF2E3E435F5}"/>
              </a:ext>
            </a:extLst>
          </p:cNvPr>
          <p:cNvSpPr>
            <a:spLocks noGrp="1"/>
          </p:cNvSpPr>
          <p:nvPr/>
        </p:nvSpPr>
        <p:spPr>
          <a:xfrm>
            <a:off x="4762500" y="2019300"/>
            <a:ext cx="6591300" cy="9525"/>
          </a:xfrm>
          <a:prstGeom prst="rect">
            <a:avLst/>
          </a:prstGeom>
          <a:solidFill>
            <a:srgbClr val="D7DEE2"/>
          </a:solidFill>
          <a:ln w="0">
            <a:solidFill>
              <a:srgbClr val="D7DEE2"/>
            </a:solidFill>
            <a:prstDash val="solid"/>
          </a:ln>
        </p:spPr>
      </p:sp>
      <p:sp>
        <p:nvSpPr>
          <p:cNvPr id="15" name="직사각형 14">
            <a:extLst>
              <a:ext uri="{FF2B5EF4-FFF2-40B4-BE49-F238E27FC236}">
                <a16:creationId xmlns:a16="http://schemas.microsoft.com/office/drawing/2014/main" id="{85835DE2-2135-489E-B8DB-D735307BF74B}"/>
              </a:ext>
            </a:extLst>
          </p:cNvPr>
          <p:cNvSpPr>
            <a:spLocks noGrp="1"/>
          </p:cNvSpPr>
          <p:nvPr/>
        </p:nvSpPr>
        <p:spPr>
          <a:xfrm>
            <a:off x="4762500" y="2362200"/>
            <a:ext cx="419100" cy="4762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02</a:t>
            </a:r>
          </a:p>
        </p:txBody>
      </p:sp>
      <p:sp>
        <p:nvSpPr>
          <p:cNvPr id="16" name="직사각형 15">
            <a:extLst>
              <a:ext uri="{FF2B5EF4-FFF2-40B4-BE49-F238E27FC236}">
                <a16:creationId xmlns:a16="http://schemas.microsoft.com/office/drawing/2014/main" id="{A58F4E33-B328-4FC4-9EC7-09FC56340F7B}"/>
              </a:ext>
            </a:extLst>
          </p:cNvPr>
          <p:cNvSpPr>
            <a:spLocks noGrp="1"/>
          </p:cNvSpPr>
          <p:nvPr/>
        </p:nvSpPr>
        <p:spPr>
          <a:xfrm>
            <a:off x="5334000" y="2362200"/>
            <a:ext cx="276225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시장·인증·규제</a:t>
            </a:r>
          </a:p>
        </p:txBody>
      </p:sp>
      <p:sp>
        <p:nvSpPr>
          <p:cNvPr id="17" name="직사각형 16">
            <a:extLst>
              <a:ext uri="{FF2B5EF4-FFF2-40B4-BE49-F238E27FC236}">
                <a16:creationId xmlns:a16="http://schemas.microsoft.com/office/drawing/2014/main" id="{928130F0-45AE-4B5C-AC2E-DF8D9A821159}"/>
              </a:ext>
            </a:extLst>
          </p:cNvPr>
          <p:cNvSpPr>
            <a:spLocks noGrp="1"/>
          </p:cNvSpPr>
          <p:nvPr/>
        </p:nvSpPr>
        <p:spPr>
          <a:xfrm>
            <a:off x="8362950" y="2362200"/>
            <a:ext cx="2990850" cy="361950"/>
          </a:xfrm>
          <a:prstGeom prst="rect">
            <a:avLst/>
          </a:prstGeom>
          <a:noFill/>
          <a:ln w="0">
            <a:noFill/>
            <a:prstDash val="solid"/>
          </a:ln>
        </p:spPr>
        <p:txBody>
          <a:bodyPr lIns="0" tIns="0" rIns="0" bIns="0" anchor="ctr"/>
          <a:lstStyle/>
          <a:p>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KOTRA</a:t>
            </a:r>
          </a:p>
        </p:txBody>
      </p:sp>
      <p:sp>
        <p:nvSpPr>
          <p:cNvPr id="18" name="직사각형 17">
            <a:extLst>
              <a:ext uri="{FF2B5EF4-FFF2-40B4-BE49-F238E27FC236}">
                <a16:creationId xmlns:a16="http://schemas.microsoft.com/office/drawing/2014/main" id="{F18B2E42-AC88-45CB-8BF7-8D8C1D1A1BE1}"/>
              </a:ext>
            </a:extLst>
          </p:cNvPr>
          <p:cNvSpPr>
            <a:spLocks noGrp="1"/>
          </p:cNvSpPr>
          <p:nvPr/>
        </p:nvSpPr>
        <p:spPr>
          <a:xfrm>
            <a:off x="4762500" y="2914650"/>
            <a:ext cx="6591300" cy="9525"/>
          </a:xfrm>
          <a:prstGeom prst="rect">
            <a:avLst/>
          </a:prstGeom>
          <a:solidFill>
            <a:srgbClr val="D7DEE2"/>
          </a:solidFill>
          <a:ln w="0">
            <a:solidFill>
              <a:srgbClr val="D7DEE2"/>
            </a:solidFill>
            <a:prstDash val="solid"/>
          </a:ln>
        </p:spPr>
      </p:sp>
      <p:sp>
        <p:nvSpPr>
          <p:cNvPr id="19" name="직사각형 18">
            <a:extLst>
              <a:ext uri="{FF2B5EF4-FFF2-40B4-BE49-F238E27FC236}">
                <a16:creationId xmlns:a16="http://schemas.microsoft.com/office/drawing/2014/main" id="{4885128E-1A92-4847-87BE-836700D120DB}"/>
              </a:ext>
            </a:extLst>
          </p:cNvPr>
          <p:cNvSpPr>
            <a:spLocks noGrp="1"/>
          </p:cNvSpPr>
          <p:nvPr/>
        </p:nvSpPr>
        <p:spPr>
          <a:xfrm>
            <a:off x="4762500" y="3257550"/>
            <a:ext cx="419100" cy="4762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03</a:t>
            </a:r>
          </a:p>
        </p:txBody>
      </p:sp>
      <p:sp>
        <p:nvSpPr>
          <p:cNvPr id="20" name="직사각형 19">
            <a:extLst>
              <a:ext uri="{FF2B5EF4-FFF2-40B4-BE49-F238E27FC236}">
                <a16:creationId xmlns:a16="http://schemas.microsoft.com/office/drawing/2014/main" id="{D52638A9-8C85-4B2C-BC15-6EF3648ADD7F}"/>
              </a:ext>
            </a:extLst>
          </p:cNvPr>
          <p:cNvSpPr>
            <a:spLocks noGrp="1"/>
          </p:cNvSpPr>
          <p:nvPr/>
        </p:nvSpPr>
        <p:spPr>
          <a:xfrm>
            <a:off x="5334000" y="3257550"/>
            <a:ext cx="276225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국가·업종·결제</a:t>
            </a:r>
          </a:p>
        </p:txBody>
      </p:sp>
      <p:sp>
        <p:nvSpPr>
          <p:cNvPr id="21" name="직사각형 20">
            <a:extLst>
              <a:ext uri="{FF2B5EF4-FFF2-40B4-BE49-F238E27FC236}">
                <a16:creationId xmlns:a16="http://schemas.microsoft.com/office/drawing/2014/main" id="{E182D2EB-489E-4B2D-BD06-A2EF2B8F40D9}"/>
              </a:ext>
            </a:extLst>
          </p:cNvPr>
          <p:cNvSpPr>
            <a:spLocks noGrp="1"/>
          </p:cNvSpPr>
          <p:nvPr/>
        </p:nvSpPr>
        <p:spPr>
          <a:xfrm>
            <a:off x="8362950" y="3257550"/>
            <a:ext cx="2990850" cy="361950"/>
          </a:xfrm>
          <a:prstGeom prst="rect">
            <a:avLst/>
          </a:prstGeom>
          <a:noFill/>
          <a:ln w="0">
            <a:noFill/>
            <a:prstDash val="solid"/>
          </a:ln>
        </p:spPr>
        <p:txBody>
          <a:bodyPr lIns="0" tIns="0" rIns="0" bIns="0" anchor="ctr"/>
          <a:lstStyle/>
          <a:p>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K-SURE</a:t>
            </a:r>
          </a:p>
        </p:txBody>
      </p:sp>
      <p:sp>
        <p:nvSpPr>
          <p:cNvPr id="22" name="직사각형 21">
            <a:extLst>
              <a:ext uri="{FF2B5EF4-FFF2-40B4-BE49-F238E27FC236}">
                <a16:creationId xmlns:a16="http://schemas.microsoft.com/office/drawing/2014/main" id="{2F4BCAF9-1927-4F41-823B-529A05A774A4}"/>
              </a:ext>
            </a:extLst>
          </p:cNvPr>
          <p:cNvSpPr>
            <a:spLocks noGrp="1"/>
          </p:cNvSpPr>
          <p:nvPr/>
        </p:nvSpPr>
        <p:spPr>
          <a:xfrm>
            <a:off x="4762500" y="3810000"/>
            <a:ext cx="6591300" cy="9525"/>
          </a:xfrm>
          <a:prstGeom prst="rect">
            <a:avLst/>
          </a:prstGeom>
          <a:solidFill>
            <a:srgbClr val="D7DEE2"/>
          </a:solidFill>
          <a:ln w="0">
            <a:solidFill>
              <a:srgbClr val="D7DEE2"/>
            </a:solidFill>
            <a:prstDash val="solid"/>
          </a:ln>
        </p:spPr>
      </p:sp>
      <p:sp>
        <p:nvSpPr>
          <p:cNvPr id="23" name="직사각형 22">
            <a:extLst>
              <a:ext uri="{FF2B5EF4-FFF2-40B4-BE49-F238E27FC236}">
                <a16:creationId xmlns:a16="http://schemas.microsoft.com/office/drawing/2014/main" id="{7B92D3D1-33B4-4720-AC13-B9BD81E506D4}"/>
              </a:ext>
            </a:extLst>
          </p:cNvPr>
          <p:cNvSpPr>
            <a:spLocks noGrp="1"/>
          </p:cNvSpPr>
          <p:nvPr/>
        </p:nvSpPr>
        <p:spPr>
          <a:xfrm>
            <a:off x="4762500" y="4152900"/>
            <a:ext cx="419100" cy="4762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04</a:t>
            </a:r>
          </a:p>
        </p:txBody>
      </p:sp>
      <p:sp>
        <p:nvSpPr>
          <p:cNvPr id="24" name="직사각형 23">
            <a:extLst>
              <a:ext uri="{FF2B5EF4-FFF2-40B4-BE49-F238E27FC236}">
                <a16:creationId xmlns:a16="http://schemas.microsoft.com/office/drawing/2014/main" id="{72B9BF6C-65DF-4A47-8132-ADAD0799E6B4}"/>
              </a:ext>
            </a:extLst>
          </p:cNvPr>
          <p:cNvSpPr>
            <a:spLocks noGrp="1"/>
          </p:cNvSpPr>
          <p:nvPr/>
        </p:nvSpPr>
        <p:spPr>
          <a:xfrm>
            <a:off x="5334000" y="4152900"/>
            <a:ext cx="276225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세번·전략물자·안전</a:t>
            </a:r>
          </a:p>
        </p:txBody>
      </p:sp>
      <p:sp>
        <p:nvSpPr>
          <p:cNvPr id="25" name="직사각형 24">
            <a:extLst>
              <a:ext uri="{FF2B5EF4-FFF2-40B4-BE49-F238E27FC236}">
                <a16:creationId xmlns:a16="http://schemas.microsoft.com/office/drawing/2014/main" id="{60B3A6E6-07D6-4EF5-9C88-F2D5B6D0E6E4}"/>
              </a:ext>
            </a:extLst>
          </p:cNvPr>
          <p:cNvSpPr>
            <a:spLocks noGrp="1"/>
          </p:cNvSpPr>
          <p:nvPr/>
        </p:nvSpPr>
        <p:spPr>
          <a:xfrm>
            <a:off x="8362950" y="4152900"/>
            <a:ext cx="2990850" cy="361950"/>
          </a:xfrm>
          <a:prstGeom prst="rect">
            <a:avLst/>
          </a:prstGeom>
          <a:noFill/>
          <a:ln w="0">
            <a:noFill/>
            <a:prstDash val="solid"/>
          </a:ln>
        </p:spPr>
        <p:txBody>
          <a:bodyPr lIns="0" tIns="0" rIns="0" bIns="0" anchor="ctr"/>
          <a:lstStyle/>
          <a:p>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관세청·KOSTI·SafetyKorea</a:t>
            </a:r>
          </a:p>
        </p:txBody>
      </p:sp>
      <p:sp>
        <p:nvSpPr>
          <p:cNvPr id="26" name="직사각형 25">
            <a:extLst>
              <a:ext uri="{FF2B5EF4-FFF2-40B4-BE49-F238E27FC236}">
                <a16:creationId xmlns:a16="http://schemas.microsoft.com/office/drawing/2014/main" id="{18C6DBC9-61C5-453D-BE91-49116E3F30E3}"/>
              </a:ext>
            </a:extLst>
          </p:cNvPr>
          <p:cNvSpPr>
            <a:spLocks noGrp="1"/>
          </p:cNvSpPr>
          <p:nvPr/>
        </p:nvSpPr>
        <p:spPr>
          <a:xfrm>
            <a:off x="4762500" y="4705350"/>
            <a:ext cx="6591300" cy="9525"/>
          </a:xfrm>
          <a:prstGeom prst="rect">
            <a:avLst/>
          </a:prstGeom>
          <a:solidFill>
            <a:srgbClr val="D7DEE2"/>
          </a:solidFill>
          <a:ln w="0">
            <a:solidFill>
              <a:srgbClr val="D7DEE2"/>
            </a:solidFill>
            <a:prstDash val="solid"/>
          </a:ln>
        </p:spPr>
      </p:sp>
      <p:sp>
        <p:nvSpPr>
          <p:cNvPr id="27" name="사각형: 둥근 모서리 26">
            <a:extLst>
              <a:ext uri="{FF2B5EF4-FFF2-40B4-BE49-F238E27FC236}">
                <a16:creationId xmlns:a16="http://schemas.microsoft.com/office/drawing/2014/main" id="{2AE5F51D-8F4D-4BE8-80BB-E518B1A8C102}"/>
              </a:ext>
            </a:extLst>
          </p:cNvPr>
          <p:cNvSpPr>
            <a:spLocks noGrp="1"/>
          </p:cNvSpPr>
          <p:nvPr/>
        </p:nvSpPr>
        <p:spPr>
          <a:xfrm>
            <a:off x="4648200" y="5295900"/>
            <a:ext cx="6819900" cy="723900"/>
          </a:xfrm>
          <a:prstGeom prst="roundRect">
            <a:avLst>
              <a:gd name="adj" fmla="val 15789"/>
            </a:avLst>
          </a:prstGeom>
          <a:solidFill>
            <a:srgbClr val="051C2C"/>
          </a:solidFill>
          <a:ln w="0">
            <a:solidFill>
              <a:srgbClr val="051C2C"/>
            </a:solidFill>
            <a:prstDash val="solid"/>
          </a:ln>
        </p:spPr>
      </p:sp>
      <p:sp>
        <p:nvSpPr>
          <p:cNvPr id="28" name="직사각형 27">
            <a:extLst>
              <a:ext uri="{FF2B5EF4-FFF2-40B4-BE49-F238E27FC236}">
                <a16:creationId xmlns:a16="http://schemas.microsoft.com/office/drawing/2014/main" id="{1FE32098-DC0D-4674-A85A-486393C83A01}"/>
              </a:ext>
            </a:extLst>
          </p:cNvPr>
          <p:cNvSpPr>
            <a:spLocks noGrp="1"/>
          </p:cNvSpPr>
          <p:nvPr/>
        </p:nvSpPr>
        <p:spPr>
          <a:xfrm>
            <a:off x="4953000" y="5410200"/>
            <a:ext cx="6210300" cy="495300"/>
          </a:xfrm>
          <a:prstGeom prst="rect">
            <a:avLst/>
          </a:prstGeom>
          <a:noFill/>
          <a:ln w="0">
            <a:noFill/>
            <a:prstDash val="solid"/>
          </a:ln>
        </p:spPr>
        <p:txBody>
          <a:bodyPr lIns="0" tIns="0" rIns="0" bIns="0" anchor="ctr"/>
          <a:lstStyle/>
          <a:p>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정보 부족이 아니라, 기업·품목 기준의 판단 흐름이 끊겨 있습니다.</a:t>
            </a:r>
          </a:p>
        </p:txBody>
      </p:sp>
    </p:spTree>
    <p:extLst>
      <p:ext uri="{BB962C8B-B14F-4D97-AF65-F5344CB8AC3E}">
        <p14:creationId xmlns:p14="http://schemas.microsoft.com/office/powerpoint/2010/main" val="151747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 name="직사각형 71">
            <a:extLst>
              <a:ext uri="{FF2B5EF4-FFF2-40B4-BE49-F238E27FC236}">
                <a16:creationId xmlns:a16="http://schemas.microsoft.com/office/drawing/2014/main" id="{13057229-E6C2-4217-95DC-3BE917D93C63}"/>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WHY NOW</a:t>
            </a:r>
          </a:p>
        </p:txBody>
      </p:sp>
      <p:sp>
        <p:nvSpPr>
          <p:cNvPr id="2" name="slide-3-title">
            <a:extLst>
              <a:ext uri="{FF2B5EF4-FFF2-40B4-BE49-F238E27FC236}">
                <a16:creationId xmlns:a16="http://schemas.microsoft.com/office/drawing/2014/main" id="{FAE9B012-9DF7-4F3D-877D-B79C74D09B71}"/>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기존 대안은 정확성·속도·실행성 중 하나에서 멈춥니다</a:t>
            </a:r>
          </a:p>
        </p:txBody>
      </p:sp>
      <p:sp>
        <p:nvSpPr>
          <p:cNvPr id="3" name="직사각형 2">
            <a:extLst>
              <a:ext uri="{FF2B5EF4-FFF2-40B4-BE49-F238E27FC236}">
                <a16:creationId xmlns:a16="http://schemas.microsoft.com/office/drawing/2014/main" id="{637D640C-A4C7-43F1-8647-B5ACE0AA9F58}"/>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3B72E383-4211-435E-B616-23702DC7223D}"/>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E4DBFE3B-B875-40DE-92DB-017E47B6E412}"/>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96848C8C-F381-4BD5-8B61-99FF2DB741E7}"/>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프로젝트 문제정의 및 구현 비교</a:t>
            </a:r>
          </a:p>
        </p:txBody>
      </p:sp>
      <p:sp>
        <p:nvSpPr>
          <p:cNvPr id="7" name="직사각형 6">
            <a:extLst>
              <a:ext uri="{FF2B5EF4-FFF2-40B4-BE49-F238E27FC236}">
                <a16:creationId xmlns:a16="http://schemas.microsoft.com/office/drawing/2014/main" id="{0D62EB01-FCD6-4CCD-92FB-032A93584793}"/>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03</a:t>
            </a:r>
          </a:p>
        </p:txBody>
      </p:sp>
      <p:sp>
        <p:nvSpPr>
          <p:cNvPr id="8" name="직사각형 7">
            <a:extLst>
              <a:ext uri="{FF2B5EF4-FFF2-40B4-BE49-F238E27FC236}">
                <a16:creationId xmlns:a16="http://schemas.microsoft.com/office/drawing/2014/main" id="{9FB24B15-F679-40F8-BF19-4DAB1A34F197}"/>
              </a:ext>
            </a:extLst>
          </p:cNvPr>
          <p:cNvSpPr>
            <a:spLocks noGrp="1"/>
          </p:cNvSpPr>
          <p:nvPr/>
        </p:nvSpPr>
        <p:spPr>
          <a:xfrm>
            <a:off x="609600" y="1428750"/>
            <a:ext cx="2171700" cy="533400"/>
          </a:xfrm>
          <a:prstGeom prst="rect">
            <a:avLst/>
          </a:prstGeom>
          <a:solidFill>
            <a:srgbClr val="F3F6F7"/>
          </a:solidFill>
          <a:ln w="9525">
            <a:solidFill>
              <a:srgbClr val="D7DEE2"/>
            </a:solidFill>
            <a:prstDash val="solid"/>
          </a:ln>
        </p:spPr>
      </p:sp>
      <p:sp>
        <p:nvSpPr>
          <p:cNvPr id="9" name="직사각형 8">
            <a:extLst>
              <a:ext uri="{FF2B5EF4-FFF2-40B4-BE49-F238E27FC236}">
                <a16:creationId xmlns:a16="http://schemas.microsoft.com/office/drawing/2014/main" id="{F0A50898-77B4-4DCB-A019-1BD5CC19BB29}"/>
              </a:ext>
            </a:extLst>
          </p:cNvPr>
          <p:cNvSpPr>
            <a:spLocks noGrp="1"/>
          </p:cNvSpPr>
          <p:nvPr/>
        </p:nvSpPr>
        <p:spPr>
          <a:xfrm>
            <a:off x="685800" y="1428750"/>
            <a:ext cx="2019300" cy="53340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비교 기준</a:t>
            </a:r>
          </a:p>
        </p:txBody>
      </p:sp>
      <p:sp>
        <p:nvSpPr>
          <p:cNvPr id="10" name="직사각형 9">
            <a:extLst>
              <a:ext uri="{FF2B5EF4-FFF2-40B4-BE49-F238E27FC236}">
                <a16:creationId xmlns:a16="http://schemas.microsoft.com/office/drawing/2014/main" id="{CC31F1FE-54DC-4B30-BB95-3AECDED19452}"/>
              </a:ext>
            </a:extLst>
          </p:cNvPr>
          <p:cNvSpPr>
            <a:spLocks noGrp="1"/>
          </p:cNvSpPr>
          <p:nvPr/>
        </p:nvSpPr>
        <p:spPr>
          <a:xfrm>
            <a:off x="2781300" y="1428750"/>
            <a:ext cx="2171700" cy="533400"/>
          </a:xfrm>
          <a:prstGeom prst="rect">
            <a:avLst/>
          </a:prstGeom>
          <a:solidFill>
            <a:srgbClr val="F3F6F7"/>
          </a:solidFill>
          <a:ln w="9525">
            <a:solidFill>
              <a:srgbClr val="D7DEE2"/>
            </a:solidFill>
            <a:prstDash val="solid"/>
          </a:ln>
        </p:spPr>
      </p:sp>
      <p:sp>
        <p:nvSpPr>
          <p:cNvPr id="11" name="직사각형 10">
            <a:extLst>
              <a:ext uri="{FF2B5EF4-FFF2-40B4-BE49-F238E27FC236}">
                <a16:creationId xmlns:a16="http://schemas.microsoft.com/office/drawing/2014/main" id="{DA5B60E8-DF92-4DD0-9791-95764161D195}"/>
              </a:ext>
            </a:extLst>
          </p:cNvPr>
          <p:cNvSpPr>
            <a:spLocks noGrp="1"/>
          </p:cNvSpPr>
          <p:nvPr/>
        </p:nvSpPr>
        <p:spPr>
          <a:xfrm>
            <a:off x="2857500" y="1428750"/>
            <a:ext cx="2019300" cy="533400"/>
          </a:xfrm>
          <a:prstGeom prst="rect">
            <a:avLst/>
          </a:prstGeom>
          <a:noFill/>
          <a:ln w="0">
            <a:noFill/>
            <a:prstDash val="solid"/>
          </a:ln>
        </p:spPr>
        <p:txBody>
          <a:bodyPr lIns="0" tIns="0" rIns="0" bIns="0" anchor="ctr"/>
          <a:lstStyle/>
          <a:p>
            <a:pPr algn="ctr">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정보 포털</a:t>
            </a:r>
          </a:p>
        </p:txBody>
      </p:sp>
      <p:sp>
        <p:nvSpPr>
          <p:cNvPr id="12" name="직사각형 11">
            <a:extLst>
              <a:ext uri="{FF2B5EF4-FFF2-40B4-BE49-F238E27FC236}">
                <a16:creationId xmlns:a16="http://schemas.microsoft.com/office/drawing/2014/main" id="{7DB9E032-81D0-42A0-AAC2-0A6453AFC2E4}"/>
              </a:ext>
            </a:extLst>
          </p:cNvPr>
          <p:cNvSpPr>
            <a:spLocks noGrp="1"/>
          </p:cNvSpPr>
          <p:nvPr/>
        </p:nvSpPr>
        <p:spPr>
          <a:xfrm>
            <a:off x="4953000" y="1428750"/>
            <a:ext cx="2171700" cy="533400"/>
          </a:xfrm>
          <a:prstGeom prst="rect">
            <a:avLst/>
          </a:prstGeom>
          <a:solidFill>
            <a:srgbClr val="F3F6F7"/>
          </a:solidFill>
          <a:ln w="9525">
            <a:solidFill>
              <a:srgbClr val="D7DEE2"/>
            </a:solidFill>
            <a:prstDash val="solid"/>
          </a:ln>
        </p:spPr>
      </p:sp>
      <p:sp>
        <p:nvSpPr>
          <p:cNvPr id="13" name="직사각형 12">
            <a:extLst>
              <a:ext uri="{FF2B5EF4-FFF2-40B4-BE49-F238E27FC236}">
                <a16:creationId xmlns:a16="http://schemas.microsoft.com/office/drawing/2014/main" id="{7257A308-1ABB-4432-BD3F-374DC2DA2D48}"/>
              </a:ext>
            </a:extLst>
          </p:cNvPr>
          <p:cNvSpPr>
            <a:spLocks noGrp="1"/>
          </p:cNvSpPr>
          <p:nvPr/>
        </p:nvSpPr>
        <p:spPr>
          <a:xfrm>
            <a:off x="5029200" y="1428750"/>
            <a:ext cx="2019300" cy="533400"/>
          </a:xfrm>
          <a:prstGeom prst="rect">
            <a:avLst/>
          </a:prstGeom>
          <a:noFill/>
          <a:ln w="0">
            <a:noFill/>
            <a:prstDash val="solid"/>
          </a:ln>
        </p:spPr>
        <p:txBody>
          <a:bodyPr lIns="0" tIns="0" rIns="0" bIns="0" anchor="ctr"/>
          <a:lstStyle/>
          <a:p>
            <a:pPr algn="ctr">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일반 생성형 AI</a:t>
            </a:r>
          </a:p>
        </p:txBody>
      </p:sp>
      <p:sp>
        <p:nvSpPr>
          <p:cNvPr id="14" name="직사각형 13">
            <a:extLst>
              <a:ext uri="{FF2B5EF4-FFF2-40B4-BE49-F238E27FC236}">
                <a16:creationId xmlns:a16="http://schemas.microsoft.com/office/drawing/2014/main" id="{3CE04C3D-B07A-4C95-961F-C6083EF2E4D9}"/>
              </a:ext>
            </a:extLst>
          </p:cNvPr>
          <p:cNvSpPr>
            <a:spLocks noGrp="1"/>
          </p:cNvSpPr>
          <p:nvPr/>
        </p:nvSpPr>
        <p:spPr>
          <a:xfrm>
            <a:off x="7124700" y="1428750"/>
            <a:ext cx="2171700" cy="533400"/>
          </a:xfrm>
          <a:prstGeom prst="rect">
            <a:avLst/>
          </a:prstGeom>
          <a:solidFill>
            <a:srgbClr val="F3F6F7"/>
          </a:solidFill>
          <a:ln w="9525">
            <a:solidFill>
              <a:srgbClr val="D7DEE2"/>
            </a:solidFill>
            <a:prstDash val="solid"/>
          </a:ln>
        </p:spPr>
      </p:sp>
      <p:sp>
        <p:nvSpPr>
          <p:cNvPr id="15" name="직사각형 14">
            <a:extLst>
              <a:ext uri="{FF2B5EF4-FFF2-40B4-BE49-F238E27FC236}">
                <a16:creationId xmlns:a16="http://schemas.microsoft.com/office/drawing/2014/main" id="{FA13AB2E-BD05-48E8-B68F-949D85996D78}"/>
              </a:ext>
            </a:extLst>
          </p:cNvPr>
          <p:cNvSpPr>
            <a:spLocks noGrp="1"/>
          </p:cNvSpPr>
          <p:nvPr/>
        </p:nvSpPr>
        <p:spPr>
          <a:xfrm>
            <a:off x="7200900" y="1428750"/>
            <a:ext cx="2019300" cy="533400"/>
          </a:xfrm>
          <a:prstGeom prst="rect">
            <a:avLst/>
          </a:prstGeom>
          <a:noFill/>
          <a:ln w="0">
            <a:noFill/>
            <a:prstDash val="solid"/>
          </a:ln>
        </p:spPr>
        <p:txBody>
          <a:bodyPr lIns="0" tIns="0" rIns="0" bIns="0" anchor="ctr"/>
          <a:lstStyle/>
          <a:p>
            <a:pPr algn="ctr">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문서 컨설팅</a:t>
            </a:r>
          </a:p>
        </p:txBody>
      </p:sp>
      <p:sp>
        <p:nvSpPr>
          <p:cNvPr id="16" name="직사각형 15">
            <a:extLst>
              <a:ext uri="{FF2B5EF4-FFF2-40B4-BE49-F238E27FC236}">
                <a16:creationId xmlns:a16="http://schemas.microsoft.com/office/drawing/2014/main" id="{052F9466-D4A2-4661-A0CD-1D3E15622B01}"/>
              </a:ext>
            </a:extLst>
          </p:cNvPr>
          <p:cNvSpPr>
            <a:spLocks noGrp="1"/>
          </p:cNvSpPr>
          <p:nvPr/>
        </p:nvSpPr>
        <p:spPr>
          <a:xfrm>
            <a:off x="9296400" y="1428750"/>
            <a:ext cx="2286000" cy="533400"/>
          </a:xfrm>
          <a:prstGeom prst="rect">
            <a:avLst/>
          </a:prstGeom>
          <a:solidFill>
            <a:srgbClr val="051C2C"/>
          </a:solidFill>
          <a:ln w="9525">
            <a:solidFill>
              <a:srgbClr val="051C2C"/>
            </a:solidFill>
            <a:prstDash val="solid"/>
          </a:ln>
        </p:spPr>
      </p:sp>
      <p:sp>
        <p:nvSpPr>
          <p:cNvPr id="17" name="직사각형 16">
            <a:extLst>
              <a:ext uri="{FF2B5EF4-FFF2-40B4-BE49-F238E27FC236}">
                <a16:creationId xmlns:a16="http://schemas.microsoft.com/office/drawing/2014/main" id="{9DEFB38D-301D-4484-B83D-675C823795D8}"/>
              </a:ext>
            </a:extLst>
          </p:cNvPr>
          <p:cNvSpPr>
            <a:spLocks noGrp="1"/>
          </p:cNvSpPr>
          <p:nvPr/>
        </p:nvSpPr>
        <p:spPr>
          <a:xfrm>
            <a:off x="9372600" y="1428750"/>
            <a:ext cx="2133600" cy="533400"/>
          </a:xfrm>
          <a:prstGeom prst="rect">
            <a:avLst/>
          </a:prstGeom>
          <a:noFill/>
          <a:ln w="0">
            <a:noFill/>
            <a:prstDash val="solid"/>
          </a:ln>
        </p:spPr>
        <p:txBody>
          <a:bodyPr lIns="0" tIns="0" rIns="0" bIns="0" anchor="ctr"/>
          <a:lstStyle/>
          <a:p>
            <a:pPr algn="ctr">
              <a:defRPr sz="1200" b="1">
                <a:solidFill>
                  <a:srgbClr val="FFFFFF"/>
                </a:solidFill>
                <a:latin typeface="Noto Sans KR"/>
                <a:ea typeface="Noto Sans KR"/>
                <a:cs typeface="Noto Sans KR"/>
              </a:defRPr>
            </a:pPr>
            <a:r>
              <a:rPr sz="1200" b="1">
                <a:solidFill>
                  <a:srgbClr val="FFFFFF"/>
                </a:solidFill>
                <a:latin typeface="Noto Sans KR"/>
                <a:ea typeface="Noto Sans KR"/>
                <a:cs typeface="Noto Sans KR"/>
              </a:rPr>
              <a:t>산단수출 코파일럿</a:t>
            </a:r>
          </a:p>
        </p:txBody>
      </p:sp>
      <p:sp>
        <p:nvSpPr>
          <p:cNvPr id="18" name="직사각형 17">
            <a:extLst>
              <a:ext uri="{FF2B5EF4-FFF2-40B4-BE49-F238E27FC236}">
                <a16:creationId xmlns:a16="http://schemas.microsoft.com/office/drawing/2014/main" id="{AD43DFFB-038A-4F18-BAD1-2C0A9B53E984}"/>
              </a:ext>
            </a:extLst>
          </p:cNvPr>
          <p:cNvSpPr>
            <a:spLocks noGrp="1"/>
          </p:cNvSpPr>
          <p:nvPr/>
        </p:nvSpPr>
        <p:spPr>
          <a:xfrm>
            <a:off x="609600" y="1962150"/>
            <a:ext cx="2171700" cy="685800"/>
          </a:xfrm>
          <a:prstGeom prst="rect">
            <a:avLst/>
          </a:prstGeom>
          <a:solidFill>
            <a:srgbClr val="FFFFFF"/>
          </a:solidFill>
          <a:ln w="9525">
            <a:solidFill>
              <a:srgbClr val="D7DEE2"/>
            </a:solidFill>
            <a:prstDash val="solid"/>
          </a:ln>
        </p:spPr>
      </p:sp>
      <p:sp>
        <p:nvSpPr>
          <p:cNvPr id="19" name="직사각형 18">
            <a:extLst>
              <a:ext uri="{FF2B5EF4-FFF2-40B4-BE49-F238E27FC236}">
                <a16:creationId xmlns:a16="http://schemas.microsoft.com/office/drawing/2014/main" id="{9615CDBE-D43B-4BDC-B36A-D698F237B339}"/>
              </a:ext>
            </a:extLst>
          </p:cNvPr>
          <p:cNvSpPr>
            <a:spLocks noGrp="1"/>
          </p:cNvSpPr>
          <p:nvPr/>
        </p:nvSpPr>
        <p:spPr>
          <a:xfrm>
            <a:off x="704850" y="1962150"/>
            <a:ext cx="1981200" cy="68580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정확한 공식 근거</a:t>
            </a:r>
          </a:p>
        </p:txBody>
      </p:sp>
      <p:sp>
        <p:nvSpPr>
          <p:cNvPr id="20" name="직사각형 19">
            <a:extLst>
              <a:ext uri="{FF2B5EF4-FFF2-40B4-BE49-F238E27FC236}">
                <a16:creationId xmlns:a16="http://schemas.microsoft.com/office/drawing/2014/main" id="{9D3F7538-0FDB-494A-B9FD-D9463876E226}"/>
              </a:ext>
            </a:extLst>
          </p:cNvPr>
          <p:cNvSpPr>
            <a:spLocks noGrp="1"/>
          </p:cNvSpPr>
          <p:nvPr/>
        </p:nvSpPr>
        <p:spPr>
          <a:xfrm>
            <a:off x="2781300" y="1962150"/>
            <a:ext cx="2171700" cy="685800"/>
          </a:xfrm>
          <a:prstGeom prst="rect">
            <a:avLst/>
          </a:prstGeom>
          <a:solidFill>
            <a:srgbClr val="FFFFFF"/>
          </a:solidFill>
          <a:ln w="9525">
            <a:solidFill>
              <a:srgbClr val="D7DEE2"/>
            </a:solidFill>
            <a:prstDash val="solid"/>
          </a:ln>
        </p:spPr>
      </p:sp>
      <p:sp>
        <p:nvSpPr>
          <p:cNvPr id="21" name="직사각형 20">
            <a:extLst>
              <a:ext uri="{FF2B5EF4-FFF2-40B4-BE49-F238E27FC236}">
                <a16:creationId xmlns:a16="http://schemas.microsoft.com/office/drawing/2014/main" id="{E390820E-5F09-4E0D-BD8A-6C013D38CF81}"/>
              </a:ext>
            </a:extLst>
          </p:cNvPr>
          <p:cNvSpPr>
            <a:spLocks noGrp="1"/>
          </p:cNvSpPr>
          <p:nvPr/>
        </p:nvSpPr>
        <p:spPr>
          <a:xfrm>
            <a:off x="2876550" y="1962150"/>
            <a:ext cx="1981200" cy="685800"/>
          </a:xfrm>
          <a:prstGeom prst="rect">
            <a:avLst/>
          </a:prstGeom>
          <a:noFill/>
          <a:ln w="0">
            <a:noFill/>
            <a:prstDash val="solid"/>
          </a:ln>
        </p:spPr>
        <p:txBody>
          <a:bodyPr lIns="0" tIns="0" rIns="0" bIns="0" anchor="ctr"/>
          <a:lstStyle/>
          <a:p>
            <a:pPr algn="ctr">
              <a:defRPr sz="1950" b="0">
                <a:solidFill>
                  <a:srgbClr val="007A53"/>
                </a:solidFill>
                <a:latin typeface="Noto Sans KR"/>
                <a:ea typeface="Noto Sans KR"/>
                <a:cs typeface="Noto Sans KR"/>
              </a:defRPr>
            </a:pPr>
            <a:r>
              <a:rPr sz="1950" b="0">
                <a:solidFill>
                  <a:srgbClr val="007A53"/>
                </a:solidFill>
                <a:latin typeface="Noto Sans KR"/>
                <a:ea typeface="Noto Sans KR"/>
                <a:cs typeface="Noto Sans KR"/>
              </a:rPr>
              <a:t>●</a:t>
            </a:r>
          </a:p>
        </p:txBody>
      </p:sp>
      <p:sp>
        <p:nvSpPr>
          <p:cNvPr id="22" name="직사각형 21">
            <a:extLst>
              <a:ext uri="{FF2B5EF4-FFF2-40B4-BE49-F238E27FC236}">
                <a16:creationId xmlns:a16="http://schemas.microsoft.com/office/drawing/2014/main" id="{D6B69987-ADD2-427F-97BE-345309194D19}"/>
              </a:ext>
            </a:extLst>
          </p:cNvPr>
          <p:cNvSpPr>
            <a:spLocks noGrp="1"/>
          </p:cNvSpPr>
          <p:nvPr/>
        </p:nvSpPr>
        <p:spPr>
          <a:xfrm>
            <a:off x="4953000" y="1962150"/>
            <a:ext cx="2171700" cy="685800"/>
          </a:xfrm>
          <a:prstGeom prst="rect">
            <a:avLst/>
          </a:prstGeom>
          <a:solidFill>
            <a:srgbClr val="FFFFFF"/>
          </a:solidFill>
          <a:ln w="9525">
            <a:solidFill>
              <a:srgbClr val="D7DEE2"/>
            </a:solidFill>
            <a:prstDash val="solid"/>
          </a:ln>
        </p:spPr>
      </p:sp>
      <p:sp>
        <p:nvSpPr>
          <p:cNvPr id="23" name="직사각형 22">
            <a:extLst>
              <a:ext uri="{FF2B5EF4-FFF2-40B4-BE49-F238E27FC236}">
                <a16:creationId xmlns:a16="http://schemas.microsoft.com/office/drawing/2014/main" id="{08D7570D-7771-4E86-AA5A-970ADA5468FB}"/>
              </a:ext>
            </a:extLst>
          </p:cNvPr>
          <p:cNvSpPr>
            <a:spLocks noGrp="1"/>
          </p:cNvSpPr>
          <p:nvPr/>
        </p:nvSpPr>
        <p:spPr>
          <a:xfrm>
            <a:off x="5048250" y="1962150"/>
            <a:ext cx="1981200" cy="685800"/>
          </a:xfrm>
          <a:prstGeom prst="rect">
            <a:avLst/>
          </a:prstGeom>
          <a:noFill/>
          <a:ln w="0">
            <a:noFill/>
            <a:prstDash val="solid"/>
          </a:ln>
        </p:spPr>
        <p:txBody>
          <a:bodyPr lIns="0" tIns="0" rIns="0" bIns="0" anchor="ctr"/>
          <a:lstStyle/>
          <a:p>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24" name="직사각형 23">
            <a:extLst>
              <a:ext uri="{FF2B5EF4-FFF2-40B4-BE49-F238E27FC236}">
                <a16:creationId xmlns:a16="http://schemas.microsoft.com/office/drawing/2014/main" id="{7218ECAC-997A-425F-8230-920A6ED41676}"/>
              </a:ext>
            </a:extLst>
          </p:cNvPr>
          <p:cNvSpPr>
            <a:spLocks noGrp="1"/>
          </p:cNvSpPr>
          <p:nvPr/>
        </p:nvSpPr>
        <p:spPr>
          <a:xfrm>
            <a:off x="7124700" y="1962150"/>
            <a:ext cx="2171700" cy="685800"/>
          </a:xfrm>
          <a:prstGeom prst="rect">
            <a:avLst/>
          </a:prstGeom>
          <a:solidFill>
            <a:srgbClr val="FFFFFF"/>
          </a:solidFill>
          <a:ln w="9525">
            <a:solidFill>
              <a:srgbClr val="D7DEE2"/>
            </a:solidFill>
            <a:prstDash val="solid"/>
          </a:ln>
        </p:spPr>
      </p:sp>
      <p:sp>
        <p:nvSpPr>
          <p:cNvPr id="25" name="직사각형 24">
            <a:extLst>
              <a:ext uri="{FF2B5EF4-FFF2-40B4-BE49-F238E27FC236}">
                <a16:creationId xmlns:a16="http://schemas.microsoft.com/office/drawing/2014/main" id="{E690E73C-FF79-4F0E-A4C2-A8FC8A0D915C}"/>
              </a:ext>
            </a:extLst>
          </p:cNvPr>
          <p:cNvSpPr>
            <a:spLocks noGrp="1"/>
          </p:cNvSpPr>
          <p:nvPr/>
        </p:nvSpPr>
        <p:spPr>
          <a:xfrm>
            <a:off x="7219950" y="1962150"/>
            <a:ext cx="1981200" cy="685800"/>
          </a:xfrm>
          <a:prstGeom prst="rect">
            <a:avLst/>
          </a:prstGeom>
          <a:noFill/>
          <a:ln w="0">
            <a:noFill/>
            <a:prstDash val="solid"/>
          </a:ln>
        </p:spPr>
        <p:txBody>
          <a:bodyPr lIns="0" tIns="0" rIns="0" bIns="0" anchor="ctr"/>
          <a:lstStyle/>
          <a:p>
            <a:pPr algn="ctr">
              <a:defRPr sz="1950" b="0">
                <a:solidFill>
                  <a:srgbClr val="007A53"/>
                </a:solidFill>
                <a:latin typeface="Noto Sans KR"/>
                <a:ea typeface="Noto Sans KR"/>
                <a:cs typeface="Noto Sans KR"/>
              </a:defRPr>
            </a:pPr>
            <a:r>
              <a:rPr sz="1950" b="0">
                <a:solidFill>
                  <a:srgbClr val="007A53"/>
                </a:solidFill>
                <a:latin typeface="Noto Sans KR"/>
                <a:ea typeface="Noto Sans KR"/>
                <a:cs typeface="Noto Sans KR"/>
              </a:rPr>
              <a:t>●</a:t>
            </a:r>
          </a:p>
        </p:txBody>
      </p:sp>
      <p:sp>
        <p:nvSpPr>
          <p:cNvPr id="26" name="직사각형 25">
            <a:extLst>
              <a:ext uri="{FF2B5EF4-FFF2-40B4-BE49-F238E27FC236}">
                <a16:creationId xmlns:a16="http://schemas.microsoft.com/office/drawing/2014/main" id="{735C4AB7-EE47-4545-88A0-AC16825957DA}"/>
              </a:ext>
            </a:extLst>
          </p:cNvPr>
          <p:cNvSpPr>
            <a:spLocks noGrp="1"/>
          </p:cNvSpPr>
          <p:nvPr/>
        </p:nvSpPr>
        <p:spPr>
          <a:xfrm>
            <a:off x="9296400" y="1962150"/>
            <a:ext cx="2286000" cy="685800"/>
          </a:xfrm>
          <a:prstGeom prst="rect">
            <a:avLst/>
          </a:prstGeom>
          <a:solidFill>
            <a:srgbClr val="EDF5F3"/>
          </a:solidFill>
          <a:ln w="9525">
            <a:solidFill>
              <a:srgbClr val="D7DEE2"/>
            </a:solidFill>
            <a:prstDash val="solid"/>
          </a:ln>
        </p:spPr>
      </p:sp>
      <p:sp>
        <p:nvSpPr>
          <p:cNvPr id="27" name="직사각형 26">
            <a:extLst>
              <a:ext uri="{FF2B5EF4-FFF2-40B4-BE49-F238E27FC236}">
                <a16:creationId xmlns:a16="http://schemas.microsoft.com/office/drawing/2014/main" id="{79BE6B92-A06E-411C-8986-DF7D88C4A56E}"/>
              </a:ext>
            </a:extLst>
          </p:cNvPr>
          <p:cNvSpPr>
            <a:spLocks noGrp="1"/>
          </p:cNvSpPr>
          <p:nvPr/>
        </p:nvSpPr>
        <p:spPr>
          <a:xfrm>
            <a:off x="9391650" y="1962150"/>
            <a:ext cx="2095500" cy="685800"/>
          </a:xfrm>
          <a:prstGeom prst="rect">
            <a:avLst/>
          </a:prstGeom>
          <a:noFill/>
          <a:ln w="0">
            <a:noFill/>
            <a:prstDash val="solid"/>
          </a:ln>
        </p:spPr>
        <p:txBody>
          <a:bodyPr lIns="0" tIns="0" rIns="0" bIns="0" anchor="ctr"/>
          <a:lstStyle/>
          <a:p>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28" name="직사각형 27">
            <a:extLst>
              <a:ext uri="{FF2B5EF4-FFF2-40B4-BE49-F238E27FC236}">
                <a16:creationId xmlns:a16="http://schemas.microsoft.com/office/drawing/2014/main" id="{73F8967A-825D-47CC-B1CE-2E32D1945B92}"/>
              </a:ext>
            </a:extLst>
          </p:cNvPr>
          <p:cNvSpPr>
            <a:spLocks noGrp="1"/>
          </p:cNvSpPr>
          <p:nvPr/>
        </p:nvSpPr>
        <p:spPr>
          <a:xfrm>
            <a:off x="609600" y="2647950"/>
            <a:ext cx="2171700" cy="685800"/>
          </a:xfrm>
          <a:prstGeom prst="rect">
            <a:avLst/>
          </a:prstGeom>
          <a:solidFill>
            <a:srgbClr val="FFFFFF"/>
          </a:solidFill>
          <a:ln w="9525">
            <a:solidFill>
              <a:srgbClr val="D7DEE2"/>
            </a:solidFill>
            <a:prstDash val="solid"/>
          </a:ln>
        </p:spPr>
      </p:sp>
      <p:sp>
        <p:nvSpPr>
          <p:cNvPr id="29" name="직사각형 28">
            <a:extLst>
              <a:ext uri="{FF2B5EF4-FFF2-40B4-BE49-F238E27FC236}">
                <a16:creationId xmlns:a16="http://schemas.microsoft.com/office/drawing/2014/main" id="{825F671B-E253-4808-95E1-B99448B6B9E7}"/>
              </a:ext>
            </a:extLst>
          </p:cNvPr>
          <p:cNvSpPr>
            <a:spLocks noGrp="1"/>
          </p:cNvSpPr>
          <p:nvPr/>
        </p:nvSpPr>
        <p:spPr>
          <a:xfrm>
            <a:off x="704850" y="2647950"/>
            <a:ext cx="1981200" cy="68580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기업·품목 맥락 유지</a:t>
            </a:r>
          </a:p>
        </p:txBody>
      </p:sp>
      <p:sp>
        <p:nvSpPr>
          <p:cNvPr id="30" name="직사각형 29">
            <a:extLst>
              <a:ext uri="{FF2B5EF4-FFF2-40B4-BE49-F238E27FC236}">
                <a16:creationId xmlns:a16="http://schemas.microsoft.com/office/drawing/2014/main" id="{D3A00E6D-F6D3-4862-ADD0-FE6CB91B8115}"/>
              </a:ext>
            </a:extLst>
          </p:cNvPr>
          <p:cNvSpPr>
            <a:spLocks noGrp="1"/>
          </p:cNvSpPr>
          <p:nvPr/>
        </p:nvSpPr>
        <p:spPr>
          <a:xfrm>
            <a:off x="2781300" y="2647950"/>
            <a:ext cx="2171700" cy="685800"/>
          </a:xfrm>
          <a:prstGeom prst="rect">
            <a:avLst/>
          </a:prstGeom>
          <a:solidFill>
            <a:srgbClr val="FFFFFF"/>
          </a:solidFill>
          <a:ln w="9525">
            <a:solidFill>
              <a:srgbClr val="D7DEE2"/>
            </a:solidFill>
            <a:prstDash val="solid"/>
          </a:ln>
        </p:spPr>
      </p:sp>
      <p:sp>
        <p:nvSpPr>
          <p:cNvPr id="31" name="직사각형 30">
            <a:extLst>
              <a:ext uri="{FF2B5EF4-FFF2-40B4-BE49-F238E27FC236}">
                <a16:creationId xmlns:a16="http://schemas.microsoft.com/office/drawing/2014/main" id="{455E2523-AE15-400F-93CE-EAC0FA4205B7}"/>
              </a:ext>
            </a:extLst>
          </p:cNvPr>
          <p:cNvSpPr>
            <a:spLocks noGrp="1"/>
          </p:cNvSpPr>
          <p:nvPr/>
        </p:nvSpPr>
        <p:spPr>
          <a:xfrm>
            <a:off x="2876550" y="2647950"/>
            <a:ext cx="1981200" cy="685800"/>
          </a:xfrm>
          <a:prstGeom prst="rect">
            <a:avLst/>
          </a:prstGeom>
          <a:noFill/>
          <a:ln w="0">
            <a:noFill/>
            <a:prstDash val="solid"/>
          </a:ln>
        </p:spPr>
        <p:txBody>
          <a:bodyPr lIns="0" tIns="0" rIns="0" bIns="0" anchor="ctr"/>
          <a:lstStyle/>
          <a:p>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32" name="직사각형 31">
            <a:extLst>
              <a:ext uri="{FF2B5EF4-FFF2-40B4-BE49-F238E27FC236}">
                <a16:creationId xmlns:a16="http://schemas.microsoft.com/office/drawing/2014/main" id="{2D301017-CA27-4A8E-BEDD-03812125FEE5}"/>
              </a:ext>
            </a:extLst>
          </p:cNvPr>
          <p:cNvSpPr>
            <a:spLocks noGrp="1"/>
          </p:cNvSpPr>
          <p:nvPr/>
        </p:nvSpPr>
        <p:spPr>
          <a:xfrm>
            <a:off x="4953000" y="2647950"/>
            <a:ext cx="2171700" cy="685800"/>
          </a:xfrm>
          <a:prstGeom prst="rect">
            <a:avLst/>
          </a:prstGeom>
          <a:solidFill>
            <a:srgbClr val="FFFFFF"/>
          </a:solidFill>
          <a:ln w="9525">
            <a:solidFill>
              <a:srgbClr val="D7DEE2"/>
            </a:solidFill>
            <a:prstDash val="solid"/>
          </a:ln>
        </p:spPr>
      </p:sp>
      <p:sp>
        <p:nvSpPr>
          <p:cNvPr id="33" name="직사각형 32">
            <a:extLst>
              <a:ext uri="{FF2B5EF4-FFF2-40B4-BE49-F238E27FC236}">
                <a16:creationId xmlns:a16="http://schemas.microsoft.com/office/drawing/2014/main" id="{1B020DA4-C296-44B6-B3A0-1D603B3D573B}"/>
              </a:ext>
            </a:extLst>
          </p:cNvPr>
          <p:cNvSpPr>
            <a:spLocks noGrp="1"/>
          </p:cNvSpPr>
          <p:nvPr/>
        </p:nvSpPr>
        <p:spPr>
          <a:xfrm>
            <a:off x="5048250" y="2647950"/>
            <a:ext cx="1981200" cy="685800"/>
          </a:xfrm>
          <a:prstGeom prst="rect">
            <a:avLst/>
          </a:prstGeom>
          <a:noFill/>
          <a:ln w="0">
            <a:noFill/>
            <a:prstDash val="solid"/>
          </a:ln>
        </p:spPr>
        <p:txBody>
          <a:bodyPr lIns="0" tIns="0" rIns="0" bIns="0" anchor="ctr"/>
          <a:lstStyle/>
          <a:p>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34" name="직사각형 33">
            <a:extLst>
              <a:ext uri="{FF2B5EF4-FFF2-40B4-BE49-F238E27FC236}">
                <a16:creationId xmlns:a16="http://schemas.microsoft.com/office/drawing/2014/main" id="{1D3E74A4-6D3B-41E6-B7F9-E9E41A12BECC}"/>
              </a:ext>
            </a:extLst>
          </p:cNvPr>
          <p:cNvSpPr>
            <a:spLocks noGrp="1"/>
          </p:cNvSpPr>
          <p:nvPr/>
        </p:nvSpPr>
        <p:spPr>
          <a:xfrm>
            <a:off x="7124700" y="2647950"/>
            <a:ext cx="2171700" cy="685800"/>
          </a:xfrm>
          <a:prstGeom prst="rect">
            <a:avLst/>
          </a:prstGeom>
          <a:solidFill>
            <a:srgbClr val="FFFFFF"/>
          </a:solidFill>
          <a:ln w="9525">
            <a:solidFill>
              <a:srgbClr val="D7DEE2"/>
            </a:solidFill>
            <a:prstDash val="solid"/>
          </a:ln>
        </p:spPr>
      </p:sp>
      <p:sp>
        <p:nvSpPr>
          <p:cNvPr id="35" name="직사각형 34">
            <a:extLst>
              <a:ext uri="{FF2B5EF4-FFF2-40B4-BE49-F238E27FC236}">
                <a16:creationId xmlns:a16="http://schemas.microsoft.com/office/drawing/2014/main" id="{406F92C1-8B1C-48ED-9F97-BCE8DADBAC2D}"/>
              </a:ext>
            </a:extLst>
          </p:cNvPr>
          <p:cNvSpPr>
            <a:spLocks noGrp="1"/>
          </p:cNvSpPr>
          <p:nvPr/>
        </p:nvSpPr>
        <p:spPr>
          <a:xfrm>
            <a:off x="7219950" y="2647950"/>
            <a:ext cx="1981200" cy="685800"/>
          </a:xfrm>
          <a:prstGeom prst="rect">
            <a:avLst/>
          </a:prstGeom>
          <a:noFill/>
          <a:ln w="0">
            <a:noFill/>
            <a:prstDash val="solid"/>
          </a:ln>
        </p:spPr>
        <p:txBody>
          <a:bodyPr lIns="0" tIns="0" rIns="0" bIns="0" anchor="ctr"/>
          <a:lstStyle/>
          <a:p>
            <a:pPr algn="ctr">
              <a:defRPr sz="1950" b="0">
                <a:solidFill>
                  <a:srgbClr val="007A53"/>
                </a:solidFill>
                <a:latin typeface="Noto Sans KR"/>
                <a:ea typeface="Noto Sans KR"/>
                <a:cs typeface="Noto Sans KR"/>
              </a:defRPr>
            </a:pPr>
            <a:r>
              <a:rPr sz="1950" b="0">
                <a:solidFill>
                  <a:srgbClr val="007A53"/>
                </a:solidFill>
                <a:latin typeface="Noto Sans KR"/>
                <a:ea typeface="Noto Sans KR"/>
                <a:cs typeface="Noto Sans KR"/>
              </a:rPr>
              <a:t>●</a:t>
            </a:r>
          </a:p>
        </p:txBody>
      </p:sp>
      <p:sp>
        <p:nvSpPr>
          <p:cNvPr id="36" name="직사각형 35">
            <a:extLst>
              <a:ext uri="{FF2B5EF4-FFF2-40B4-BE49-F238E27FC236}">
                <a16:creationId xmlns:a16="http://schemas.microsoft.com/office/drawing/2014/main" id="{049271C2-56BF-48D4-BE85-19FFA683CB17}"/>
              </a:ext>
            </a:extLst>
          </p:cNvPr>
          <p:cNvSpPr>
            <a:spLocks noGrp="1"/>
          </p:cNvSpPr>
          <p:nvPr/>
        </p:nvSpPr>
        <p:spPr>
          <a:xfrm>
            <a:off x="9296400" y="2647950"/>
            <a:ext cx="2286000" cy="685800"/>
          </a:xfrm>
          <a:prstGeom prst="rect">
            <a:avLst/>
          </a:prstGeom>
          <a:solidFill>
            <a:srgbClr val="EDF5F3"/>
          </a:solidFill>
          <a:ln w="9525">
            <a:solidFill>
              <a:srgbClr val="D7DEE2"/>
            </a:solidFill>
            <a:prstDash val="solid"/>
          </a:ln>
        </p:spPr>
      </p:sp>
      <p:sp>
        <p:nvSpPr>
          <p:cNvPr id="37" name="직사각형 36">
            <a:extLst>
              <a:ext uri="{FF2B5EF4-FFF2-40B4-BE49-F238E27FC236}">
                <a16:creationId xmlns:a16="http://schemas.microsoft.com/office/drawing/2014/main" id="{2DBBA9DA-8707-4A84-B37E-088384CF81F3}"/>
              </a:ext>
            </a:extLst>
          </p:cNvPr>
          <p:cNvSpPr>
            <a:spLocks noGrp="1"/>
          </p:cNvSpPr>
          <p:nvPr/>
        </p:nvSpPr>
        <p:spPr>
          <a:xfrm>
            <a:off x="9391650" y="2647950"/>
            <a:ext cx="2095500" cy="685800"/>
          </a:xfrm>
          <a:prstGeom prst="rect">
            <a:avLst/>
          </a:prstGeom>
          <a:noFill/>
          <a:ln w="0">
            <a:noFill/>
            <a:prstDash val="solid"/>
          </a:ln>
        </p:spPr>
        <p:txBody>
          <a:bodyPr lIns="0" tIns="0" rIns="0" bIns="0" anchor="ctr"/>
          <a:lstStyle/>
          <a:p>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38" name="직사각형 37">
            <a:extLst>
              <a:ext uri="{FF2B5EF4-FFF2-40B4-BE49-F238E27FC236}">
                <a16:creationId xmlns:a16="http://schemas.microsoft.com/office/drawing/2014/main" id="{9874CA48-A58D-4128-A209-ACBBDFB93787}"/>
              </a:ext>
            </a:extLst>
          </p:cNvPr>
          <p:cNvSpPr>
            <a:spLocks noGrp="1"/>
          </p:cNvSpPr>
          <p:nvPr/>
        </p:nvSpPr>
        <p:spPr>
          <a:xfrm>
            <a:off x="609600" y="3333750"/>
            <a:ext cx="2171700" cy="685800"/>
          </a:xfrm>
          <a:prstGeom prst="rect">
            <a:avLst/>
          </a:prstGeom>
          <a:solidFill>
            <a:srgbClr val="FFFFFF"/>
          </a:solidFill>
          <a:ln w="9525">
            <a:solidFill>
              <a:srgbClr val="D7DEE2"/>
            </a:solidFill>
            <a:prstDash val="solid"/>
          </a:ln>
        </p:spPr>
      </p:sp>
      <p:sp>
        <p:nvSpPr>
          <p:cNvPr id="39" name="직사각형 38">
            <a:extLst>
              <a:ext uri="{FF2B5EF4-FFF2-40B4-BE49-F238E27FC236}">
                <a16:creationId xmlns:a16="http://schemas.microsoft.com/office/drawing/2014/main" id="{48C944EF-34E2-418C-9D35-EEEEEBB8D2D6}"/>
              </a:ext>
            </a:extLst>
          </p:cNvPr>
          <p:cNvSpPr>
            <a:spLocks noGrp="1"/>
          </p:cNvSpPr>
          <p:nvPr/>
        </p:nvSpPr>
        <p:spPr>
          <a:xfrm>
            <a:off x="704850" y="3333750"/>
            <a:ext cx="1981200" cy="68580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조회 즉시 갱신</a:t>
            </a:r>
          </a:p>
        </p:txBody>
      </p:sp>
      <p:sp>
        <p:nvSpPr>
          <p:cNvPr id="40" name="직사각형 39">
            <a:extLst>
              <a:ext uri="{FF2B5EF4-FFF2-40B4-BE49-F238E27FC236}">
                <a16:creationId xmlns:a16="http://schemas.microsoft.com/office/drawing/2014/main" id="{525FC6E4-7C39-4808-9269-D06212D4B465}"/>
              </a:ext>
            </a:extLst>
          </p:cNvPr>
          <p:cNvSpPr>
            <a:spLocks noGrp="1"/>
          </p:cNvSpPr>
          <p:nvPr/>
        </p:nvSpPr>
        <p:spPr>
          <a:xfrm>
            <a:off x="2781300" y="3333750"/>
            <a:ext cx="2171700" cy="685800"/>
          </a:xfrm>
          <a:prstGeom prst="rect">
            <a:avLst/>
          </a:prstGeom>
          <a:solidFill>
            <a:srgbClr val="FFFFFF"/>
          </a:solidFill>
          <a:ln w="9525">
            <a:solidFill>
              <a:srgbClr val="D7DEE2"/>
            </a:solidFill>
            <a:prstDash val="solid"/>
          </a:ln>
        </p:spPr>
      </p:sp>
      <p:sp>
        <p:nvSpPr>
          <p:cNvPr id="41" name="직사각형 40">
            <a:extLst>
              <a:ext uri="{FF2B5EF4-FFF2-40B4-BE49-F238E27FC236}">
                <a16:creationId xmlns:a16="http://schemas.microsoft.com/office/drawing/2014/main" id="{B60E43B8-770A-439C-8CB4-EEFC26ADF496}"/>
              </a:ext>
            </a:extLst>
          </p:cNvPr>
          <p:cNvSpPr>
            <a:spLocks noGrp="1"/>
          </p:cNvSpPr>
          <p:nvPr/>
        </p:nvSpPr>
        <p:spPr>
          <a:xfrm>
            <a:off x="2876550" y="3333750"/>
            <a:ext cx="1981200" cy="685800"/>
          </a:xfrm>
          <a:prstGeom prst="rect">
            <a:avLst/>
          </a:prstGeom>
          <a:noFill/>
          <a:ln w="0">
            <a:noFill/>
            <a:prstDash val="solid"/>
          </a:ln>
        </p:spPr>
        <p:txBody>
          <a:bodyPr lIns="0" tIns="0" rIns="0" bIns="0" anchor="ctr"/>
          <a:lstStyle/>
          <a:p>
            <a:pPr algn="ctr">
              <a:defRPr sz="1950" b="0">
                <a:solidFill>
                  <a:srgbClr val="007A53"/>
                </a:solidFill>
                <a:latin typeface="Noto Sans KR"/>
                <a:ea typeface="Noto Sans KR"/>
                <a:cs typeface="Noto Sans KR"/>
              </a:defRPr>
            </a:pPr>
            <a:r>
              <a:rPr sz="1950" b="0">
                <a:solidFill>
                  <a:srgbClr val="007A53"/>
                </a:solidFill>
                <a:latin typeface="Noto Sans KR"/>
                <a:ea typeface="Noto Sans KR"/>
                <a:cs typeface="Noto Sans KR"/>
              </a:rPr>
              <a:t>●</a:t>
            </a:r>
          </a:p>
        </p:txBody>
      </p:sp>
      <p:sp>
        <p:nvSpPr>
          <p:cNvPr id="42" name="직사각형 41">
            <a:extLst>
              <a:ext uri="{FF2B5EF4-FFF2-40B4-BE49-F238E27FC236}">
                <a16:creationId xmlns:a16="http://schemas.microsoft.com/office/drawing/2014/main" id="{F7FF1D9C-3F2C-49F3-88CE-99371BAD56F6}"/>
              </a:ext>
            </a:extLst>
          </p:cNvPr>
          <p:cNvSpPr>
            <a:spLocks noGrp="1"/>
          </p:cNvSpPr>
          <p:nvPr/>
        </p:nvSpPr>
        <p:spPr>
          <a:xfrm>
            <a:off x="4953000" y="3333750"/>
            <a:ext cx="2171700" cy="685800"/>
          </a:xfrm>
          <a:prstGeom prst="rect">
            <a:avLst/>
          </a:prstGeom>
          <a:solidFill>
            <a:srgbClr val="FFFFFF"/>
          </a:solidFill>
          <a:ln w="9525">
            <a:solidFill>
              <a:srgbClr val="D7DEE2"/>
            </a:solidFill>
            <a:prstDash val="solid"/>
          </a:ln>
        </p:spPr>
      </p:sp>
      <p:sp>
        <p:nvSpPr>
          <p:cNvPr id="43" name="직사각형 42">
            <a:extLst>
              <a:ext uri="{FF2B5EF4-FFF2-40B4-BE49-F238E27FC236}">
                <a16:creationId xmlns:a16="http://schemas.microsoft.com/office/drawing/2014/main" id="{22D39D04-82A7-4D2E-83F8-1CD7D9C259DC}"/>
              </a:ext>
            </a:extLst>
          </p:cNvPr>
          <p:cNvSpPr>
            <a:spLocks noGrp="1"/>
          </p:cNvSpPr>
          <p:nvPr/>
        </p:nvSpPr>
        <p:spPr>
          <a:xfrm>
            <a:off x="5048250" y="3333750"/>
            <a:ext cx="1981200" cy="685800"/>
          </a:xfrm>
          <a:prstGeom prst="rect">
            <a:avLst/>
          </a:prstGeom>
          <a:noFill/>
          <a:ln w="0">
            <a:noFill/>
            <a:prstDash val="solid"/>
          </a:ln>
        </p:spPr>
        <p:txBody>
          <a:bodyPr lIns="0" tIns="0" rIns="0" bIns="0" anchor="ctr"/>
          <a:lstStyle/>
          <a:p>
            <a:pPr algn="ctr">
              <a:defRPr sz="1950" b="0">
                <a:solidFill>
                  <a:srgbClr val="007A53"/>
                </a:solidFill>
                <a:latin typeface="Noto Sans KR"/>
                <a:ea typeface="Noto Sans KR"/>
                <a:cs typeface="Noto Sans KR"/>
              </a:defRPr>
            </a:pPr>
            <a:r>
              <a:rPr sz="1950" b="0">
                <a:solidFill>
                  <a:srgbClr val="007A53"/>
                </a:solidFill>
                <a:latin typeface="Noto Sans KR"/>
                <a:ea typeface="Noto Sans KR"/>
                <a:cs typeface="Noto Sans KR"/>
              </a:rPr>
              <a:t>●</a:t>
            </a:r>
          </a:p>
        </p:txBody>
      </p:sp>
      <p:sp>
        <p:nvSpPr>
          <p:cNvPr id="44" name="직사각형 43">
            <a:extLst>
              <a:ext uri="{FF2B5EF4-FFF2-40B4-BE49-F238E27FC236}">
                <a16:creationId xmlns:a16="http://schemas.microsoft.com/office/drawing/2014/main" id="{6A6A6EF4-B96F-46B8-A987-1E41ACAAAF6D}"/>
              </a:ext>
            </a:extLst>
          </p:cNvPr>
          <p:cNvSpPr>
            <a:spLocks noGrp="1"/>
          </p:cNvSpPr>
          <p:nvPr/>
        </p:nvSpPr>
        <p:spPr>
          <a:xfrm>
            <a:off x="7124700" y="3333750"/>
            <a:ext cx="2171700" cy="685800"/>
          </a:xfrm>
          <a:prstGeom prst="rect">
            <a:avLst/>
          </a:prstGeom>
          <a:solidFill>
            <a:srgbClr val="FFFFFF"/>
          </a:solidFill>
          <a:ln w="9525">
            <a:solidFill>
              <a:srgbClr val="D7DEE2"/>
            </a:solidFill>
            <a:prstDash val="solid"/>
          </a:ln>
        </p:spPr>
      </p:sp>
      <p:sp>
        <p:nvSpPr>
          <p:cNvPr id="45" name="직사각형 44">
            <a:extLst>
              <a:ext uri="{FF2B5EF4-FFF2-40B4-BE49-F238E27FC236}">
                <a16:creationId xmlns:a16="http://schemas.microsoft.com/office/drawing/2014/main" id="{47DF58CC-511A-4627-8443-0ED96E120B1F}"/>
              </a:ext>
            </a:extLst>
          </p:cNvPr>
          <p:cNvSpPr>
            <a:spLocks noGrp="1"/>
          </p:cNvSpPr>
          <p:nvPr/>
        </p:nvSpPr>
        <p:spPr>
          <a:xfrm>
            <a:off x="7219950" y="3333750"/>
            <a:ext cx="1981200" cy="685800"/>
          </a:xfrm>
          <a:prstGeom prst="rect">
            <a:avLst/>
          </a:prstGeom>
          <a:noFill/>
          <a:ln w="0">
            <a:noFill/>
            <a:prstDash val="solid"/>
          </a:ln>
        </p:spPr>
        <p:txBody>
          <a:bodyPr lIns="0" tIns="0" rIns="0" bIns="0" anchor="ctr"/>
          <a:lstStyle/>
          <a:p>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46" name="직사각형 45">
            <a:extLst>
              <a:ext uri="{FF2B5EF4-FFF2-40B4-BE49-F238E27FC236}">
                <a16:creationId xmlns:a16="http://schemas.microsoft.com/office/drawing/2014/main" id="{742932FB-2281-41FD-A66B-4C2AACD738DB}"/>
              </a:ext>
            </a:extLst>
          </p:cNvPr>
          <p:cNvSpPr>
            <a:spLocks noGrp="1"/>
          </p:cNvSpPr>
          <p:nvPr/>
        </p:nvSpPr>
        <p:spPr>
          <a:xfrm>
            <a:off x="9296400" y="3333750"/>
            <a:ext cx="2286000" cy="685800"/>
          </a:xfrm>
          <a:prstGeom prst="rect">
            <a:avLst/>
          </a:prstGeom>
          <a:solidFill>
            <a:srgbClr val="EDF5F3"/>
          </a:solidFill>
          <a:ln w="9525">
            <a:solidFill>
              <a:srgbClr val="D7DEE2"/>
            </a:solidFill>
            <a:prstDash val="solid"/>
          </a:ln>
        </p:spPr>
      </p:sp>
      <p:sp>
        <p:nvSpPr>
          <p:cNvPr id="47" name="직사각형 46">
            <a:extLst>
              <a:ext uri="{FF2B5EF4-FFF2-40B4-BE49-F238E27FC236}">
                <a16:creationId xmlns:a16="http://schemas.microsoft.com/office/drawing/2014/main" id="{20107ED1-DABB-4CA5-A194-A7FAE92CC694}"/>
              </a:ext>
            </a:extLst>
          </p:cNvPr>
          <p:cNvSpPr>
            <a:spLocks noGrp="1"/>
          </p:cNvSpPr>
          <p:nvPr/>
        </p:nvSpPr>
        <p:spPr>
          <a:xfrm>
            <a:off x="9391650" y="3333750"/>
            <a:ext cx="2095500" cy="685800"/>
          </a:xfrm>
          <a:prstGeom prst="rect">
            <a:avLst/>
          </a:prstGeom>
          <a:noFill/>
          <a:ln w="0">
            <a:noFill/>
            <a:prstDash val="solid"/>
          </a:ln>
        </p:spPr>
        <p:txBody>
          <a:bodyPr lIns="0" tIns="0" rIns="0" bIns="0" anchor="ctr"/>
          <a:lstStyle/>
          <a:p>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48" name="직사각형 47">
            <a:extLst>
              <a:ext uri="{FF2B5EF4-FFF2-40B4-BE49-F238E27FC236}">
                <a16:creationId xmlns:a16="http://schemas.microsoft.com/office/drawing/2014/main" id="{817B6167-562C-4255-B86B-D71F7A7A6599}"/>
              </a:ext>
            </a:extLst>
          </p:cNvPr>
          <p:cNvSpPr>
            <a:spLocks noGrp="1"/>
          </p:cNvSpPr>
          <p:nvPr/>
        </p:nvSpPr>
        <p:spPr>
          <a:xfrm>
            <a:off x="609600" y="4019550"/>
            <a:ext cx="2171700" cy="685800"/>
          </a:xfrm>
          <a:prstGeom prst="rect">
            <a:avLst/>
          </a:prstGeom>
          <a:solidFill>
            <a:srgbClr val="FFFFFF"/>
          </a:solidFill>
          <a:ln w="9525">
            <a:solidFill>
              <a:srgbClr val="D7DEE2"/>
            </a:solidFill>
            <a:prstDash val="solid"/>
          </a:ln>
        </p:spPr>
      </p:sp>
      <p:sp>
        <p:nvSpPr>
          <p:cNvPr id="49" name="직사각형 48">
            <a:extLst>
              <a:ext uri="{FF2B5EF4-FFF2-40B4-BE49-F238E27FC236}">
                <a16:creationId xmlns:a16="http://schemas.microsoft.com/office/drawing/2014/main" id="{3A6CAFEB-881C-44D7-8E50-7E1E2805C1D5}"/>
              </a:ext>
            </a:extLst>
          </p:cNvPr>
          <p:cNvSpPr>
            <a:spLocks noGrp="1"/>
          </p:cNvSpPr>
          <p:nvPr/>
        </p:nvSpPr>
        <p:spPr>
          <a:xfrm>
            <a:off x="704850" y="4019550"/>
            <a:ext cx="1981200" cy="68580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미확인 조건 공개</a:t>
            </a:r>
          </a:p>
        </p:txBody>
      </p:sp>
      <p:sp>
        <p:nvSpPr>
          <p:cNvPr id="50" name="직사각형 49">
            <a:extLst>
              <a:ext uri="{FF2B5EF4-FFF2-40B4-BE49-F238E27FC236}">
                <a16:creationId xmlns:a16="http://schemas.microsoft.com/office/drawing/2014/main" id="{A1BAB38A-782C-4AAE-90B3-64D136B93EC1}"/>
              </a:ext>
            </a:extLst>
          </p:cNvPr>
          <p:cNvSpPr>
            <a:spLocks noGrp="1"/>
          </p:cNvSpPr>
          <p:nvPr/>
        </p:nvSpPr>
        <p:spPr>
          <a:xfrm>
            <a:off x="2781300" y="4019550"/>
            <a:ext cx="2171700" cy="685800"/>
          </a:xfrm>
          <a:prstGeom prst="rect">
            <a:avLst/>
          </a:prstGeom>
          <a:solidFill>
            <a:srgbClr val="FFFFFF"/>
          </a:solidFill>
          <a:ln w="9525">
            <a:solidFill>
              <a:srgbClr val="D7DEE2"/>
            </a:solidFill>
            <a:prstDash val="solid"/>
          </a:ln>
        </p:spPr>
      </p:sp>
      <p:sp>
        <p:nvSpPr>
          <p:cNvPr id="51" name="직사각형 50">
            <a:extLst>
              <a:ext uri="{FF2B5EF4-FFF2-40B4-BE49-F238E27FC236}">
                <a16:creationId xmlns:a16="http://schemas.microsoft.com/office/drawing/2014/main" id="{AD1C9F7D-2AE5-4F96-A280-653CCA7E1DD0}"/>
              </a:ext>
            </a:extLst>
          </p:cNvPr>
          <p:cNvSpPr>
            <a:spLocks noGrp="1"/>
          </p:cNvSpPr>
          <p:nvPr/>
        </p:nvSpPr>
        <p:spPr>
          <a:xfrm>
            <a:off x="2876550" y="4019550"/>
            <a:ext cx="1981200" cy="685800"/>
          </a:xfrm>
          <a:prstGeom prst="rect">
            <a:avLst/>
          </a:prstGeom>
          <a:noFill/>
          <a:ln w="0">
            <a:noFill/>
            <a:prstDash val="solid"/>
          </a:ln>
        </p:spPr>
        <p:txBody>
          <a:bodyPr lIns="0" tIns="0" rIns="0" bIns="0" anchor="ctr"/>
          <a:lstStyle/>
          <a:p>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52" name="직사각형 51">
            <a:extLst>
              <a:ext uri="{FF2B5EF4-FFF2-40B4-BE49-F238E27FC236}">
                <a16:creationId xmlns:a16="http://schemas.microsoft.com/office/drawing/2014/main" id="{470D88B5-2845-412C-8E1F-E4E8740EDDC8}"/>
              </a:ext>
            </a:extLst>
          </p:cNvPr>
          <p:cNvSpPr>
            <a:spLocks noGrp="1"/>
          </p:cNvSpPr>
          <p:nvPr/>
        </p:nvSpPr>
        <p:spPr>
          <a:xfrm>
            <a:off x="4953000" y="4019550"/>
            <a:ext cx="2171700" cy="685800"/>
          </a:xfrm>
          <a:prstGeom prst="rect">
            <a:avLst/>
          </a:prstGeom>
          <a:solidFill>
            <a:srgbClr val="FFFFFF"/>
          </a:solidFill>
          <a:ln w="9525">
            <a:solidFill>
              <a:srgbClr val="D7DEE2"/>
            </a:solidFill>
            <a:prstDash val="solid"/>
          </a:ln>
        </p:spPr>
      </p:sp>
      <p:sp>
        <p:nvSpPr>
          <p:cNvPr id="53" name="직사각형 52">
            <a:extLst>
              <a:ext uri="{FF2B5EF4-FFF2-40B4-BE49-F238E27FC236}">
                <a16:creationId xmlns:a16="http://schemas.microsoft.com/office/drawing/2014/main" id="{8751D373-1351-4378-841E-6B0DD3CADF1A}"/>
              </a:ext>
            </a:extLst>
          </p:cNvPr>
          <p:cNvSpPr>
            <a:spLocks noGrp="1"/>
          </p:cNvSpPr>
          <p:nvPr/>
        </p:nvSpPr>
        <p:spPr>
          <a:xfrm>
            <a:off x="5048250" y="4019550"/>
            <a:ext cx="1981200" cy="685800"/>
          </a:xfrm>
          <a:prstGeom prst="rect">
            <a:avLst/>
          </a:prstGeom>
          <a:noFill/>
          <a:ln w="0">
            <a:noFill/>
            <a:prstDash val="solid"/>
          </a:ln>
        </p:spPr>
        <p:txBody>
          <a:bodyPr lIns="0" tIns="0" rIns="0" bIns="0" anchor="ctr"/>
          <a:lstStyle/>
          <a:p>
            <a:pPr algn="ctr">
              <a:defRPr sz="1950" b="0">
                <a:solidFill>
                  <a:srgbClr val="C62828"/>
                </a:solidFill>
                <a:latin typeface="Noto Sans KR"/>
                <a:ea typeface="Noto Sans KR"/>
                <a:cs typeface="Noto Sans KR"/>
              </a:defRPr>
            </a:pPr>
            <a:r>
              <a:rPr sz="1950" b="0">
                <a:solidFill>
                  <a:srgbClr val="C62828"/>
                </a:solidFill>
                <a:latin typeface="Noto Sans KR"/>
                <a:ea typeface="Noto Sans KR"/>
                <a:cs typeface="Noto Sans KR"/>
              </a:rPr>
              <a:t>×</a:t>
            </a:r>
          </a:p>
        </p:txBody>
      </p:sp>
      <p:sp>
        <p:nvSpPr>
          <p:cNvPr id="54" name="직사각형 53">
            <a:extLst>
              <a:ext uri="{FF2B5EF4-FFF2-40B4-BE49-F238E27FC236}">
                <a16:creationId xmlns:a16="http://schemas.microsoft.com/office/drawing/2014/main" id="{2DAFF4F2-752E-43AD-87AD-20183255CF13}"/>
              </a:ext>
            </a:extLst>
          </p:cNvPr>
          <p:cNvSpPr>
            <a:spLocks noGrp="1"/>
          </p:cNvSpPr>
          <p:nvPr/>
        </p:nvSpPr>
        <p:spPr>
          <a:xfrm>
            <a:off x="7124700" y="4019550"/>
            <a:ext cx="2171700" cy="685800"/>
          </a:xfrm>
          <a:prstGeom prst="rect">
            <a:avLst/>
          </a:prstGeom>
          <a:solidFill>
            <a:srgbClr val="FFFFFF"/>
          </a:solidFill>
          <a:ln w="9525">
            <a:solidFill>
              <a:srgbClr val="D7DEE2"/>
            </a:solidFill>
            <a:prstDash val="solid"/>
          </a:ln>
        </p:spPr>
      </p:sp>
      <p:sp>
        <p:nvSpPr>
          <p:cNvPr id="55" name="직사각형 54">
            <a:extLst>
              <a:ext uri="{FF2B5EF4-FFF2-40B4-BE49-F238E27FC236}">
                <a16:creationId xmlns:a16="http://schemas.microsoft.com/office/drawing/2014/main" id="{FFF5A678-9D33-4531-B9FF-FE0EC8A2E77F}"/>
              </a:ext>
            </a:extLst>
          </p:cNvPr>
          <p:cNvSpPr>
            <a:spLocks noGrp="1"/>
          </p:cNvSpPr>
          <p:nvPr/>
        </p:nvSpPr>
        <p:spPr>
          <a:xfrm>
            <a:off x="7219950" y="4019550"/>
            <a:ext cx="1981200" cy="685800"/>
          </a:xfrm>
          <a:prstGeom prst="rect">
            <a:avLst/>
          </a:prstGeom>
          <a:noFill/>
          <a:ln w="0">
            <a:noFill/>
            <a:prstDash val="solid"/>
          </a:ln>
        </p:spPr>
        <p:txBody>
          <a:bodyPr lIns="0" tIns="0" rIns="0" bIns="0" anchor="ctr"/>
          <a:lstStyle/>
          <a:p>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56" name="직사각형 55">
            <a:extLst>
              <a:ext uri="{FF2B5EF4-FFF2-40B4-BE49-F238E27FC236}">
                <a16:creationId xmlns:a16="http://schemas.microsoft.com/office/drawing/2014/main" id="{F447A41E-C2FB-4A14-9BD7-C9214AB10C55}"/>
              </a:ext>
            </a:extLst>
          </p:cNvPr>
          <p:cNvSpPr>
            <a:spLocks noGrp="1"/>
          </p:cNvSpPr>
          <p:nvPr/>
        </p:nvSpPr>
        <p:spPr>
          <a:xfrm>
            <a:off x="9296400" y="4019550"/>
            <a:ext cx="2286000" cy="685800"/>
          </a:xfrm>
          <a:prstGeom prst="rect">
            <a:avLst/>
          </a:prstGeom>
          <a:solidFill>
            <a:srgbClr val="EDF5F3"/>
          </a:solidFill>
          <a:ln w="9525">
            <a:solidFill>
              <a:srgbClr val="D7DEE2"/>
            </a:solidFill>
            <a:prstDash val="solid"/>
          </a:ln>
        </p:spPr>
      </p:sp>
      <p:sp>
        <p:nvSpPr>
          <p:cNvPr id="57" name="직사각형 56">
            <a:extLst>
              <a:ext uri="{FF2B5EF4-FFF2-40B4-BE49-F238E27FC236}">
                <a16:creationId xmlns:a16="http://schemas.microsoft.com/office/drawing/2014/main" id="{4386981D-B9EF-4661-AD70-CF314C77FD29}"/>
              </a:ext>
            </a:extLst>
          </p:cNvPr>
          <p:cNvSpPr>
            <a:spLocks noGrp="1"/>
          </p:cNvSpPr>
          <p:nvPr/>
        </p:nvSpPr>
        <p:spPr>
          <a:xfrm>
            <a:off x="9391650" y="4019550"/>
            <a:ext cx="2095500" cy="685800"/>
          </a:xfrm>
          <a:prstGeom prst="rect">
            <a:avLst/>
          </a:prstGeom>
          <a:noFill/>
          <a:ln w="0">
            <a:noFill/>
            <a:prstDash val="solid"/>
          </a:ln>
        </p:spPr>
        <p:txBody>
          <a:bodyPr lIns="0" tIns="0" rIns="0" bIns="0" anchor="ctr"/>
          <a:lstStyle/>
          <a:p>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58" name="직사각형 57">
            <a:extLst>
              <a:ext uri="{FF2B5EF4-FFF2-40B4-BE49-F238E27FC236}">
                <a16:creationId xmlns:a16="http://schemas.microsoft.com/office/drawing/2014/main" id="{5C1BE27B-4FC3-40FA-869C-5E589B19FA63}"/>
              </a:ext>
            </a:extLst>
          </p:cNvPr>
          <p:cNvSpPr>
            <a:spLocks noGrp="1"/>
          </p:cNvSpPr>
          <p:nvPr/>
        </p:nvSpPr>
        <p:spPr>
          <a:xfrm>
            <a:off x="609600" y="4705350"/>
            <a:ext cx="2171700" cy="685800"/>
          </a:xfrm>
          <a:prstGeom prst="rect">
            <a:avLst/>
          </a:prstGeom>
          <a:solidFill>
            <a:srgbClr val="FFFFFF"/>
          </a:solidFill>
          <a:ln w="9525">
            <a:solidFill>
              <a:srgbClr val="D7DEE2"/>
            </a:solidFill>
            <a:prstDash val="solid"/>
          </a:ln>
        </p:spPr>
      </p:sp>
      <p:sp>
        <p:nvSpPr>
          <p:cNvPr id="59" name="직사각형 58">
            <a:extLst>
              <a:ext uri="{FF2B5EF4-FFF2-40B4-BE49-F238E27FC236}">
                <a16:creationId xmlns:a16="http://schemas.microsoft.com/office/drawing/2014/main" id="{D68EDC9A-D486-4305-8BEF-FF9258A41F19}"/>
              </a:ext>
            </a:extLst>
          </p:cNvPr>
          <p:cNvSpPr>
            <a:spLocks noGrp="1"/>
          </p:cNvSpPr>
          <p:nvPr/>
        </p:nvSpPr>
        <p:spPr>
          <a:xfrm>
            <a:off x="704850" y="4705350"/>
            <a:ext cx="1981200" cy="68580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담당자·다음 행동</a:t>
            </a:r>
          </a:p>
        </p:txBody>
      </p:sp>
      <p:sp>
        <p:nvSpPr>
          <p:cNvPr id="60" name="직사각형 59">
            <a:extLst>
              <a:ext uri="{FF2B5EF4-FFF2-40B4-BE49-F238E27FC236}">
                <a16:creationId xmlns:a16="http://schemas.microsoft.com/office/drawing/2014/main" id="{451425EC-5344-4D35-9CD9-FFD48B1593B5}"/>
              </a:ext>
            </a:extLst>
          </p:cNvPr>
          <p:cNvSpPr>
            <a:spLocks noGrp="1"/>
          </p:cNvSpPr>
          <p:nvPr/>
        </p:nvSpPr>
        <p:spPr>
          <a:xfrm>
            <a:off x="2781300" y="4705350"/>
            <a:ext cx="2171700" cy="685800"/>
          </a:xfrm>
          <a:prstGeom prst="rect">
            <a:avLst/>
          </a:prstGeom>
          <a:solidFill>
            <a:srgbClr val="FFFFFF"/>
          </a:solidFill>
          <a:ln w="9525">
            <a:solidFill>
              <a:srgbClr val="D7DEE2"/>
            </a:solidFill>
            <a:prstDash val="solid"/>
          </a:ln>
        </p:spPr>
      </p:sp>
      <p:sp>
        <p:nvSpPr>
          <p:cNvPr id="61" name="직사각형 60">
            <a:extLst>
              <a:ext uri="{FF2B5EF4-FFF2-40B4-BE49-F238E27FC236}">
                <a16:creationId xmlns:a16="http://schemas.microsoft.com/office/drawing/2014/main" id="{58189B84-E8BD-49B4-A915-4532CE7A567B}"/>
              </a:ext>
            </a:extLst>
          </p:cNvPr>
          <p:cNvSpPr>
            <a:spLocks noGrp="1"/>
          </p:cNvSpPr>
          <p:nvPr/>
        </p:nvSpPr>
        <p:spPr>
          <a:xfrm>
            <a:off x="2876550" y="4705350"/>
            <a:ext cx="1981200" cy="685800"/>
          </a:xfrm>
          <a:prstGeom prst="rect">
            <a:avLst/>
          </a:prstGeom>
          <a:noFill/>
          <a:ln w="0">
            <a:noFill/>
            <a:prstDash val="solid"/>
          </a:ln>
        </p:spPr>
        <p:txBody>
          <a:bodyPr lIns="0" tIns="0" rIns="0" bIns="0" anchor="ctr"/>
          <a:lstStyle/>
          <a:p>
            <a:pPr algn="ctr">
              <a:defRPr sz="1950" b="0">
                <a:solidFill>
                  <a:srgbClr val="C62828"/>
                </a:solidFill>
                <a:latin typeface="Noto Sans KR"/>
                <a:ea typeface="Noto Sans KR"/>
                <a:cs typeface="Noto Sans KR"/>
              </a:defRPr>
            </a:pPr>
            <a:r>
              <a:rPr sz="1950" b="0">
                <a:solidFill>
                  <a:srgbClr val="C62828"/>
                </a:solidFill>
                <a:latin typeface="Noto Sans KR"/>
                <a:ea typeface="Noto Sans KR"/>
                <a:cs typeface="Noto Sans KR"/>
              </a:rPr>
              <a:t>×</a:t>
            </a:r>
          </a:p>
        </p:txBody>
      </p:sp>
      <p:sp>
        <p:nvSpPr>
          <p:cNvPr id="62" name="직사각형 61">
            <a:extLst>
              <a:ext uri="{FF2B5EF4-FFF2-40B4-BE49-F238E27FC236}">
                <a16:creationId xmlns:a16="http://schemas.microsoft.com/office/drawing/2014/main" id="{5D72C654-869D-48DC-B00E-16A9B01CF2D5}"/>
              </a:ext>
            </a:extLst>
          </p:cNvPr>
          <p:cNvSpPr>
            <a:spLocks noGrp="1"/>
          </p:cNvSpPr>
          <p:nvPr/>
        </p:nvSpPr>
        <p:spPr>
          <a:xfrm>
            <a:off x="4953000" y="4705350"/>
            <a:ext cx="2171700" cy="685800"/>
          </a:xfrm>
          <a:prstGeom prst="rect">
            <a:avLst/>
          </a:prstGeom>
          <a:solidFill>
            <a:srgbClr val="FFFFFF"/>
          </a:solidFill>
          <a:ln w="9525">
            <a:solidFill>
              <a:srgbClr val="D7DEE2"/>
            </a:solidFill>
            <a:prstDash val="solid"/>
          </a:ln>
        </p:spPr>
      </p:sp>
      <p:sp>
        <p:nvSpPr>
          <p:cNvPr id="63" name="직사각형 62">
            <a:extLst>
              <a:ext uri="{FF2B5EF4-FFF2-40B4-BE49-F238E27FC236}">
                <a16:creationId xmlns:a16="http://schemas.microsoft.com/office/drawing/2014/main" id="{666FCB45-F947-4FCC-A7BD-DFC0CF311E71}"/>
              </a:ext>
            </a:extLst>
          </p:cNvPr>
          <p:cNvSpPr>
            <a:spLocks noGrp="1"/>
          </p:cNvSpPr>
          <p:nvPr/>
        </p:nvSpPr>
        <p:spPr>
          <a:xfrm>
            <a:off x="5048250" y="4705350"/>
            <a:ext cx="1981200" cy="685800"/>
          </a:xfrm>
          <a:prstGeom prst="rect">
            <a:avLst/>
          </a:prstGeom>
          <a:noFill/>
          <a:ln w="0">
            <a:noFill/>
            <a:prstDash val="solid"/>
          </a:ln>
        </p:spPr>
        <p:txBody>
          <a:bodyPr lIns="0" tIns="0" rIns="0" bIns="0" anchor="ctr"/>
          <a:lstStyle/>
          <a:p>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64" name="직사각형 63">
            <a:extLst>
              <a:ext uri="{FF2B5EF4-FFF2-40B4-BE49-F238E27FC236}">
                <a16:creationId xmlns:a16="http://schemas.microsoft.com/office/drawing/2014/main" id="{E42DF5A3-7331-4DA2-8466-C53C328B8617}"/>
              </a:ext>
            </a:extLst>
          </p:cNvPr>
          <p:cNvSpPr>
            <a:spLocks noGrp="1"/>
          </p:cNvSpPr>
          <p:nvPr/>
        </p:nvSpPr>
        <p:spPr>
          <a:xfrm>
            <a:off x="7124700" y="4705350"/>
            <a:ext cx="2171700" cy="685800"/>
          </a:xfrm>
          <a:prstGeom prst="rect">
            <a:avLst/>
          </a:prstGeom>
          <a:solidFill>
            <a:srgbClr val="FFFFFF"/>
          </a:solidFill>
          <a:ln w="9525">
            <a:solidFill>
              <a:srgbClr val="D7DEE2"/>
            </a:solidFill>
            <a:prstDash val="solid"/>
          </a:ln>
        </p:spPr>
      </p:sp>
      <p:sp>
        <p:nvSpPr>
          <p:cNvPr id="65" name="직사각형 64">
            <a:extLst>
              <a:ext uri="{FF2B5EF4-FFF2-40B4-BE49-F238E27FC236}">
                <a16:creationId xmlns:a16="http://schemas.microsoft.com/office/drawing/2014/main" id="{1353A226-D91F-4539-83D4-DB32CCDDD0ED}"/>
              </a:ext>
            </a:extLst>
          </p:cNvPr>
          <p:cNvSpPr>
            <a:spLocks noGrp="1"/>
          </p:cNvSpPr>
          <p:nvPr/>
        </p:nvSpPr>
        <p:spPr>
          <a:xfrm>
            <a:off x="7219950" y="4705350"/>
            <a:ext cx="1981200" cy="685800"/>
          </a:xfrm>
          <a:prstGeom prst="rect">
            <a:avLst/>
          </a:prstGeom>
          <a:noFill/>
          <a:ln w="0">
            <a:noFill/>
            <a:prstDash val="solid"/>
          </a:ln>
        </p:spPr>
        <p:txBody>
          <a:bodyPr lIns="0" tIns="0" rIns="0" bIns="0" anchor="ctr"/>
          <a:lstStyle/>
          <a:p>
            <a:pPr algn="ctr">
              <a:defRPr sz="1950" b="0">
                <a:solidFill>
                  <a:srgbClr val="007A53"/>
                </a:solidFill>
                <a:latin typeface="Noto Sans KR"/>
                <a:ea typeface="Noto Sans KR"/>
                <a:cs typeface="Noto Sans KR"/>
              </a:defRPr>
            </a:pPr>
            <a:r>
              <a:rPr sz="1950" b="0">
                <a:solidFill>
                  <a:srgbClr val="007A53"/>
                </a:solidFill>
                <a:latin typeface="Noto Sans KR"/>
                <a:ea typeface="Noto Sans KR"/>
                <a:cs typeface="Noto Sans KR"/>
              </a:rPr>
              <a:t>●</a:t>
            </a:r>
          </a:p>
        </p:txBody>
      </p:sp>
      <p:sp>
        <p:nvSpPr>
          <p:cNvPr id="66" name="직사각형 65">
            <a:extLst>
              <a:ext uri="{FF2B5EF4-FFF2-40B4-BE49-F238E27FC236}">
                <a16:creationId xmlns:a16="http://schemas.microsoft.com/office/drawing/2014/main" id="{AEA98EF9-0B64-45EE-8F45-9579D7DF9E60}"/>
              </a:ext>
            </a:extLst>
          </p:cNvPr>
          <p:cNvSpPr>
            <a:spLocks noGrp="1"/>
          </p:cNvSpPr>
          <p:nvPr/>
        </p:nvSpPr>
        <p:spPr>
          <a:xfrm>
            <a:off x="9296400" y="4705350"/>
            <a:ext cx="2286000" cy="685800"/>
          </a:xfrm>
          <a:prstGeom prst="rect">
            <a:avLst/>
          </a:prstGeom>
          <a:solidFill>
            <a:srgbClr val="EDF5F3"/>
          </a:solidFill>
          <a:ln w="9525">
            <a:solidFill>
              <a:srgbClr val="D7DEE2"/>
            </a:solidFill>
            <a:prstDash val="solid"/>
          </a:ln>
        </p:spPr>
      </p:sp>
      <p:sp>
        <p:nvSpPr>
          <p:cNvPr id="67" name="직사각형 66">
            <a:extLst>
              <a:ext uri="{FF2B5EF4-FFF2-40B4-BE49-F238E27FC236}">
                <a16:creationId xmlns:a16="http://schemas.microsoft.com/office/drawing/2014/main" id="{A842A85B-4A4D-4619-BBB2-8B1EF33886A2}"/>
              </a:ext>
            </a:extLst>
          </p:cNvPr>
          <p:cNvSpPr>
            <a:spLocks noGrp="1"/>
          </p:cNvSpPr>
          <p:nvPr/>
        </p:nvSpPr>
        <p:spPr>
          <a:xfrm>
            <a:off x="9391650" y="4705350"/>
            <a:ext cx="2095500" cy="685800"/>
          </a:xfrm>
          <a:prstGeom prst="rect">
            <a:avLst/>
          </a:prstGeom>
          <a:noFill/>
          <a:ln w="0">
            <a:noFill/>
            <a:prstDash val="solid"/>
          </a:ln>
        </p:spPr>
        <p:txBody>
          <a:bodyPr lIns="0" tIns="0" rIns="0" bIns="0" anchor="ctr"/>
          <a:lstStyle/>
          <a:p>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68" name="직사각형 67">
            <a:extLst>
              <a:ext uri="{FF2B5EF4-FFF2-40B4-BE49-F238E27FC236}">
                <a16:creationId xmlns:a16="http://schemas.microsoft.com/office/drawing/2014/main" id="{A6730DBB-BE93-4D74-B827-23F39B0DB4B5}"/>
              </a:ext>
            </a:extLst>
          </p:cNvPr>
          <p:cNvSpPr>
            <a:spLocks noGrp="1"/>
          </p:cNvSpPr>
          <p:nvPr/>
        </p:nvSpPr>
        <p:spPr>
          <a:xfrm>
            <a:off x="2781300" y="5667375"/>
            <a:ext cx="1809750" cy="285750"/>
          </a:xfrm>
          <a:prstGeom prst="rect">
            <a:avLst/>
          </a:prstGeom>
          <a:noFill/>
          <a:ln w="0">
            <a:noFill/>
            <a:prstDash val="solid"/>
          </a:ln>
        </p:spPr>
        <p:txBody>
          <a:bodyPr lIns="0" tIns="0" rIns="0" bIns="0" anchor="ctr"/>
          <a:lstStyle/>
          <a:p>
            <a:pPr algn="ctr">
              <a:defRPr sz="975" b="1">
                <a:solidFill>
                  <a:srgbClr val="5F6B73"/>
                </a:solidFill>
                <a:latin typeface="Noto Sans KR"/>
                <a:ea typeface="Noto Sans KR"/>
                <a:cs typeface="Noto Sans KR"/>
              </a:defRPr>
            </a:pPr>
            <a:r>
              <a:rPr sz="975" b="1">
                <a:solidFill>
                  <a:srgbClr val="5F6B73"/>
                </a:solidFill>
                <a:latin typeface="Noto Sans KR"/>
                <a:ea typeface="Noto Sans KR"/>
                <a:cs typeface="Noto Sans KR"/>
              </a:rPr>
              <a:t>정확성</a:t>
            </a:r>
          </a:p>
        </p:txBody>
      </p:sp>
      <p:sp>
        <p:nvSpPr>
          <p:cNvPr id="69" name="직사각형 68">
            <a:extLst>
              <a:ext uri="{FF2B5EF4-FFF2-40B4-BE49-F238E27FC236}">
                <a16:creationId xmlns:a16="http://schemas.microsoft.com/office/drawing/2014/main" id="{B3BFDE8D-9227-4DF3-8EE5-F4E3ADE8098B}"/>
              </a:ext>
            </a:extLst>
          </p:cNvPr>
          <p:cNvSpPr>
            <a:spLocks noGrp="1"/>
          </p:cNvSpPr>
          <p:nvPr/>
        </p:nvSpPr>
        <p:spPr>
          <a:xfrm>
            <a:off x="4953000" y="5667375"/>
            <a:ext cx="1809750" cy="285750"/>
          </a:xfrm>
          <a:prstGeom prst="rect">
            <a:avLst/>
          </a:prstGeom>
          <a:noFill/>
          <a:ln w="0">
            <a:noFill/>
            <a:prstDash val="solid"/>
          </a:ln>
        </p:spPr>
        <p:txBody>
          <a:bodyPr lIns="0" tIns="0" rIns="0" bIns="0" anchor="ctr"/>
          <a:lstStyle/>
          <a:p>
            <a:pPr algn="ctr">
              <a:defRPr sz="975" b="1">
                <a:solidFill>
                  <a:srgbClr val="5F6B73"/>
                </a:solidFill>
                <a:latin typeface="Noto Sans KR"/>
                <a:ea typeface="Noto Sans KR"/>
                <a:cs typeface="Noto Sans KR"/>
              </a:defRPr>
            </a:pPr>
            <a:r>
              <a:rPr sz="975" b="1">
                <a:solidFill>
                  <a:srgbClr val="5F6B73"/>
                </a:solidFill>
                <a:latin typeface="Noto Sans KR"/>
                <a:ea typeface="Noto Sans KR"/>
                <a:cs typeface="Noto Sans KR"/>
              </a:rPr>
              <a:t>+ 속도</a:t>
            </a:r>
          </a:p>
        </p:txBody>
      </p:sp>
      <p:sp>
        <p:nvSpPr>
          <p:cNvPr id="70" name="직사각형 69">
            <a:extLst>
              <a:ext uri="{FF2B5EF4-FFF2-40B4-BE49-F238E27FC236}">
                <a16:creationId xmlns:a16="http://schemas.microsoft.com/office/drawing/2014/main" id="{5CF91D8C-4FF2-47AB-A312-A384C5869DE0}"/>
              </a:ext>
            </a:extLst>
          </p:cNvPr>
          <p:cNvSpPr>
            <a:spLocks noGrp="1"/>
          </p:cNvSpPr>
          <p:nvPr/>
        </p:nvSpPr>
        <p:spPr>
          <a:xfrm>
            <a:off x="7124700" y="5667375"/>
            <a:ext cx="1809750" cy="285750"/>
          </a:xfrm>
          <a:prstGeom prst="rect">
            <a:avLst/>
          </a:prstGeom>
          <a:noFill/>
          <a:ln w="0">
            <a:noFill/>
            <a:prstDash val="solid"/>
          </a:ln>
        </p:spPr>
        <p:txBody>
          <a:bodyPr lIns="0" tIns="0" rIns="0" bIns="0" anchor="ctr"/>
          <a:lstStyle/>
          <a:p>
            <a:pPr algn="ctr">
              <a:defRPr sz="975" b="1">
                <a:solidFill>
                  <a:srgbClr val="5F6B73"/>
                </a:solidFill>
                <a:latin typeface="Noto Sans KR"/>
                <a:ea typeface="Noto Sans KR"/>
                <a:cs typeface="Noto Sans KR"/>
              </a:defRPr>
            </a:pPr>
            <a:r>
              <a:rPr sz="975" b="1">
                <a:solidFill>
                  <a:srgbClr val="5F6B73"/>
                </a:solidFill>
                <a:latin typeface="Noto Sans KR"/>
                <a:ea typeface="Noto Sans KR"/>
                <a:cs typeface="Noto Sans KR"/>
              </a:rPr>
              <a:t>+ 실행성</a:t>
            </a:r>
          </a:p>
        </p:txBody>
      </p:sp>
      <p:sp>
        <p:nvSpPr>
          <p:cNvPr id="71" name="직사각형 70">
            <a:extLst>
              <a:ext uri="{FF2B5EF4-FFF2-40B4-BE49-F238E27FC236}">
                <a16:creationId xmlns:a16="http://schemas.microsoft.com/office/drawing/2014/main" id="{C0C72803-6B93-439C-894F-58D63E7F78B3}"/>
              </a:ext>
            </a:extLst>
          </p:cNvPr>
          <p:cNvSpPr>
            <a:spLocks noGrp="1"/>
          </p:cNvSpPr>
          <p:nvPr/>
        </p:nvSpPr>
        <p:spPr>
          <a:xfrm>
            <a:off x="9429750" y="5667375"/>
            <a:ext cx="2000250" cy="285750"/>
          </a:xfrm>
          <a:prstGeom prst="rect">
            <a:avLst/>
          </a:prstGeom>
          <a:noFill/>
          <a:ln w="0">
            <a:noFill/>
            <a:prstDash val="solid"/>
          </a:ln>
        </p:spPr>
        <p:txBody>
          <a:bodyPr lIns="0" tIns="0" rIns="0" bIns="0" anchor="ctr"/>
          <a:lstStyle/>
          <a:p>
            <a:pPr algn="ctr">
              <a:defRPr sz="1125" b="1">
                <a:solidFill>
                  <a:srgbClr val="00A58A"/>
                </a:solidFill>
                <a:latin typeface="Noto Sans KR"/>
                <a:ea typeface="Noto Sans KR"/>
                <a:cs typeface="Noto Sans KR"/>
              </a:defRPr>
            </a:pPr>
            <a:r>
              <a:rPr sz="1125" b="1">
                <a:solidFill>
                  <a:srgbClr val="00A58A"/>
                </a:solidFill>
                <a:latin typeface="Noto Sans KR"/>
                <a:ea typeface="Noto Sans KR"/>
                <a:cs typeface="Noto Sans KR"/>
              </a:rPr>
              <a:t>= 한 흐름</a:t>
            </a:r>
          </a:p>
        </p:txBody>
      </p:sp>
    </p:spTree>
    <p:extLst>
      <p:ext uri="{BB962C8B-B14F-4D97-AF65-F5344CB8AC3E}">
        <p14:creationId xmlns:p14="http://schemas.microsoft.com/office/powerpoint/2010/main" val="343561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직사각형 36">
            <a:extLst>
              <a:ext uri="{FF2B5EF4-FFF2-40B4-BE49-F238E27FC236}">
                <a16:creationId xmlns:a16="http://schemas.microsoft.com/office/drawing/2014/main" id="{C7509417-6D20-417D-A91C-50C9DF03A8D6}"/>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CUSTOMERS</a:t>
            </a:r>
          </a:p>
        </p:txBody>
      </p:sp>
      <p:sp>
        <p:nvSpPr>
          <p:cNvPr id="2" name="slide-4-title">
            <a:extLst>
              <a:ext uri="{FF2B5EF4-FFF2-40B4-BE49-F238E27FC236}">
                <a16:creationId xmlns:a16="http://schemas.microsoft.com/office/drawing/2014/main" id="{5B53610D-165E-4808-9490-7C722ED7AFAB}"/>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550" b="1">
                <a:solidFill>
                  <a:srgbClr val="051C2C"/>
                </a:solidFill>
                <a:latin typeface="Noto Sans KR"/>
                <a:ea typeface="Noto Sans KR"/>
                <a:cs typeface="Noto Sans KR"/>
              </a:defRPr>
            </a:pPr>
            <a:r>
              <a:rPr sz="2550" b="1" dirty="0" err="1">
                <a:solidFill>
                  <a:srgbClr val="051C2C"/>
                </a:solidFill>
                <a:latin typeface="Noto Sans KR"/>
                <a:ea typeface="Noto Sans KR"/>
                <a:cs typeface="Noto Sans KR"/>
              </a:rPr>
              <a:t>검색보다</a:t>
            </a:r>
            <a:r>
              <a:rPr sz="2550" b="1" dirty="0">
                <a:solidFill>
                  <a:srgbClr val="051C2C"/>
                </a:solidFill>
                <a:latin typeface="Noto Sans KR"/>
                <a:ea typeface="Noto Sans KR"/>
                <a:cs typeface="Noto Sans KR"/>
              </a:rPr>
              <a:t> </a:t>
            </a:r>
            <a:r>
              <a:rPr sz="2550" b="1" dirty="0" err="1">
                <a:solidFill>
                  <a:srgbClr val="051C2C"/>
                </a:solidFill>
                <a:latin typeface="Noto Sans KR"/>
                <a:ea typeface="Noto Sans KR"/>
                <a:cs typeface="Noto Sans KR"/>
              </a:rPr>
              <a:t>다음</a:t>
            </a:r>
            <a:r>
              <a:rPr sz="2550" b="1" dirty="0">
                <a:solidFill>
                  <a:srgbClr val="051C2C"/>
                </a:solidFill>
                <a:latin typeface="Noto Sans KR"/>
                <a:ea typeface="Noto Sans KR"/>
                <a:cs typeface="Noto Sans KR"/>
              </a:rPr>
              <a:t> </a:t>
            </a:r>
            <a:r>
              <a:rPr sz="2550" b="1" dirty="0" err="1">
                <a:solidFill>
                  <a:srgbClr val="051C2C"/>
                </a:solidFill>
                <a:latin typeface="Noto Sans KR"/>
                <a:ea typeface="Noto Sans KR"/>
                <a:cs typeface="Noto Sans KR"/>
              </a:rPr>
              <a:t>결정을</a:t>
            </a:r>
            <a:r>
              <a:rPr sz="2550" b="1" dirty="0">
                <a:solidFill>
                  <a:srgbClr val="051C2C"/>
                </a:solidFill>
                <a:latin typeface="Noto Sans KR"/>
                <a:ea typeface="Noto Sans KR"/>
                <a:cs typeface="Noto Sans KR"/>
              </a:rPr>
              <a:t> </a:t>
            </a:r>
            <a:r>
              <a:rPr sz="2550" b="1" dirty="0" err="1">
                <a:solidFill>
                  <a:srgbClr val="051C2C"/>
                </a:solidFill>
                <a:latin typeface="Noto Sans KR"/>
                <a:ea typeface="Noto Sans KR"/>
                <a:cs typeface="Noto Sans KR"/>
              </a:rPr>
              <a:t>내려야</a:t>
            </a:r>
            <a:r>
              <a:rPr sz="2550" b="1" dirty="0">
                <a:solidFill>
                  <a:srgbClr val="051C2C"/>
                </a:solidFill>
                <a:latin typeface="Noto Sans KR"/>
                <a:ea typeface="Noto Sans KR"/>
                <a:cs typeface="Noto Sans KR"/>
              </a:rPr>
              <a:t> </a:t>
            </a:r>
            <a:r>
              <a:rPr sz="2550" b="1" dirty="0" err="1">
                <a:solidFill>
                  <a:srgbClr val="051C2C"/>
                </a:solidFill>
                <a:latin typeface="Noto Sans KR"/>
                <a:ea typeface="Noto Sans KR"/>
                <a:cs typeface="Noto Sans KR"/>
              </a:rPr>
              <a:t>하는</a:t>
            </a:r>
            <a:r>
              <a:rPr sz="2550" b="1" dirty="0">
                <a:solidFill>
                  <a:srgbClr val="051C2C"/>
                </a:solidFill>
                <a:latin typeface="Noto Sans KR"/>
                <a:ea typeface="Noto Sans KR"/>
                <a:cs typeface="Noto Sans KR"/>
              </a:rPr>
              <a:t>  </a:t>
            </a:r>
            <a:r>
              <a:rPr sz="2550" b="1" dirty="0" err="1">
                <a:solidFill>
                  <a:srgbClr val="051C2C"/>
                </a:solidFill>
                <a:latin typeface="Noto Sans KR"/>
                <a:ea typeface="Noto Sans KR"/>
                <a:cs typeface="Noto Sans KR"/>
              </a:rPr>
              <a:t>고객이</a:t>
            </a:r>
            <a:r>
              <a:rPr sz="2550" b="1" dirty="0">
                <a:solidFill>
                  <a:srgbClr val="051C2C"/>
                </a:solidFill>
                <a:latin typeface="Noto Sans KR"/>
                <a:ea typeface="Noto Sans KR"/>
                <a:cs typeface="Noto Sans KR"/>
              </a:rPr>
              <a:t> </a:t>
            </a:r>
            <a:r>
              <a:rPr sz="2550" b="1" dirty="0" err="1">
                <a:solidFill>
                  <a:srgbClr val="051C2C"/>
                </a:solidFill>
                <a:latin typeface="Noto Sans KR"/>
                <a:ea typeface="Noto Sans KR"/>
                <a:cs typeface="Noto Sans KR"/>
              </a:rPr>
              <a:t>먼저</a:t>
            </a:r>
            <a:r>
              <a:rPr sz="2550" b="1" dirty="0">
                <a:solidFill>
                  <a:srgbClr val="051C2C"/>
                </a:solidFill>
                <a:latin typeface="Noto Sans KR"/>
                <a:ea typeface="Noto Sans KR"/>
                <a:cs typeface="Noto Sans KR"/>
              </a:rPr>
              <a:t> </a:t>
            </a:r>
            <a:r>
              <a:rPr sz="2550" b="1" dirty="0" err="1">
                <a:solidFill>
                  <a:srgbClr val="051C2C"/>
                </a:solidFill>
                <a:latin typeface="Noto Sans KR"/>
                <a:ea typeface="Noto Sans KR"/>
                <a:cs typeface="Noto Sans KR"/>
              </a:rPr>
              <a:t>씁니다</a:t>
            </a:r>
            <a:endParaRPr sz="2550" b="1" dirty="0">
              <a:solidFill>
                <a:srgbClr val="051C2C"/>
              </a:solidFill>
              <a:latin typeface="Noto Sans KR"/>
              <a:ea typeface="Noto Sans KR"/>
              <a:cs typeface="Noto Sans KR"/>
            </a:endParaRPr>
          </a:p>
        </p:txBody>
      </p:sp>
      <p:sp>
        <p:nvSpPr>
          <p:cNvPr id="3" name="직사각형 2">
            <a:extLst>
              <a:ext uri="{FF2B5EF4-FFF2-40B4-BE49-F238E27FC236}">
                <a16:creationId xmlns:a16="http://schemas.microsoft.com/office/drawing/2014/main" id="{88646677-B503-4149-A944-960269925F41}"/>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1B6CBC72-87CA-4793-B940-5E6C1230638D}"/>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848E0DD9-2255-48F2-BC79-0207ADBD9496}"/>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621CBBA3-0A3C-47A1-AE88-2F1566BBA23B}"/>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프로젝트 사용자 정의</a:t>
            </a:r>
          </a:p>
        </p:txBody>
      </p:sp>
      <p:sp>
        <p:nvSpPr>
          <p:cNvPr id="7" name="직사각형 6">
            <a:extLst>
              <a:ext uri="{FF2B5EF4-FFF2-40B4-BE49-F238E27FC236}">
                <a16:creationId xmlns:a16="http://schemas.microsoft.com/office/drawing/2014/main" id="{7D1406F7-1C0C-4FAB-9B82-1616D2C96FF6}"/>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04</a:t>
            </a:r>
          </a:p>
        </p:txBody>
      </p:sp>
      <p:sp>
        <p:nvSpPr>
          <p:cNvPr id="8" name="직사각형 7">
            <a:extLst>
              <a:ext uri="{FF2B5EF4-FFF2-40B4-BE49-F238E27FC236}">
                <a16:creationId xmlns:a16="http://schemas.microsoft.com/office/drawing/2014/main" id="{58E34882-4B48-408F-8074-3EE92AFB1671}"/>
              </a:ext>
            </a:extLst>
          </p:cNvPr>
          <p:cNvSpPr>
            <a:spLocks noGrp="1"/>
          </p:cNvSpPr>
          <p:nvPr/>
        </p:nvSpPr>
        <p:spPr>
          <a:xfrm>
            <a:off x="838200" y="1400175"/>
            <a:ext cx="247650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같은 근거</a:t>
            </a:r>
          </a:p>
        </p:txBody>
      </p:sp>
      <p:sp>
        <p:nvSpPr>
          <p:cNvPr id="9" name="직사각형 8">
            <a:extLst>
              <a:ext uri="{FF2B5EF4-FFF2-40B4-BE49-F238E27FC236}">
                <a16:creationId xmlns:a16="http://schemas.microsoft.com/office/drawing/2014/main" id="{B21FE12A-2046-4C14-AA6C-29CFBC68AE04}"/>
              </a:ext>
            </a:extLst>
          </p:cNvPr>
          <p:cNvSpPr>
            <a:spLocks noGrp="1"/>
          </p:cNvSpPr>
          <p:nvPr/>
        </p:nvSpPr>
        <p:spPr>
          <a:xfrm>
            <a:off x="838200" y="1809750"/>
            <a:ext cx="5238750" cy="552450"/>
          </a:xfrm>
          <a:prstGeom prst="rect">
            <a:avLst/>
          </a:prstGeom>
          <a:noFill/>
          <a:ln w="0">
            <a:noFill/>
            <a:prstDash val="solid"/>
          </a:ln>
        </p:spPr>
        <p:txBody>
          <a:bodyPr lIns="0" tIns="0" rIns="0" bIns="0" anchor="ctr"/>
          <a:lstStyle/>
          <a:p>
            <a:pPr algn="l">
              <a:defRPr sz="2625" b="1">
                <a:solidFill>
                  <a:srgbClr val="00A58A"/>
                </a:solidFill>
                <a:latin typeface="Noto Sans KR"/>
                <a:ea typeface="Noto Sans KR"/>
                <a:cs typeface="Noto Sans KR"/>
              </a:defRPr>
            </a:pPr>
            <a:r>
              <a:rPr sz="2625" b="1">
                <a:solidFill>
                  <a:srgbClr val="00A58A"/>
                </a:solidFill>
                <a:latin typeface="Noto Sans KR"/>
                <a:ea typeface="Noto Sans KR"/>
                <a:cs typeface="Noto Sans KR"/>
              </a:rPr>
              <a:t>고객별로 다른 “다음 결정”</a:t>
            </a:r>
          </a:p>
        </p:txBody>
      </p:sp>
      <p:sp>
        <p:nvSpPr>
          <p:cNvPr id="10" name="직사각형 9">
            <a:extLst>
              <a:ext uri="{FF2B5EF4-FFF2-40B4-BE49-F238E27FC236}">
                <a16:creationId xmlns:a16="http://schemas.microsoft.com/office/drawing/2014/main" id="{D344B5EC-B903-464E-97DA-225F7E0F3159}"/>
              </a:ext>
            </a:extLst>
          </p:cNvPr>
          <p:cNvSpPr>
            <a:spLocks noGrp="1"/>
          </p:cNvSpPr>
          <p:nvPr/>
        </p:nvSpPr>
        <p:spPr>
          <a:xfrm>
            <a:off x="838200" y="2533650"/>
            <a:ext cx="3714750" cy="742950"/>
          </a:xfrm>
          <a:prstGeom prst="rect">
            <a:avLst/>
          </a:prstGeom>
          <a:noFill/>
          <a:ln w="0">
            <a:noFill/>
            <a:prstDash val="solid"/>
          </a:ln>
        </p:spPr>
        <p:txBody>
          <a:bodyPr lIns="0" tIns="0" rIns="0" bIns="0" anchor="ctr"/>
          <a:lstStyle/>
          <a:p>
            <a:pPr algn="l">
              <a:defRPr sz="1425" b="0">
                <a:solidFill>
                  <a:srgbClr val="5F6B73"/>
                </a:solidFill>
                <a:latin typeface="Noto Sans KR"/>
                <a:ea typeface="Noto Sans KR"/>
                <a:cs typeface="Noto Sans KR"/>
              </a:defRPr>
            </a:pPr>
            <a:r>
              <a:rPr sz="1425" b="0">
                <a:solidFill>
                  <a:srgbClr val="5F6B73"/>
                </a:solidFill>
                <a:latin typeface="Noto Sans KR"/>
                <a:ea typeface="Noto Sans KR"/>
                <a:cs typeface="Noto Sans KR"/>
              </a:rPr>
              <a:t>1차 도입은 수출 전담 인력이 부족한</a:t>
            </a:r>
          </a:p>
          <a:p>
            <a:pPr algn="l">
              <a:defRPr sz="1425" b="0">
                <a:solidFill>
                  <a:srgbClr val="5F6B73"/>
                </a:solidFill>
                <a:latin typeface="Noto Sans KR"/>
                <a:ea typeface="Noto Sans KR"/>
                <a:cs typeface="Noto Sans KR"/>
              </a:defRPr>
            </a:pPr>
            <a:r>
              <a:rPr sz="1425" b="0">
                <a:solidFill>
                  <a:srgbClr val="5F6B73"/>
                </a:solidFill>
                <a:latin typeface="Noto Sans KR"/>
                <a:ea typeface="Noto Sans KR"/>
                <a:cs typeface="Noto Sans KR"/>
              </a:rPr>
              <a:t>산업단지 제조기업에서 시작합니다.</a:t>
            </a:r>
          </a:p>
        </p:txBody>
      </p:sp>
      <p:sp>
        <p:nvSpPr>
          <p:cNvPr id="11" name="타원 10">
            <a:extLst>
              <a:ext uri="{FF2B5EF4-FFF2-40B4-BE49-F238E27FC236}">
                <a16:creationId xmlns:a16="http://schemas.microsoft.com/office/drawing/2014/main" id="{41583148-0F1F-4783-B384-C89063C07DF5}"/>
              </a:ext>
            </a:extLst>
          </p:cNvPr>
          <p:cNvSpPr>
            <a:spLocks noGrp="1"/>
          </p:cNvSpPr>
          <p:nvPr/>
        </p:nvSpPr>
        <p:spPr>
          <a:xfrm>
            <a:off x="5676900" y="1352550"/>
            <a:ext cx="723900" cy="723900"/>
          </a:xfrm>
          <a:prstGeom prst="ellipse">
            <a:avLst/>
          </a:prstGeom>
          <a:solidFill>
            <a:srgbClr val="051C2C"/>
          </a:solidFill>
          <a:ln w="0">
            <a:solidFill>
              <a:srgbClr val="051C2C"/>
            </a:solidFill>
            <a:prstDash val="solid"/>
          </a:ln>
        </p:spPr>
      </p:sp>
      <p:pic>
        <p:nvPicPr>
          <p:cNvPr id="48" name="그림 47"/>
          <p:cNvPicPr>
            <a:picLocks noChangeAspect="1"/>
          </p:cNvPicPr>
          <p:nvPr/>
        </p:nvPicPr>
        <p:blipFill>
          <a:blip r:embed="rId3"/>
          <a:stretch/>
        </p:blipFill>
        <p:spPr>
          <a:xfrm>
            <a:off x="5772150" y="1447800"/>
            <a:ext cx="533400" cy="533400"/>
          </a:xfrm>
          <a:prstGeom prst="rect">
            <a:avLst/>
          </a:prstGeom>
        </p:spPr>
      </p:pic>
      <p:sp>
        <p:nvSpPr>
          <p:cNvPr id="13" name="직사각형 12">
            <a:extLst>
              <a:ext uri="{FF2B5EF4-FFF2-40B4-BE49-F238E27FC236}">
                <a16:creationId xmlns:a16="http://schemas.microsoft.com/office/drawing/2014/main" id="{CA824C13-F90D-4845-B80C-8F157A2D7BA6}"/>
              </a:ext>
            </a:extLst>
          </p:cNvPr>
          <p:cNvSpPr>
            <a:spLocks noGrp="1"/>
          </p:cNvSpPr>
          <p:nvPr/>
        </p:nvSpPr>
        <p:spPr>
          <a:xfrm>
            <a:off x="5048250" y="2152650"/>
            <a:ext cx="381000" cy="2667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01</a:t>
            </a:r>
          </a:p>
        </p:txBody>
      </p:sp>
      <p:sp>
        <p:nvSpPr>
          <p:cNvPr id="14" name="직사각형 13">
            <a:extLst>
              <a:ext uri="{FF2B5EF4-FFF2-40B4-BE49-F238E27FC236}">
                <a16:creationId xmlns:a16="http://schemas.microsoft.com/office/drawing/2014/main" id="{DBE5EFFA-FFB5-4C0F-A212-6FDCED50E2D3}"/>
              </a:ext>
            </a:extLst>
          </p:cNvPr>
          <p:cNvSpPr>
            <a:spLocks noGrp="1"/>
          </p:cNvSpPr>
          <p:nvPr/>
        </p:nvSpPr>
        <p:spPr>
          <a:xfrm>
            <a:off x="5048250" y="2419350"/>
            <a:ext cx="1981200" cy="552450"/>
          </a:xfrm>
          <a:prstGeom prst="rect">
            <a:avLst/>
          </a:prstGeom>
          <a:noFill/>
          <a:ln w="0">
            <a:noFill/>
            <a:prstDash val="solid"/>
          </a:ln>
        </p:spPr>
        <p:txBody>
          <a:bodyPr lIns="0" tIns="0" rIns="0" bIns="0" anchor="ctr"/>
          <a:lstStyle/>
          <a:p>
            <a:pPr algn="l">
              <a:defRPr sz="1350" b="1">
                <a:solidFill>
                  <a:srgbClr val="051C2C"/>
                </a:solidFill>
                <a:latin typeface="Noto Sans KR"/>
                <a:ea typeface="Noto Sans KR"/>
                <a:cs typeface="Noto Sans KR"/>
              </a:defRPr>
            </a:pPr>
            <a:r>
              <a:rPr sz="1350" b="1">
                <a:solidFill>
                  <a:srgbClr val="051C2C"/>
                </a:solidFill>
                <a:latin typeface="Noto Sans KR"/>
                <a:ea typeface="Noto Sans KR"/>
                <a:cs typeface="Noto Sans KR"/>
              </a:rPr>
              <a:t>제조기업 대표·실무자</a:t>
            </a:r>
          </a:p>
        </p:txBody>
      </p:sp>
      <p:sp>
        <p:nvSpPr>
          <p:cNvPr id="15" name="직사각형 14">
            <a:extLst>
              <a:ext uri="{FF2B5EF4-FFF2-40B4-BE49-F238E27FC236}">
                <a16:creationId xmlns:a16="http://schemas.microsoft.com/office/drawing/2014/main" id="{B76F64AA-E87D-4C3A-A231-345F3D2C3D96}"/>
              </a:ext>
            </a:extLst>
          </p:cNvPr>
          <p:cNvSpPr>
            <a:spLocks noGrp="1"/>
          </p:cNvSpPr>
          <p:nvPr/>
        </p:nvSpPr>
        <p:spPr>
          <a:xfrm>
            <a:off x="5048250" y="3067050"/>
            <a:ext cx="1981200" cy="9525"/>
          </a:xfrm>
          <a:prstGeom prst="rect">
            <a:avLst/>
          </a:prstGeom>
          <a:solidFill>
            <a:srgbClr val="D7DEE2"/>
          </a:solidFill>
          <a:ln w="0">
            <a:solidFill>
              <a:srgbClr val="D7DEE2"/>
            </a:solidFill>
            <a:prstDash val="solid"/>
          </a:ln>
        </p:spPr>
      </p:sp>
      <p:sp>
        <p:nvSpPr>
          <p:cNvPr id="16" name="직사각형 15">
            <a:extLst>
              <a:ext uri="{FF2B5EF4-FFF2-40B4-BE49-F238E27FC236}">
                <a16:creationId xmlns:a16="http://schemas.microsoft.com/office/drawing/2014/main" id="{FBF3187C-A54B-4807-8627-DAD7B47851A4}"/>
              </a:ext>
            </a:extLst>
          </p:cNvPr>
          <p:cNvSpPr>
            <a:spLocks noGrp="1"/>
          </p:cNvSpPr>
          <p:nvPr/>
        </p:nvSpPr>
        <p:spPr>
          <a:xfrm>
            <a:off x="5048250" y="3238500"/>
            <a:ext cx="1981200" cy="876300"/>
          </a:xfrm>
          <a:prstGeom prst="rect">
            <a:avLst/>
          </a:prstGeom>
          <a:noFill/>
          <a:ln w="0">
            <a:noFill/>
            <a:prstDash val="solid"/>
          </a:ln>
        </p:spPr>
        <p:txBody>
          <a:bodyPr lIns="0" tIns="0" rIns="0" bIns="0" anchor="ctr"/>
          <a:lstStyle/>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어디로, 어떤 조건으로</a:t>
            </a:r>
          </a:p>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추진할 것인가?</a:t>
            </a:r>
          </a:p>
        </p:txBody>
      </p:sp>
      <p:sp>
        <p:nvSpPr>
          <p:cNvPr id="17" name="직사각형 16">
            <a:extLst>
              <a:ext uri="{FF2B5EF4-FFF2-40B4-BE49-F238E27FC236}">
                <a16:creationId xmlns:a16="http://schemas.microsoft.com/office/drawing/2014/main" id="{F9D29610-2352-49A3-9239-C3545102CE95}"/>
              </a:ext>
            </a:extLst>
          </p:cNvPr>
          <p:cNvSpPr>
            <a:spLocks noGrp="1"/>
          </p:cNvSpPr>
          <p:nvPr/>
        </p:nvSpPr>
        <p:spPr>
          <a:xfrm>
            <a:off x="5048250" y="4343400"/>
            <a:ext cx="1981200" cy="723900"/>
          </a:xfrm>
          <a:prstGeom prst="rect">
            <a:avLst/>
          </a:prstGeom>
          <a:solidFill>
            <a:srgbClr val="F3F6F7"/>
          </a:solidFill>
          <a:ln w="0">
            <a:solidFill>
              <a:srgbClr val="F3F6F7"/>
            </a:solidFill>
            <a:prstDash val="solid"/>
          </a:ln>
        </p:spPr>
      </p:sp>
      <p:sp>
        <p:nvSpPr>
          <p:cNvPr id="18" name="직사각형 17">
            <a:extLst>
              <a:ext uri="{FF2B5EF4-FFF2-40B4-BE49-F238E27FC236}">
                <a16:creationId xmlns:a16="http://schemas.microsoft.com/office/drawing/2014/main" id="{DAB59ADE-DD8E-4CA3-B553-33176A6EF04C}"/>
              </a:ext>
            </a:extLst>
          </p:cNvPr>
          <p:cNvSpPr>
            <a:spLocks noGrp="1"/>
          </p:cNvSpPr>
          <p:nvPr/>
        </p:nvSpPr>
        <p:spPr>
          <a:xfrm>
            <a:off x="5162550" y="4438650"/>
            <a:ext cx="1752600" cy="533400"/>
          </a:xfrm>
          <a:prstGeom prst="rect">
            <a:avLst/>
          </a:prstGeom>
          <a:noFill/>
          <a:ln w="0">
            <a:noFill/>
            <a:prstDash val="solid"/>
          </a:ln>
        </p:spPr>
        <p:txBody>
          <a:bodyPr lIns="0" tIns="0" rIns="0" bIns="0" anchor="ctr"/>
          <a:lstStyle/>
          <a:p>
            <a:pPr algn="ctr">
              <a:defRPr sz="1050" b="1">
                <a:solidFill>
                  <a:srgbClr val="051C2C"/>
                </a:solidFill>
                <a:latin typeface="Noto Sans KR"/>
                <a:ea typeface="Noto Sans KR"/>
                <a:cs typeface="Noto Sans KR"/>
              </a:defRPr>
            </a:pPr>
            <a:r>
              <a:rPr sz="1050" b="1">
                <a:solidFill>
                  <a:srgbClr val="051C2C"/>
                </a:solidFill>
                <a:latin typeface="Noto Sans KR"/>
                <a:ea typeface="Noto Sans KR"/>
                <a:cs typeface="Noto Sans KR"/>
              </a:rPr>
              <a:t>후보국 · 인증 · 관세 · 결제</a:t>
            </a:r>
          </a:p>
        </p:txBody>
      </p:sp>
      <p:pic>
        <p:nvPicPr>
          <p:cNvPr id="56" name="그림 55"/>
          <p:cNvPicPr>
            <a:picLocks noChangeAspect="1"/>
          </p:cNvPicPr>
          <p:nvPr/>
        </p:nvPicPr>
        <p:blipFill>
          <a:blip r:embed="rId4"/>
          <a:stretch/>
        </p:blipFill>
        <p:spPr>
          <a:xfrm>
            <a:off x="7962900" y="1447800"/>
            <a:ext cx="533400" cy="533400"/>
          </a:xfrm>
          <a:prstGeom prst="rect">
            <a:avLst/>
          </a:prstGeom>
        </p:spPr>
      </p:pic>
      <p:sp>
        <p:nvSpPr>
          <p:cNvPr id="21" name="직사각형 20">
            <a:extLst>
              <a:ext uri="{FF2B5EF4-FFF2-40B4-BE49-F238E27FC236}">
                <a16:creationId xmlns:a16="http://schemas.microsoft.com/office/drawing/2014/main" id="{8AAD6BAF-81E5-44CF-A36A-A8F23359CD16}"/>
              </a:ext>
            </a:extLst>
          </p:cNvPr>
          <p:cNvSpPr>
            <a:spLocks noGrp="1"/>
          </p:cNvSpPr>
          <p:nvPr/>
        </p:nvSpPr>
        <p:spPr>
          <a:xfrm>
            <a:off x="8572500" y="2152650"/>
            <a:ext cx="381000" cy="2667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dirty="0">
                <a:solidFill>
                  <a:srgbClr val="00A58A"/>
                </a:solidFill>
                <a:latin typeface="Noto Sans KR"/>
                <a:ea typeface="Noto Sans KR"/>
                <a:cs typeface="Noto Sans KR"/>
              </a:rPr>
              <a:t>02</a:t>
            </a:r>
          </a:p>
        </p:txBody>
      </p:sp>
      <p:sp>
        <p:nvSpPr>
          <p:cNvPr id="27" name="타원 26">
            <a:extLst>
              <a:ext uri="{FF2B5EF4-FFF2-40B4-BE49-F238E27FC236}">
                <a16:creationId xmlns:a16="http://schemas.microsoft.com/office/drawing/2014/main" id="{1C984907-A669-4772-9068-AD5503CBC87C}"/>
              </a:ext>
            </a:extLst>
          </p:cNvPr>
          <p:cNvSpPr>
            <a:spLocks noGrp="1"/>
          </p:cNvSpPr>
          <p:nvPr/>
        </p:nvSpPr>
        <p:spPr>
          <a:xfrm>
            <a:off x="9277350" y="1342465"/>
            <a:ext cx="723900" cy="723900"/>
          </a:xfrm>
          <a:prstGeom prst="ellipse">
            <a:avLst/>
          </a:prstGeom>
          <a:solidFill>
            <a:srgbClr val="051C2C"/>
          </a:solidFill>
          <a:ln w="0">
            <a:solidFill>
              <a:srgbClr val="051C2C"/>
            </a:solidFill>
            <a:prstDash val="solid"/>
          </a:ln>
        </p:spPr>
      </p:sp>
      <p:pic>
        <p:nvPicPr>
          <p:cNvPr id="64" name="그림 63"/>
          <p:cNvPicPr>
            <a:picLocks noChangeAspect="1"/>
          </p:cNvPicPr>
          <p:nvPr/>
        </p:nvPicPr>
        <p:blipFill>
          <a:blip r:embed="rId5"/>
          <a:stretch/>
        </p:blipFill>
        <p:spPr>
          <a:xfrm>
            <a:off x="9372600" y="1437715"/>
            <a:ext cx="533400" cy="533400"/>
          </a:xfrm>
          <a:prstGeom prst="rect">
            <a:avLst/>
          </a:prstGeom>
        </p:spPr>
      </p:pic>
      <p:sp>
        <p:nvSpPr>
          <p:cNvPr id="30" name="직사각형 29">
            <a:extLst>
              <a:ext uri="{FF2B5EF4-FFF2-40B4-BE49-F238E27FC236}">
                <a16:creationId xmlns:a16="http://schemas.microsoft.com/office/drawing/2014/main" id="{B1220314-A2F0-4F2B-B635-A99EFF477AF7}"/>
              </a:ext>
            </a:extLst>
          </p:cNvPr>
          <p:cNvSpPr>
            <a:spLocks noGrp="1"/>
          </p:cNvSpPr>
          <p:nvPr/>
        </p:nvSpPr>
        <p:spPr>
          <a:xfrm>
            <a:off x="8648700" y="2409265"/>
            <a:ext cx="1981200" cy="552450"/>
          </a:xfrm>
          <a:prstGeom prst="rect">
            <a:avLst/>
          </a:prstGeom>
          <a:noFill/>
          <a:ln w="0">
            <a:noFill/>
            <a:prstDash val="solid"/>
          </a:ln>
        </p:spPr>
        <p:txBody>
          <a:bodyPr lIns="0" tIns="0" rIns="0" bIns="0" anchor="ctr"/>
          <a:lstStyle/>
          <a:p>
            <a:pPr algn="l">
              <a:defRPr sz="1350" b="1">
                <a:solidFill>
                  <a:srgbClr val="051C2C"/>
                </a:solidFill>
                <a:latin typeface="Noto Sans KR"/>
                <a:ea typeface="Noto Sans KR"/>
                <a:cs typeface="Noto Sans KR"/>
              </a:defRPr>
            </a:pPr>
            <a:r>
              <a:rPr sz="1350" b="1">
                <a:solidFill>
                  <a:srgbClr val="051C2C"/>
                </a:solidFill>
                <a:latin typeface="Noto Sans KR"/>
                <a:ea typeface="Noto Sans KR"/>
                <a:cs typeface="Noto Sans KR"/>
              </a:rPr>
              <a:t>관세·인증·무역 전문가</a:t>
            </a:r>
          </a:p>
        </p:txBody>
      </p:sp>
      <p:sp>
        <p:nvSpPr>
          <p:cNvPr id="31" name="직사각형 30">
            <a:extLst>
              <a:ext uri="{FF2B5EF4-FFF2-40B4-BE49-F238E27FC236}">
                <a16:creationId xmlns:a16="http://schemas.microsoft.com/office/drawing/2014/main" id="{50CF1712-9D7E-4D4C-BDFD-5C9C21FE7D1C}"/>
              </a:ext>
            </a:extLst>
          </p:cNvPr>
          <p:cNvSpPr>
            <a:spLocks noGrp="1"/>
          </p:cNvSpPr>
          <p:nvPr/>
        </p:nvSpPr>
        <p:spPr>
          <a:xfrm>
            <a:off x="8648700" y="3056965"/>
            <a:ext cx="1981200" cy="9525"/>
          </a:xfrm>
          <a:prstGeom prst="rect">
            <a:avLst/>
          </a:prstGeom>
          <a:solidFill>
            <a:srgbClr val="D7DEE2"/>
          </a:solidFill>
          <a:ln w="0">
            <a:solidFill>
              <a:srgbClr val="D7DEE2"/>
            </a:solidFill>
            <a:prstDash val="solid"/>
          </a:ln>
        </p:spPr>
      </p:sp>
      <p:sp>
        <p:nvSpPr>
          <p:cNvPr id="32" name="직사각형 31">
            <a:extLst>
              <a:ext uri="{FF2B5EF4-FFF2-40B4-BE49-F238E27FC236}">
                <a16:creationId xmlns:a16="http://schemas.microsoft.com/office/drawing/2014/main" id="{38E1DFC2-4BFA-4CD9-BA64-12070CF56231}"/>
              </a:ext>
            </a:extLst>
          </p:cNvPr>
          <p:cNvSpPr>
            <a:spLocks noGrp="1"/>
          </p:cNvSpPr>
          <p:nvPr/>
        </p:nvSpPr>
        <p:spPr>
          <a:xfrm>
            <a:off x="8648700" y="3228415"/>
            <a:ext cx="1981200" cy="876300"/>
          </a:xfrm>
          <a:prstGeom prst="rect">
            <a:avLst/>
          </a:prstGeom>
          <a:noFill/>
          <a:ln w="0">
            <a:noFill/>
            <a:prstDash val="solid"/>
          </a:ln>
        </p:spPr>
        <p:txBody>
          <a:bodyPr lIns="0" tIns="0" rIns="0" bIns="0" anchor="ctr"/>
          <a:lstStyle/>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어떤 근거를 확인하고</a:t>
            </a:r>
          </a:p>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어디에 자문할 것인가?</a:t>
            </a:r>
          </a:p>
        </p:txBody>
      </p:sp>
      <p:sp>
        <p:nvSpPr>
          <p:cNvPr id="33" name="직사각형 32">
            <a:extLst>
              <a:ext uri="{FF2B5EF4-FFF2-40B4-BE49-F238E27FC236}">
                <a16:creationId xmlns:a16="http://schemas.microsoft.com/office/drawing/2014/main" id="{1BEEEC19-C283-4A3E-BB6E-7FB42EB7F1A0}"/>
              </a:ext>
            </a:extLst>
          </p:cNvPr>
          <p:cNvSpPr>
            <a:spLocks noGrp="1"/>
          </p:cNvSpPr>
          <p:nvPr/>
        </p:nvSpPr>
        <p:spPr>
          <a:xfrm>
            <a:off x="8648700" y="4333315"/>
            <a:ext cx="1981200" cy="723900"/>
          </a:xfrm>
          <a:prstGeom prst="rect">
            <a:avLst/>
          </a:prstGeom>
          <a:solidFill>
            <a:srgbClr val="F3F6F7"/>
          </a:solidFill>
          <a:ln w="0">
            <a:solidFill>
              <a:srgbClr val="F3F6F7"/>
            </a:solidFill>
            <a:prstDash val="solid"/>
          </a:ln>
        </p:spPr>
      </p:sp>
      <p:sp>
        <p:nvSpPr>
          <p:cNvPr id="34" name="직사각형 33">
            <a:extLst>
              <a:ext uri="{FF2B5EF4-FFF2-40B4-BE49-F238E27FC236}">
                <a16:creationId xmlns:a16="http://schemas.microsoft.com/office/drawing/2014/main" id="{6A8F3D50-323F-4EE5-A7A6-15370633FAA7}"/>
              </a:ext>
            </a:extLst>
          </p:cNvPr>
          <p:cNvSpPr>
            <a:spLocks noGrp="1"/>
          </p:cNvSpPr>
          <p:nvPr/>
        </p:nvSpPr>
        <p:spPr>
          <a:xfrm>
            <a:off x="8763000" y="4428565"/>
            <a:ext cx="1752600" cy="533400"/>
          </a:xfrm>
          <a:prstGeom prst="rect">
            <a:avLst/>
          </a:prstGeom>
          <a:noFill/>
          <a:ln w="0">
            <a:noFill/>
            <a:prstDash val="solid"/>
          </a:ln>
        </p:spPr>
        <p:txBody>
          <a:bodyPr lIns="0" tIns="0" rIns="0" bIns="0" anchor="ctr"/>
          <a:lstStyle/>
          <a:p>
            <a:pPr algn="ctr">
              <a:defRPr sz="1050" b="1">
                <a:solidFill>
                  <a:srgbClr val="051C2C"/>
                </a:solidFill>
                <a:latin typeface="Noto Sans KR"/>
                <a:ea typeface="Noto Sans KR"/>
                <a:cs typeface="Noto Sans KR"/>
              </a:defRPr>
            </a:pPr>
            <a:r>
              <a:rPr sz="1050" b="1">
                <a:solidFill>
                  <a:srgbClr val="051C2C"/>
                </a:solidFill>
                <a:latin typeface="Noto Sans KR"/>
                <a:ea typeface="Noto Sans KR"/>
                <a:cs typeface="Noto Sans KR"/>
              </a:rPr>
              <a:t>근거 확인 · 고부가 자문</a:t>
            </a:r>
          </a:p>
        </p:txBody>
      </p:sp>
      <p:sp>
        <p:nvSpPr>
          <p:cNvPr id="35" name="사각형: 둥근 모서리 34">
            <a:extLst>
              <a:ext uri="{FF2B5EF4-FFF2-40B4-BE49-F238E27FC236}">
                <a16:creationId xmlns:a16="http://schemas.microsoft.com/office/drawing/2014/main" id="{04B14361-B7C1-4B8A-9D42-045B83035F91}"/>
              </a:ext>
            </a:extLst>
          </p:cNvPr>
          <p:cNvSpPr>
            <a:spLocks noGrp="1"/>
          </p:cNvSpPr>
          <p:nvPr/>
        </p:nvSpPr>
        <p:spPr>
          <a:xfrm>
            <a:off x="838200" y="5353050"/>
            <a:ext cx="10572750" cy="590550"/>
          </a:xfrm>
          <a:prstGeom prst="roundRect">
            <a:avLst>
              <a:gd name="adj" fmla="val 19355"/>
            </a:avLst>
          </a:prstGeom>
          <a:solidFill>
            <a:srgbClr val="051C2C"/>
          </a:solidFill>
          <a:ln w="0">
            <a:solidFill>
              <a:srgbClr val="051C2C"/>
            </a:solidFill>
            <a:prstDash val="solid"/>
          </a:ln>
        </p:spPr>
      </p:sp>
      <p:sp>
        <p:nvSpPr>
          <p:cNvPr id="36" name="직사각형 35">
            <a:extLst>
              <a:ext uri="{FF2B5EF4-FFF2-40B4-BE49-F238E27FC236}">
                <a16:creationId xmlns:a16="http://schemas.microsoft.com/office/drawing/2014/main" id="{2549EA82-5BC3-4960-AF24-5D8C7A89286C}"/>
              </a:ext>
            </a:extLst>
          </p:cNvPr>
          <p:cNvSpPr>
            <a:spLocks noGrp="1"/>
          </p:cNvSpPr>
          <p:nvPr/>
        </p:nvSpPr>
        <p:spPr>
          <a:xfrm>
            <a:off x="1066800" y="5467350"/>
            <a:ext cx="10115550" cy="381000"/>
          </a:xfrm>
          <a:prstGeom prst="rect">
            <a:avLst/>
          </a:prstGeom>
          <a:noFill/>
          <a:ln w="0">
            <a:noFill/>
            <a:prstDash val="solid"/>
          </a:ln>
        </p:spPr>
        <p:txBody>
          <a:bodyPr lIns="0" tIns="0" rIns="0" bIns="0" anchor="ctr"/>
          <a:lstStyle/>
          <a:p>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공통 산출물  |  출처가 연결된 실행 리포트</a:t>
            </a:r>
          </a:p>
        </p:txBody>
      </p:sp>
    </p:spTree>
    <p:extLst>
      <p:ext uri="{BB962C8B-B14F-4D97-AF65-F5344CB8AC3E}">
        <p14:creationId xmlns:p14="http://schemas.microsoft.com/office/powerpoint/2010/main" val="69021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직사각형 36">
            <a:extLst>
              <a:ext uri="{FF2B5EF4-FFF2-40B4-BE49-F238E27FC236}">
                <a16:creationId xmlns:a16="http://schemas.microsoft.com/office/drawing/2014/main" id="{CE8C8CCF-80AF-4B2E-93DE-73F12A17208F}"/>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HOW IT WORKS</a:t>
            </a:r>
          </a:p>
        </p:txBody>
      </p:sp>
      <p:sp>
        <p:nvSpPr>
          <p:cNvPr id="2" name="slide-5-title">
            <a:extLst>
              <a:ext uri="{FF2B5EF4-FFF2-40B4-BE49-F238E27FC236}">
                <a16:creationId xmlns:a16="http://schemas.microsoft.com/office/drawing/2014/main" id="{A5A446FA-C8AB-4CFB-8D14-6F0988F60D95}"/>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기업·제품 입력부터 실행 리포트까지 다섯 단계로 연결됩니다</a:t>
            </a:r>
          </a:p>
        </p:txBody>
      </p:sp>
      <p:sp>
        <p:nvSpPr>
          <p:cNvPr id="3" name="직사각형 2">
            <a:extLst>
              <a:ext uri="{FF2B5EF4-FFF2-40B4-BE49-F238E27FC236}">
                <a16:creationId xmlns:a16="http://schemas.microsoft.com/office/drawing/2014/main" id="{95B438EC-5422-4051-8540-705F9A55692A}"/>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B0796932-02A4-4BC1-83EA-148472CD6F20}"/>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720FD548-4D0E-4FED-A88A-967A2C35F9C9}"/>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7D634B24-8DF0-463C-B59E-D108C722E80F}"/>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사용자 흐름</a:t>
            </a:r>
          </a:p>
        </p:txBody>
      </p:sp>
      <p:sp>
        <p:nvSpPr>
          <p:cNvPr id="7" name="직사각형 6">
            <a:extLst>
              <a:ext uri="{FF2B5EF4-FFF2-40B4-BE49-F238E27FC236}">
                <a16:creationId xmlns:a16="http://schemas.microsoft.com/office/drawing/2014/main" id="{CDA4BCC8-5BED-48A9-9EA2-16B8A1D0AF20}"/>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05</a:t>
            </a:r>
          </a:p>
        </p:txBody>
      </p:sp>
      <p:sp>
        <p:nvSpPr>
          <p:cNvPr id="8" name="직사각형 7">
            <a:extLst>
              <a:ext uri="{FF2B5EF4-FFF2-40B4-BE49-F238E27FC236}">
                <a16:creationId xmlns:a16="http://schemas.microsoft.com/office/drawing/2014/main" id="{9AB06D0F-A36F-44EE-B686-C27B4BDEDB8A}"/>
              </a:ext>
            </a:extLst>
          </p:cNvPr>
          <p:cNvSpPr>
            <a:spLocks noGrp="1"/>
          </p:cNvSpPr>
          <p:nvPr/>
        </p:nvSpPr>
        <p:spPr>
          <a:xfrm>
            <a:off x="1143000" y="2876550"/>
            <a:ext cx="9906000" cy="38100"/>
          </a:xfrm>
          <a:prstGeom prst="rect">
            <a:avLst/>
          </a:prstGeom>
          <a:solidFill>
            <a:srgbClr val="D7DEE2"/>
          </a:solidFill>
          <a:ln w="0">
            <a:solidFill>
              <a:srgbClr val="D7DEE2"/>
            </a:solidFill>
            <a:prstDash val="solid"/>
          </a:ln>
        </p:spPr>
      </p:sp>
      <p:sp>
        <p:nvSpPr>
          <p:cNvPr id="9" name="타원 8">
            <a:extLst>
              <a:ext uri="{FF2B5EF4-FFF2-40B4-BE49-F238E27FC236}">
                <a16:creationId xmlns:a16="http://schemas.microsoft.com/office/drawing/2014/main" id="{CC3598D8-210A-4649-91E2-91629C9165BC}"/>
              </a:ext>
            </a:extLst>
          </p:cNvPr>
          <p:cNvSpPr>
            <a:spLocks noGrp="1"/>
          </p:cNvSpPr>
          <p:nvPr/>
        </p:nvSpPr>
        <p:spPr>
          <a:xfrm>
            <a:off x="1581150" y="2476500"/>
            <a:ext cx="800100" cy="800100"/>
          </a:xfrm>
          <a:prstGeom prst="ellipse">
            <a:avLst/>
          </a:prstGeom>
          <a:solidFill>
            <a:srgbClr val="051C2C"/>
          </a:solidFill>
          <a:ln w="0">
            <a:solidFill>
              <a:srgbClr val="051C2C"/>
            </a:solidFill>
            <a:prstDash val="solid"/>
          </a:ln>
        </p:spPr>
      </p:sp>
      <p:sp>
        <p:nvSpPr>
          <p:cNvPr id="10" name="직사각형 9">
            <a:extLst>
              <a:ext uri="{FF2B5EF4-FFF2-40B4-BE49-F238E27FC236}">
                <a16:creationId xmlns:a16="http://schemas.microsoft.com/office/drawing/2014/main" id="{733B8DC0-B115-4FA4-ACB2-953B47EA5AA0}"/>
              </a:ext>
            </a:extLst>
          </p:cNvPr>
          <p:cNvSpPr>
            <a:spLocks noGrp="1"/>
          </p:cNvSpPr>
          <p:nvPr/>
        </p:nvSpPr>
        <p:spPr>
          <a:xfrm>
            <a:off x="15811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1</a:t>
            </a:r>
          </a:p>
        </p:txBody>
      </p:sp>
      <p:sp>
        <p:nvSpPr>
          <p:cNvPr id="11" name="직사각형 10">
            <a:extLst>
              <a:ext uri="{FF2B5EF4-FFF2-40B4-BE49-F238E27FC236}">
                <a16:creationId xmlns:a16="http://schemas.microsoft.com/office/drawing/2014/main" id="{A480422E-F78A-465B-B2A1-03213FB752AA}"/>
              </a:ext>
            </a:extLst>
          </p:cNvPr>
          <p:cNvSpPr>
            <a:spLocks noGrp="1"/>
          </p:cNvSpPr>
          <p:nvPr/>
        </p:nvSpPr>
        <p:spPr>
          <a:xfrm>
            <a:off x="9144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기업 확인</a:t>
            </a:r>
          </a:p>
        </p:txBody>
      </p:sp>
      <p:sp>
        <p:nvSpPr>
          <p:cNvPr id="12" name="직사각형 11">
            <a:extLst>
              <a:ext uri="{FF2B5EF4-FFF2-40B4-BE49-F238E27FC236}">
                <a16:creationId xmlns:a16="http://schemas.microsoft.com/office/drawing/2014/main" id="{BD2426E6-5244-4D99-B995-C9617A376722}"/>
              </a:ext>
            </a:extLst>
          </p:cNvPr>
          <p:cNvSpPr>
            <a:spLocks noGrp="1"/>
          </p:cNvSpPr>
          <p:nvPr/>
        </p:nvSpPr>
        <p:spPr>
          <a:xfrm>
            <a:off x="10287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KICOX 공장·생산품</a:t>
            </a:r>
          </a:p>
        </p:txBody>
      </p:sp>
      <p:sp>
        <p:nvSpPr>
          <p:cNvPr id="13" name="직사각형 12">
            <a:extLst>
              <a:ext uri="{FF2B5EF4-FFF2-40B4-BE49-F238E27FC236}">
                <a16:creationId xmlns:a16="http://schemas.microsoft.com/office/drawing/2014/main" id="{45B758E2-0ED0-4B05-92B1-3AE669A2F754}"/>
              </a:ext>
            </a:extLst>
          </p:cNvPr>
          <p:cNvSpPr>
            <a:spLocks noGrp="1"/>
          </p:cNvSpPr>
          <p:nvPr/>
        </p:nvSpPr>
        <p:spPr>
          <a:xfrm>
            <a:off x="2781300" y="2571750"/>
            <a:ext cx="552450" cy="590550"/>
          </a:xfrm>
          <a:prstGeom prst="rect">
            <a:avLst/>
          </a:prstGeom>
          <a:noFill/>
          <a:ln w="0">
            <a:noFill/>
            <a:prstDash val="solid"/>
          </a:ln>
        </p:spPr>
        <p:txBody>
          <a:bodyPr lIns="0" tIns="0" rIns="0" bIns="0" anchor="ctr"/>
          <a:lstStyle/>
          <a:p>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14" name="타원 13">
            <a:extLst>
              <a:ext uri="{FF2B5EF4-FFF2-40B4-BE49-F238E27FC236}">
                <a16:creationId xmlns:a16="http://schemas.microsoft.com/office/drawing/2014/main" id="{6EA31244-7114-49A3-81C4-D03195C248B1}"/>
              </a:ext>
            </a:extLst>
          </p:cNvPr>
          <p:cNvSpPr>
            <a:spLocks noGrp="1"/>
          </p:cNvSpPr>
          <p:nvPr/>
        </p:nvSpPr>
        <p:spPr>
          <a:xfrm>
            <a:off x="3714750" y="2476500"/>
            <a:ext cx="800100" cy="800100"/>
          </a:xfrm>
          <a:prstGeom prst="ellipse">
            <a:avLst/>
          </a:prstGeom>
          <a:solidFill>
            <a:srgbClr val="051C2C"/>
          </a:solidFill>
          <a:ln w="0">
            <a:solidFill>
              <a:srgbClr val="051C2C"/>
            </a:solidFill>
            <a:prstDash val="solid"/>
          </a:ln>
        </p:spPr>
      </p:sp>
      <p:sp>
        <p:nvSpPr>
          <p:cNvPr id="15" name="직사각형 14">
            <a:extLst>
              <a:ext uri="{FF2B5EF4-FFF2-40B4-BE49-F238E27FC236}">
                <a16:creationId xmlns:a16="http://schemas.microsoft.com/office/drawing/2014/main" id="{D6B5BDD2-1DBB-41E8-A5FE-AB427AD8008D}"/>
              </a:ext>
            </a:extLst>
          </p:cNvPr>
          <p:cNvSpPr>
            <a:spLocks noGrp="1"/>
          </p:cNvSpPr>
          <p:nvPr/>
        </p:nvSpPr>
        <p:spPr>
          <a:xfrm>
            <a:off x="37147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2</a:t>
            </a:r>
          </a:p>
        </p:txBody>
      </p:sp>
      <p:sp>
        <p:nvSpPr>
          <p:cNvPr id="16" name="직사각형 15">
            <a:extLst>
              <a:ext uri="{FF2B5EF4-FFF2-40B4-BE49-F238E27FC236}">
                <a16:creationId xmlns:a16="http://schemas.microsoft.com/office/drawing/2014/main" id="{424719F5-B3B4-4941-B157-262F24F689F8}"/>
              </a:ext>
            </a:extLst>
          </p:cNvPr>
          <p:cNvSpPr>
            <a:spLocks noGrp="1"/>
          </p:cNvSpPr>
          <p:nvPr/>
        </p:nvSpPr>
        <p:spPr>
          <a:xfrm>
            <a:off x="30480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품목 확정</a:t>
            </a:r>
          </a:p>
        </p:txBody>
      </p:sp>
      <p:sp>
        <p:nvSpPr>
          <p:cNvPr id="17" name="직사각형 16">
            <a:extLst>
              <a:ext uri="{FF2B5EF4-FFF2-40B4-BE49-F238E27FC236}">
                <a16:creationId xmlns:a16="http://schemas.microsoft.com/office/drawing/2014/main" id="{DC6B05BC-BBE4-4907-A0F1-4E5CE8E9A927}"/>
              </a:ext>
            </a:extLst>
          </p:cNvPr>
          <p:cNvSpPr>
            <a:spLocks noGrp="1"/>
          </p:cNvSpPr>
          <p:nvPr/>
        </p:nvSpPr>
        <p:spPr>
          <a:xfrm>
            <a:off x="31623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HS·HSK 사용자 확인</a:t>
            </a:r>
          </a:p>
        </p:txBody>
      </p:sp>
      <p:sp>
        <p:nvSpPr>
          <p:cNvPr id="18" name="직사각형 17">
            <a:extLst>
              <a:ext uri="{FF2B5EF4-FFF2-40B4-BE49-F238E27FC236}">
                <a16:creationId xmlns:a16="http://schemas.microsoft.com/office/drawing/2014/main" id="{CCAC1518-385E-42E8-9429-35D324169C3D}"/>
              </a:ext>
            </a:extLst>
          </p:cNvPr>
          <p:cNvSpPr>
            <a:spLocks noGrp="1"/>
          </p:cNvSpPr>
          <p:nvPr/>
        </p:nvSpPr>
        <p:spPr>
          <a:xfrm>
            <a:off x="4914900" y="2571750"/>
            <a:ext cx="552450" cy="590550"/>
          </a:xfrm>
          <a:prstGeom prst="rect">
            <a:avLst/>
          </a:prstGeom>
          <a:noFill/>
          <a:ln w="0">
            <a:noFill/>
            <a:prstDash val="solid"/>
          </a:ln>
        </p:spPr>
        <p:txBody>
          <a:bodyPr lIns="0" tIns="0" rIns="0" bIns="0" anchor="ctr"/>
          <a:lstStyle/>
          <a:p>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19" name="타원 18">
            <a:extLst>
              <a:ext uri="{FF2B5EF4-FFF2-40B4-BE49-F238E27FC236}">
                <a16:creationId xmlns:a16="http://schemas.microsoft.com/office/drawing/2014/main" id="{5F8D2B7B-3F0B-4C27-BDA8-58D7061C9B77}"/>
              </a:ext>
            </a:extLst>
          </p:cNvPr>
          <p:cNvSpPr>
            <a:spLocks noGrp="1"/>
          </p:cNvSpPr>
          <p:nvPr/>
        </p:nvSpPr>
        <p:spPr>
          <a:xfrm>
            <a:off x="5848350" y="2476500"/>
            <a:ext cx="800100" cy="800100"/>
          </a:xfrm>
          <a:prstGeom prst="ellipse">
            <a:avLst/>
          </a:prstGeom>
          <a:solidFill>
            <a:srgbClr val="051C2C"/>
          </a:solidFill>
          <a:ln w="0">
            <a:solidFill>
              <a:srgbClr val="051C2C"/>
            </a:solidFill>
            <a:prstDash val="solid"/>
          </a:ln>
        </p:spPr>
      </p:sp>
      <p:sp>
        <p:nvSpPr>
          <p:cNvPr id="20" name="직사각형 19">
            <a:extLst>
              <a:ext uri="{FF2B5EF4-FFF2-40B4-BE49-F238E27FC236}">
                <a16:creationId xmlns:a16="http://schemas.microsoft.com/office/drawing/2014/main" id="{2DB67072-DF1E-40AE-8809-8C97B0DFA77F}"/>
              </a:ext>
            </a:extLst>
          </p:cNvPr>
          <p:cNvSpPr>
            <a:spLocks noGrp="1"/>
          </p:cNvSpPr>
          <p:nvPr/>
        </p:nvSpPr>
        <p:spPr>
          <a:xfrm>
            <a:off x="58483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3</a:t>
            </a:r>
          </a:p>
        </p:txBody>
      </p:sp>
      <p:sp>
        <p:nvSpPr>
          <p:cNvPr id="21" name="직사각형 20">
            <a:extLst>
              <a:ext uri="{FF2B5EF4-FFF2-40B4-BE49-F238E27FC236}">
                <a16:creationId xmlns:a16="http://schemas.microsoft.com/office/drawing/2014/main" id="{774D2AC2-FAF9-44D9-B188-B29A3B6FCAC4}"/>
              </a:ext>
            </a:extLst>
          </p:cNvPr>
          <p:cNvSpPr>
            <a:spLocks noGrp="1"/>
          </p:cNvSpPr>
          <p:nvPr/>
        </p:nvSpPr>
        <p:spPr>
          <a:xfrm>
            <a:off x="51816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후보국 Top 3</a:t>
            </a:r>
          </a:p>
        </p:txBody>
      </p:sp>
      <p:sp>
        <p:nvSpPr>
          <p:cNvPr id="22" name="직사각형 21">
            <a:extLst>
              <a:ext uri="{FF2B5EF4-FFF2-40B4-BE49-F238E27FC236}">
                <a16:creationId xmlns:a16="http://schemas.microsoft.com/office/drawing/2014/main" id="{328922A8-6F3E-41F3-9B01-597BF1F53EE7}"/>
              </a:ext>
            </a:extLst>
          </p:cNvPr>
          <p:cNvSpPr>
            <a:spLocks noGrp="1"/>
          </p:cNvSpPr>
          <p:nvPr/>
        </p:nvSpPr>
        <p:spPr>
          <a:xfrm>
            <a:off x="52959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시장·규제·결제 근거</a:t>
            </a:r>
          </a:p>
        </p:txBody>
      </p:sp>
      <p:sp>
        <p:nvSpPr>
          <p:cNvPr id="23" name="직사각형 22">
            <a:extLst>
              <a:ext uri="{FF2B5EF4-FFF2-40B4-BE49-F238E27FC236}">
                <a16:creationId xmlns:a16="http://schemas.microsoft.com/office/drawing/2014/main" id="{FF167FFE-0CB6-4EF5-B854-FE8C29333C97}"/>
              </a:ext>
            </a:extLst>
          </p:cNvPr>
          <p:cNvSpPr>
            <a:spLocks noGrp="1"/>
          </p:cNvSpPr>
          <p:nvPr/>
        </p:nvSpPr>
        <p:spPr>
          <a:xfrm>
            <a:off x="7048500" y="2571750"/>
            <a:ext cx="552450" cy="590550"/>
          </a:xfrm>
          <a:prstGeom prst="rect">
            <a:avLst/>
          </a:prstGeom>
          <a:noFill/>
          <a:ln w="0">
            <a:noFill/>
            <a:prstDash val="solid"/>
          </a:ln>
        </p:spPr>
        <p:txBody>
          <a:bodyPr lIns="0" tIns="0" rIns="0" bIns="0" anchor="ctr"/>
          <a:lstStyle/>
          <a:p>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24" name="타원 23">
            <a:extLst>
              <a:ext uri="{FF2B5EF4-FFF2-40B4-BE49-F238E27FC236}">
                <a16:creationId xmlns:a16="http://schemas.microsoft.com/office/drawing/2014/main" id="{74D76404-5ABB-4ACE-9967-5696FED9468E}"/>
              </a:ext>
            </a:extLst>
          </p:cNvPr>
          <p:cNvSpPr>
            <a:spLocks noGrp="1"/>
          </p:cNvSpPr>
          <p:nvPr/>
        </p:nvSpPr>
        <p:spPr>
          <a:xfrm>
            <a:off x="7981950" y="2476500"/>
            <a:ext cx="800100" cy="800100"/>
          </a:xfrm>
          <a:prstGeom prst="ellipse">
            <a:avLst/>
          </a:prstGeom>
          <a:solidFill>
            <a:srgbClr val="051C2C"/>
          </a:solidFill>
          <a:ln w="0">
            <a:solidFill>
              <a:srgbClr val="051C2C"/>
            </a:solidFill>
            <a:prstDash val="solid"/>
          </a:ln>
        </p:spPr>
      </p:sp>
      <p:sp>
        <p:nvSpPr>
          <p:cNvPr id="25" name="직사각형 24">
            <a:extLst>
              <a:ext uri="{FF2B5EF4-FFF2-40B4-BE49-F238E27FC236}">
                <a16:creationId xmlns:a16="http://schemas.microsoft.com/office/drawing/2014/main" id="{775E99C4-340C-479A-97A5-AE0CAB34D53F}"/>
              </a:ext>
            </a:extLst>
          </p:cNvPr>
          <p:cNvSpPr>
            <a:spLocks noGrp="1"/>
          </p:cNvSpPr>
          <p:nvPr/>
        </p:nvSpPr>
        <p:spPr>
          <a:xfrm>
            <a:off x="79819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4</a:t>
            </a:r>
          </a:p>
        </p:txBody>
      </p:sp>
      <p:sp>
        <p:nvSpPr>
          <p:cNvPr id="26" name="직사각형 25">
            <a:extLst>
              <a:ext uri="{FF2B5EF4-FFF2-40B4-BE49-F238E27FC236}">
                <a16:creationId xmlns:a16="http://schemas.microsoft.com/office/drawing/2014/main" id="{6660826C-9AE2-4061-890F-CDC1548E4ED2}"/>
              </a:ext>
            </a:extLst>
          </p:cNvPr>
          <p:cNvSpPr>
            <a:spLocks noGrp="1"/>
          </p:cNvSpPr>
          <p:nvPr/>
        </p:nvSpPr>
        <p:spPr>
          <a:xfrm>
            <a:off x="73152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국가 상세</a:t>
            </a:r>
          </a:p>
        </p:txBody>
      </p:sp>
      <p:sp>
        <p:nvSpPr>
          <p:cNvPr id="27" name="직사각형 26">
            <a:extLst>
              <a:ext uri="{FF2B5EF4-FFF2-40B4-BE49-F238E27FC236}">
                <a16:creationId xmlns:a16="http://schemas.microsoft.com/office/drawing/2014/main" id="{0A0D40ED-2155-4D55-AEC9-D69F5F3421C9}"/>
              </a:ext>
            </a:extLst>
          </p:cNvPr>
          <p:cNvSpPr>
            <a:spLocks noGrp="1"/>
          </p:cNvSpPr>
          <p:nvPr/>
        </p:nvSpPr>
        <p:spPr>
          <a:xfrm>
            <a:off x="74295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기회와 준비도 분리</a:t>
            </a:r>
          </a:p>
        </p:txBody>
      </p:sp>
      <p:sp>
        <p:nvSpPr>
          <p:cNvPr id="28" name="직사각형 27">
            <a:extLst>
              <a:ext uri="{FF2B5EF4-FFF2-40B4-BE49-F238E27FC236}">
                <a16:creationId xmlns:a16="http://schemas.microsoft.com/office/drawing/2014/main" id="{911E4C02-C9D1-447A-8D70-8EC36A5ED8A5}"/>
              </a:ext>
            </a:extLst>
          </p:cNvPr>
          <p:cNvSpPr>
            <a:spLocks noGrp="1"/>
          </p:cNvSpPr>
          <p:nvPr/>
        </p:nvSpPr>
        <p:spPr>
          <a:xfrm>
            <a:off x="9182100" y="2571750"/>
            <a:ext cx="552450" cy="590550"/>
          </a:xfrm>
          <a:prstGeom prst="rect">
            <a:avLst/>
          </a:prstGeom>
          <a:noFill/>
          <a:ln w="0">
            <a:noFill/>
            <a:prstDash val="solid"/>
          </a:ln>
        </p:spPr>
        <p:txBody>
          <a:bodyPr lIns="0" tIns="0" rIns="0" bIns="0" anchor="ctr"/>
          <a:lstStyle/>
          <a:p>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29" name="타원 28">
            <a:extLst>
              <a:ext uri="{FF2B5EF4-FFF2-40B4-BE49-F238E27FC236}">
                <a16:creationId xmlns:a16="http://schemas.microsoft.com/office/drawing/2014/main" id="{38124A0F-26EB-49F3-92B5-CABAF633ED1A}"/>
              </a:ext>
            </a:extLst>
          </p:cNvPr>
          <p:cNvSpPr>
            <a:spLocks noGrp="1"/>
          </p:cNvSpPr>
          <p:nvPr/>
        </p:nvSpPr>
        <p:spPr>
          <a:xfrm>
            <a:off x="10115550" y="2476500"/>
            <a:ext cx="800100" cy="800100"/>
          </a:xfrm>
          <a:prstGeom prst="ellipse">
            <a:avLst/>
          </a:prstGeom>
          <a:solidFill>
            <a:srgbClr val="00A58A"/>
          </a:solidFill>
          <a:ln w="0">
            <a:solidFill>
              <a:srgbClr val="00A58A"/>
            </a:solidFill>
            <a:prstDash val="solid"/>
          </a:ln>
        </p:spPr>
      </p:sp>
      <p:sp>
        <p:nvSpPr>
          <p:cNvPr id="30" name="직사각형 29">
            <a:extLst>
              <a:ext uri="{FF2B5EF4-FFF2-40B4-BE49-F238E27FC236}">
                <a16:creationId xmlns:a16="http://schemas.microsoft.com/office/drawing/2014/main" id="{3CB62F57-C804-4303-92AF-6E3CBF3E5A15}"/>
              </a:ext>
            </a:extLst>
          </p:cNvPr>
          <p:cNvSpPr>
            <a:spLocks noGrp="1"/>
          </p:cNvSpPr>
          <p:nvPr/>
        </p:nvSpPr>
        <p:spPr>
          <a:xfrm>
            <a:off x="101155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5</a:t>
            </a:r>
          </a:p>
        </p:txBody>
      </p:sp>
      <p:sp>
        <p:nvSpPr>
          <p:cNvPr id="31" name="직사각형 30">
            <a:extLst>
              <a:ext uri="{FF2B5EF4-FFF2-40B4-BE49-F238E27FC236}">
                <a16:creationId xmlns:a16="http://schemas.microsoft.com/office/drawing/2014/main" id="{3423FFAF-DE3B-453A-BCCC-6DD32CDDD297}"/>
              </a:ext>
            </a:extLst>
          </p:cNvPr>
          <p:cNvSpPr>
            <a:spLocks noGrp="1"/>
          </p:cNvSpPr>
          <p:nvPr/>
        </p:nvSpPr>
        <p:spPr>
          <a:xfrm>
            <a:off x="94488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실행 리포트</a:t>
            </a:r>
          </a:p>
        </p:txBody>
      </p:sp>
      <p:sp>
        <p:nvSpPr>
          <p:cNvPr id="32" name="직사각형 31">
            <a:extLst>
              <a:ext uri="{FF2B5EF4-FFF2-40B4-BE49-F238E27FC236}">
                <a16:creationId xmlns:a16="http://schemas.microsoft.com/office/drawing/2014/main" id="{B53C1322-A112-4768-A95F-6AFACE4F9FED}"/>
              </a:ext>
            </a:extLst>
          </p:cNvPr>
          <p:cNvSpPr>
            <a:spLocks noGrp="1"/>
          </p:cNvSpPr>
          <p:nvPr/>
        </p:nvSpPr>
        <p:spPr>
          <a:xfrm>
            <a:off x="95631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조건부 판단·행동·PDF</a:t>
            </a:r>
          </a:p>
        </p:txBody>
      </p:sp>
      <p:sp>
        <p:nvSpPr>
          <p:cNvPr id="33" name="사각형: 둥근 모서리 32">
            <a:extLst>
              <a:ext uri="{FF2B5EF4-FFF2-40B4-BE49-F238E27FC236}">
                <a16:creationId xmlns:a16="http://schemas.microsoft.com/office/drawing/2014/main" id="{CF1BA001-6AE0-4F5B-873B-F17FC13B30BD}"/>
              </a:ext>
            </a:extLst>
          </p:cNvPr>
          <p:cNvSpPr>
            <a:spLocks noGrp="1"/>
          </p:cNvSpPr>
          <p:nvPr/>
        </p:nvSpPr>
        <p:spPr>
          <a:xfrm>
            <a:off x="1524000" y="5124450"/>
            <a:ext cx="9144000" cy="666750"/>
          </a:xfrm>
          <a:prstGeom prst="roundRect">
            <a:avLst>
              <a:gd name="adj" fmla="val 17143"/>
            </a:avLst>
          </a:prstGeom>
          <a:solidFill>
            <a:srgbClr val="E3F6F2"/>
          </a:solidFill>
          <a:ln w="0">
            <a:solidFill>
              <a:srgbClr val="E3F6F2"/>
            </a:solidFill>
            <a:prstDash val="solid"/>
          </a:ln>
        </p:spPr>
      </p:sp>
      <p:sp>
        <p:nvSpPr>
          <p:cNvPr id="34" name="직사각형 33">
            <a:extLst>
              <a:ext uri="{FF2B5EF4-FFF2-40B4-BE49-F238E27FC236}">
                <a16:creationId xmlns:a16="http://schemas.microsoft.com/office/drawing/2014/main" id="{06BFE40C-891B-4785-B2AD-A8775806C7EF}"/>
              </a:ext>
            </a:extLst>
          </p:cNvPr>
          <p:cNvSpPr>
            <a:spLocks noGrp="1"/>
          </p:cNvSpPr>
          <p:nvPr/>
        </p:nvSpPr>
        <p:spPr>
          <a:xfrm>
            <a:off x="1866900" y="5238750"/>
            <a:ext cx="1714500" cy="4381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INPUT</a:t>
            </a:r>
          </a:p>
        </p:txBody>
      </p:sp>
      <p:sp>
        <p:nvSpPr>
          <p:cNvPr id="35" name="직사각형 34">
            <a:extLst>
              <a:ext uri="{FF2B5EF4-FFF2-40B4-BE49-F238E27FC236}">
                <a16:creationId xmlns:a16="http://schemas.microsoft.com/office/drawing/2014/main" id="{CEE9B225-6A93-4AE9-89D3-394FD54332B8}"/>
              </a:ext>
            </a:extLst>
          </p:cNvPr>
          <p:cNvSpPr>
            <a:spLocks noGrp="1"/>
          </p:cNvSpPr>
          <p:nvPr/>
        </p:nvSpPr>
        <p:spPr>
          <a:xfrm>
            <a:off x="4781550" y="5238750"/>
            <a:ext cx="2628900" cy="4381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  JUDGMENT  →</a:t>
            </a:r>
          </a:p>
        </p:txBody>
      </p:sp>
      <p:sp>
        <p:nvSpPr>
          <p:cNvPr id="36" name="직사각형 35">
            <a:extLst>
              <a:ext uri="{FF2B5EF4-FFF2-40B4-BE49-F238E27FC236}">
                <a16:creationId xmlns:a16="http://schemas.microsoft.com/office/drawing/2014/main" id="{7CA65169-AB0F-49E5-B995-25A718A30D7A}"/>
              </a:ext>
            </a:extLst>
          </p:cNvPr>
          <p:cNvSpPr>
            <a:spLocks noGrp="1"/>
          </p:cNvSpPr>
          <p:nvPr/>
        </p:nvSpPr>
        <p:spPr>
          <a:xfrm>
            <a:off x="8572500" y="5238750"/>
            <a:ext cx="1714500" cy="4381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ACTION</a:t>
            </a:r>
          </a:p>
        </p:txBody>
      </p:sp>
    </p:spTree>
    <p:extLst>
      <p:ext uri="{BB962C8B-B14F-4D97-AF65-F5344CB8AC3E}">
        <p14:creationId xmlns:p14="http://schemas.microsoft.com/office/powerpoint/2010/main" val="585230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0668BE71-5BF0-4C81-B65B-C5FA647D84E5}"/>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1–2</a:t>
            </a:r>
          </a:p>
        </p:txBody>
      </p:sp>
      <p:sp>
        <p:nvSpPr>
          <p:cNvPr id="2" name="slide-6-title">
            <a:extLst>
              <a:ext uri="{FF2B5EF4-FFF2-40B4-BE49-F238E27FC236}">
                <a16:creationId xmlns:a16="http://schemas.microsoft.com/office/drawing/2014/main" id="{D6622B4B-DB3B-43F1-9214-F00BFFE25A69}"/>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공식 기업정보와 품목코드가 분석의 출발점을 고정합니다</a:t>
            </a:r>
          </a:p>
        </p:txBody>
      </p:sp>
      <p:sp>
        <p:nvSpPr>
          <p:cNvPr id="3" name="직사각형 2">
            <a:extLst>
              <a:ext uri="{FF2B5EF4-FFF2-40B4-BE49-F238E27FC236}">
                <a16:creationId xmlns:a16="http://schemas.microsoft.com/office/drawing/2014/main" id="{B8212FDE-DCF2-44E4-90C1-E268067483C6}"/>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03358494-C38C-403F-B7CE-001E250D0546}"/>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576CCD78-2059-4222-87DC-BBEC2D60F554}"/>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7" name="직사각형 6">
            <a:extLst>
              <a:ext uri="{FF2B5EF4-FFF2-40B4-BE49-F238E27FC236}">
                <a16:creationId xmlns:a16="http://schemas.microsoft.com/office/drawing/2014/main" id="{1F91E7A5-0316-457A-99FB-44C5EBCECD27}"/>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06</a:t>
            </a:r>
          </a:p>
        </p:txBody>
      </p:sp>
      <p:sp>
        <p:nvSpPr>
          <p:cNvPr id="8" name="사각형: 둥근 모서리 7">
            <a:extLst>
              <a:ext uri="{FF2B5EF4-FFF2-40B4-BE49-F238E27FC236}">
                <a16:creationId xmlns:a16="http://schemas.microsoft.com/office/drawing/2014/main" id="{13EBA3B5-29C2-48B4-B6B6-44773765906C}"/>
              </a:ext>
            </a:extLst>
          </p:cNvPr>
          <p:cNvSpPr>
            <a:spLocks noGrp="1"/>
          </p:cNvSpPr>
          <p:nvPr/>
        </p:nvSpPr>
        <p:spPr>
          <a:xfrm>
            <a:off x="552450" y="1409700"/>
            <a:ext cx="5334000" cy="3981450"/>
          </a:xfrm>
          <a:prstGeom prst="roundRect">
            <a:avLst>
              <a:gd name="adj" fmla="val 2871"/>
            </a:avLst>
          </a:prstGeom>
          <a:solidFill>
            <a:srgbClr val="FFFFFF"/>
          </a:solidFill>
          <a:ln w="9525">
            <a:solidFill>
              <a:srgbClr val="D7DEE2"/>
            </a:solidFill>
            <a:prstDash val="solid"/>
          </a:ln>
        </p:spPr>
      </p:sp>
      <p:sp>
        <p:nvSpPr>
          <p:cNvPr id="9" name="사각형: 둥근 모서리 8">
            <a:extLst>
              <a:ext uri="{FF2B5EF4-FFF2-40B4-BE49-F238E27FC236}">
                <a16:creationId xmlns:a16="http://schemas.microsoft.com/office/drawing/2014/main" id="{C9202CED-F63D-4C20-ABBB-BB13CD943F7E}"/>
              </a:ext>
            </a:extLst>
          </p:cNvPr>
          <p:cNvSpPr>
            <a:spLocks noGrp="1"/>
          </p:cNvSpPr>
          <p:nvPr/>
        </p:nvSpPr>
        <p:spPr>
          <a:xfrm>
            <a:off x="742950" y="1600200"/>
            <a:ext cx="1123950" cy="285750"/>
          </a:xfrm>
          <a:prstGeom prst="roundRect">
            <a:avLst>
              <a:gd name="adj" fmla="val 40000"/>
            </a:avLst>
          </a:prstGeom>
          <a:solidFill>
            <a:srgbClr val="051C2C"/>
          </a:solidFill>
          <a:ln w="0">
            <a:solidFill>
              <a:srgbClr val="051C2C"/>
            </a:solidFill>
            <a:prstDash val="solid"/>
          </a:ln>
        </p:spPr>
      </p:sp>
      <p:sp>
        <p:nvSpPr>
          <p:cNvPr id="10" name="직사각형 9">
            <a:extLst>
              <a:ext uri="{FF2B5EF4-FFF2-40B4-BE49-F238E27FC236}">
                <a16:creationId xmlns:a16="http://schemas.microsoft.com/office/drawing/2014/main" id="{C0B6CB34-27C5-4F11-9CD4-F7A3B8501FF9}"/>
              </a:ext>
            </a:extLst>
          </p:cNvPr>
          <p:cNvSpPr>
            <a:spLocks noGrp="1"/>
          </p:cNvSpPr>
          <p:nvPr/>
        </p:nvSpPr>
        <p:spPr>
          <a:xfrm>
            <a:off x="742950" y="1600200"/>
            <a:ext cx="11239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01  기업 확인</a:t>
            </a:r>
          </a:p>
        </p:txBody>
      </p:sp>
      <p:pic>
        <p:nvPicPr>
          <p:cNvPr id="31" name="그림 30"/>
          <p:cNvPicPr>
            <a:picLocks noChangeAspect="1"/>
          </p:cNvPicPr>
          <p:nvPr/>
        </p:nvPicPr>
        <p:blipFill>
          <a:blip r:embed="rId3"/>
          <a:stretch/>
        </p:blipFill>
        <p:spPr>
          <a:xfrm>
            <a:off x="765362" y="2162614"/>
            <a:ext cx="5219700" cy="3285686"/>
          </a:xfrm>
          <a:prstGeom prst="roundRect">
            <a:avLst>
              <a:gd name="adj" fmla="val 2956"/>
            </a:avLst>
          </a:prstGeom>
        </p:spPr>
      </p:pic>
      <p:sp>
        <p:nvSpPr>
          <p:cNvPr id="12" name="사각형: 둥근 모서리 11">
            <a:extLst>
              <a:ext uri="{FF2B5EF4-FFF2-40B4-BE49-F238E27FC236}">
                <a16:creationId xmlns:a16="http://schemas.microsoft.com/office/drawing/2014/main" id="{7F9AA037-548D-4475-BC95-EF0F7EB444BA}"/>
              </a:ext>
            </a:extLst>
          </p:cNvPr>
          <p:cNvSpPr>
            <a:spLocks noGrp="1"/>
          </p:cNvSpPr>
          <p:nvPr/>
        </p:nvSpPr>
        <p:spPr>
          <a:xfrm>
            <a:off x="6305550" y="1409700"/>
            <a:ext cx="5334000" cy="3981450"/>
          </a:xfrm>
          <a:prstGeom prst="roundRect">
            <a:avLst>
              <a:gd name="adj" fmla="val 2871"/>
            </a:avLst>
          </a:prstGeom>
          <a:solidFill>
            <a:srgbClr val="FFFFFF"/>
          </a:solidFill>
          <a:ln w="9525">
            <a:solidFill>
              <a:srgbClr val="D7DEE2"/>
            </a:solidFill>
            <a:prstDash val="solid"/>
          </a:ln>
        </p:spPr>
      </p:sp>
      <p:sp>
        <p:nvSpPr>
          <p:cNvPr id="13" name="사각형: 둥근 모서리 12">
            <a:extLst>
              <a:ext uri="{FF2B5EF4-FFF2-40B4-BE49-F238E27FC236}">
                <a16:creationId xmlns:a16="http://schemas.microsoft.com/office/drawing/2014/main" id="{A6D7CCDD-DED5-4388-B463-69A9B82441EF}"/>
              </a:ext>
            </a:extLst>
          </p:cNvPr>
          <p:cNvSpPr>
            <a:spLocks noGrp="1"/>
          </p:cNvSpPr>
          <p:nvPr/>
        </p:nvSpPr>
        <p:spPr>
          <a:xfrm>
            <a:off x="6496050" y="1600200"/>
            <a:ext cx="1123950" cy="285750"/>
          </a:xfrm>
          <a:prstGeom prst="roundRect">
            <a:avLst>
              <a:gd name="adj" fmla="val 40000"/>
            </a:avLst>
          </a:prstGeom>
          <a:solidFill>
            <a:srgbClr val="051C2C"/>
          </a:solidFill>
          <a:ln w="0">
            <a:solidFill>
              <a:srgbClr val="051C2C"/>
            </a:solidFill>
            <a:prstDash val="solid"/>
          </a:ln>
        </p:spPr>
      </p:sp>
      <p:sp>
        <p:nvSpPr>
          <p:cNvPr id="14" name="직사각형 13">
            <a:extLst>
              <a:ext uri="{FF2B5EF4-FFF2-40B4-BE49-F238E27FC236}">
                <a16:creationId xmlns:a16="http://schemas.microsoft.com/office/drawing/2014/main" id="{D1FD620E-3D3F-41AD-B60B-4380874F53D6}"/>
              </a:ext>
            </a:extLst>
          </p:cNvPr>
          <p:cNvSpPr>
            <a:spLocks noGrp="1"/>
          </p:cNvSpPr>
          <p:nvPr/>
        </p:nvSpPr>
        <p:spPr>
          <a:xfrm>
            <a:off x="6496050" y="1600200"/>
            <a:ext cx="11239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02  품목 확정</a:t>
            </a:r>
          </a:p>
        </p:txBody>
      </p:sp>
      <p:pic>
        <p:nvPicPr>
          <p:cNvPr id="35" name="그림 34"/>
          <p:cNvPicPr>
            <a:picLocks noChangeAspect="1"/>
          </p:cNvPicPr>
          <p:nvPr/>
        </p:nvPicPr>
        <p:blipFill>
          <a:blip r:embed="rId4"/>
          <a:stretch/>
        </p:blipFill>
        <p:spPr>
          <a:xfrm>
            <a:off x="6324600" y="2105464"/>
            <a:ext cx="5219700" cy="3285686"/>
          </a:xfrm>
          <a:prstGeom prst="roundRect">
            <a:avLst>
              <a:gd name="adj" fmla="val 2956"/>
            </a:avLst>
          </a:prstGeom>
        </p:spPr>
      </p:pic>
      <p:sp>
        <p:nvSpPr>
          <p:cNvPr id="16" name="사각형: 둥근 모서리 15">
            <a:extLst>
              <a:ext uri="{FF2B5EF4-FFF2-40B4-BE49-F238E27FC236}">
                <a16:creationId xmlns:a16="http://schemas.microsoft.com/office/drawing/2014/main" id="{CD62FDA4-E0BA-43A5-8AA1-8F4270DF7655}"/>
              </a:ext>
            </a:extLst>
          </p:cNvPr>
          <p:cNvSpPr>
            <a:spLocks noGrp="1"/>
          </p:cNvSpPr>
          <p:nvPr/>
        </p:nvSpPr>
        <p:spPr>
          <a:xfrm>
            <a:off x="609600" y="5543550"/>
            <a:ext cx="10972800" cy="590550"/>
          </a:xfrm>
          <a:prstGeom prst="roundRect">
            <a:avLst>
              <a:gd name="adj" fmla="val 19355"/>
            </a:avLst>
          </a:prstGeom>
          <a:solidFill>
            <a:srgbClr val="051C2C"/>
          </a:solidFill>
          <a:ln w="0">
            <a:solidFill>
              <a:srgbClr val="051C2C"/>
            </a:solidFill>
            <a:prstDash val="solid"/>
          </a:ln>
        </p:spPr>
      </p:sp>
      <p:sp>
        <p:nvSpPr>
          <p:cNvPr id="17" name="직사각형 16">
            <a:extLst>
              <a:ext uri="{FF2B5EF4-FFF2-40B4-BE49-F238E27FC236}">
                <a16:creationId xmlns:a16="http://schemas.microsoft.com/office/drawing/2014/main" id="{35EBAFEB-65F2-4174-9B11-0AB3F5844893}"/>
              </a:ext>
            </a:extLst>
          </p:cNvPr>
          <p:cNvSpPr>
            <a:spLocks noGrp="1"/>
          </p:cNvSpPr>
          <p:nvPr/>
        </p:nvSpPr>
        <p:spPr>
          <a:xfrm>
            <a:off x="819150" y="5638800"/>
            <a:ext cx="2000250" cy="400050"/>
          </a:xfrm>
          <a:prstGeom prst="rect">
            <a:avLst/>
          </a:prstGeom>
          <a:noFill/>
          <a:ln w="0">
            <a:noFill/>
            <a:prstDash val="solid"/>
          </a:ln>
        </p:spPr>
        <p:txBody>
          <a:bodyPr lIns="0" tIns="0" rIns="0" bIns="0" anchor="ctr"/>
          <a:lstStyle/>
          <a:p>
            <a:pPr algn="l">
              <a:defRPr sz="1500" b="1">
                <a:solidFill>
                  <a:srgbClr val="FFFFFF"/>
                </a:solidFill>
                <a:latin typeface="Noto Sans KR"/>
                <a:ea typeface="Noto Sans KR"/>
                <a:cs typeface="Noto Sans KR"/>
              </a:defRPr>
            </a:pPr>
            <a:r>
              <a:rPr sz="1500" b="1">
                <a:solidFill>
                  <a:srgbClr val="FFFFFF"/>
                </a:solidFill>
                <a:latin typeface="Noto Sans KR"/>
                <a:ea typeface="Noto Sans KR"/>
                <a:cs typeface="Noto Sans KR"/>
              </a:rPr>
              <a:t>넥센타이어</a:t>
            </a:r>
          </a:p>
        </p:txBody>
      </p:sp>
      <p:sp>
        <p:nvSpPr>
          <p:cNvPr id="18" name="직사각형 17">
            <a:extLst>
              <a:ext uri="{FF2B5EF4-FFF2-40B4-BE49-F238E27FC236}">
                <a16:creationId xmlns:a16="http://schemas.microsoft.com/office/drawing/2014/main" id="{CCF976C7-63FE-4F15-A1E0-6969A68C17DD}"/>
              </a:ext>
            </a:extLst>
          </p:cNvPr>
          <p:cNvSpPr>
            <a:spLocks noGrp="1"/>
          </p:cNvSpPr>
          <p:nvPr/>
        </p:nvSpPr>
        <p:spPr>
          <a:xfrm>
            <a:off x="3829050" y="5638800"/>
            <a:ext cx="1905000" cy="400050"/>
          </a:xfrm>
          <a:prstGeom prst="rect">
            <a:avLst/>
          </a:prstGeom>
          <a:noFill/>
          <a:ln w="0">
            <a:noFill/>
            <a:prstDash val="solid"/>
          </a:ln>
        </p:spPr>
        <p:txBody>
          <a:bodyPr lIns="0" tIns="0" rIns="0" bIns="0" anchor="ctr"/>
          <a:lstStyle/>
          <a:p>
            <a:pPr algn="ctr">
              <a:defRPr sz="1500" b="1">
                <a:solidFill>
                  <a:srgbClr val="8FD8CB"/>
                </a:solidFill>
                <a:latin typeface="Noto Sans KR"/>
                <a:ea typeface="Noto Sans KR"/>
                <a:cs typeface="Noto Sans KR"/>
              </a:defRPr>
            </a:pPr>
            <a:r>
              <a:rPr sz="1500" b="1">
                <a:solidFill>
                  <a:srgbClr val="8FD8CB"/>
                </a:solidFill>
                <a:latin typeface="Noto Sans KR"/>
                <a:ea typeface="Noto Sans KR"/>
                <a:cs typeface="Noto Sans KR"/>
              </a:rPr>
              <a:t>HS 401110</a:t>
            </a:r>
          </a:p>
        </p:txBody>
      </p:sp>
      <p:sp>
        <p:nvSpPr>
          <p:cNvPr id="19" name="직사각형 18">
            <a:extLst>
              <a:ext uri="{FF2B5EF4-FFF2-40B4-BE49-F238E27FC236}">
                <a16:creationId xmlns:a16="http://schemas.microsoft.com/office/drawing/2014/main" id="{653EEFE0-684B-4000-9F68-0F6D9EEAC95B}"/>
              </a:ext>
            </a:extLst>
          </p:cNvPr>
          <p:cNvSpPr>
            <a:spLocks noGrp="1"/>
          </p:cNvSpPr>
          <p:nvPr/>
        </p:nvSpPr>
        <p:spPr>
          <a:xfrm>
            <a:off x="6191250" y="5638800"/>
            <a:ext cx="2362200" cy="400050"/>
          </a:xfrm>
          <a:prstGeom prst="rect">
            <a:avLst/>
          </a:prstGeom>
          <a:noFill/>
          <a:ln w="0">
            <a:noFill/>
            <a:prstDash val="solid"/>
          </a:ln>
        </p:spPr>
        <p:txBody>
          <a:bodyPr lIns="0" tIns="0" rIns="0" bIns="0" anchor="ctr"/>
          <a:lstStyle/>
          <a:p>
            <a:pPr algn="ctr">
              <a:defRPr sz="1500" b="1">
                <a:solidFill>
                  <a:srgbClr val="8FD8CB"/>
                </a:solidFill>
                <a:latin typeface="Noto Sans KR"/>
                <a:ea typeface="Noto Sans KR"/>
                <a:cs typeface="Noto Sans KR"/>
              </a:defRPr>
            </a:pPr>
            <a:r>
              <a:rPr sz="1500" b="1">
                <a:solidFill>
                  <a:srgbClr val="8FD8CB"/>
                </a:solidFill>
                <a:latin typeface="Noto Sans KR"/>
                <a:ea typeface="Noto Sans KR"/>
                <a:cs typeface="Noto Sans KR"/>
              </a:rPr>
              <a:t>HSK 4011100000</a:t>
            </a:r>
          </a:p>
        </p:txBody>
      </p:sp>
      <p:sp>
        <p:nvSpPr>
          <p:cNvPr id="20" name="직사각형 19">
            <a:extLst>
              <a:ext uri="{FF2B5EF4-FFF2-40B4-BE49-F238E27FC236}">
                <a16:creationId xmlns:a16="http://schemas.microsoft.com/office/drawing/2014/main" id="{AC1E411A-7683-420C-A6DD-EDF4D8AB0CB2}"/>
              </a:ext>
            </a:extLst>
          </p:cNvPr>
          <p:cNvSpPr>
            <a:spLocks noGrp="1"/>
          </p:cNvSpPr>
          <p:nvPr/>
        </p:nvSpPr>
        <p:spPr>
          <a:xfrm>
            <a:off x="8782050" y="5638800"/>
            <a:ext cx="2571750" cy="400050"/>
          </a:xfrm>
          <a:prstGeom prst="rect">
            <a:avLst/>
          </a:prstGeom>
          <a:noFill/>
          <a:ln w="0">
            <a:noFill/>
            <a:prstDash val="solid"/>
          </a:ln>
        </p:spPr>
        <p:txBody>
          <a:bodyPr lIns="0" tIns="0" rIns="0" bIns="0" anchor="ctr"/>
          <a:lstStyle/>
          <a:p>
            <a:pPr algn="r">
              <a:defRPr sz="1125" b="0">
                <a:solidFill>
                  <a:srgbClr val="FFFFFF"/>
                </a:solidFill>
                <a:latin typeface="Noto Sans KR"/>
                <a:ea typeface="Noto Sans KR"/>
                <a:cs typeface="Noto Sans KR"/>
              </a:defRPr>
            </a:pPr>
            <a:r>
              <a:rPr sz="1125" b="0">
                <a:solidFill>
                  <a:srgbClr val="FFFFFF"/>
                </a:solidFill>
                <a:latin typeface="Noto Sans KR"/>
                <a:ea typeface="Noto Sans KR"/>
                <a:cs typeface="Noto Sans KR"/>
              </a:rPr>
              <a:t>AI 후보 제안  →  사용자 확정</a:t>
            </a:r>
          </a:p>
        </p:txBody>
      </p:sp>
    </p:spTree>
    <p:extLst>
      <p:ext uri="{BB962C8B-B14F-4D97-AF65-F5344CB8AC3E}">
        <p14:creationId xmlns:p14="http://schemas.microsoft.com/office/powerpoint/2010/main" val="2041097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id="{EBBC730E-B460-4F73-99E0-B7F68D90CA82}"/>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3</a:t>
            </a:r>
          </a:p>
        </p:txBody>
      </p:sp>
      <p:sp>
        <p:nvSpPr>
          <p:cNvPr id="2" name="slide-7-title">
            <a:extLst>
              <a:ext uri="{FF2B5EF4-FFF2-40B4-BE49-F238E27FC236}">
                <a16:creationId xmlns:a16="http://schemas.microsoft.com/office/drawing/2014/main" id="{DCCD620A-67BB-43E2-8680-EFF1C7EC338A}"/>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후보국은 시장성뿐 아니라 규제·결제·안전 근거로 좁혀집니다</a:t>
            </a:r>
          </a:p>
        </p:txBody>
      </p:sp>
      <p:sp>
        <p:nvSpPr>
          <p:cNvPr id="3" name="직사각형 2">
            <a:extLst>
              <a:ext uri="{FF2B5EF4-FFF2-40B4-BE49-F238E27FC236}">
                <a16:creationId xmlns:a16="http://schemas.microsoft.com/office/drawing/2014/main" id="{B1CE3BA8-CE12-48A1-82C2-6DEC1B01D517}"/>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CB0631AB-1B18-40DB-99F1-8698B439CB0C}"/>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6AD90EC5-235A-4B7D-8A68-9C638AA448D9}"/>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7" name="직사각형 6">
            <a:extLst>
              <a:ext uri="{FF2B5EF4-FFF2-40B4-BE49-F238E27FC236}">
                <a16:creationId xmlns:a16="http://schemas.microsoft.com/office/drawing/2014/main" id="{5527EA93-3740-41EE-A404-C9DA8A021F82}"/>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07</a:t>
            </a:r>
          </a:p>
        </p:txBody>
      </p:sp>
      <p:sp>
        <p:nvSpPr>
          <p:cNvPr id="8" name="직사각형 7">
            <a:extLst>
              <a:ext uri="{FF2B5EF4-FFF2-40B4-BE49-F238E27FC236}">
                <a16:creationId xmlns:a16="http://schemas.microsoft.com/office/drawing/2014/main" id="{3F8AC885-30F5-4B08-8D4F-F0FDB546F837}"/>
              </a:ext>
            </a:extLst>
          </p:cNvPr>
          <p:cNvSpPr>
            <a:spLocks noGrp="1"/>
          </p:cNvSpPr>
          <p:nvPr/>
        </p:nvSpPr>
        <p:spPr>
          <a:xfrm>
            <a:off x="685800" y="1428750"/>
            <a:ext cx="2667000" cy="476250"/>
          </a:xfrm>
          <a:prstGeom prst="rect">
            <a:avLst/>
          </a:prstGeom>
          <a:noFill/>
          <a:ln w="0">
            <a:noFill/>
            <a:prstDash val="solid"/>
          </a:ln>
        </p:spPr>
        <p:txBody>
          <a:bodyPr lIns="0" tIns="0" rIns="0" bIns="0" anchor="ctr"/>
          <a:lstStyle/>
          <a:p>
            <a:pPr algn="l">
              <a:defRPr sz="1200" b="1">
                <a:solidFill>
                  <a:srgbClr val="00A58A"/>
                </a:solidFill>
                <a:latin typeface="Noto Sans KR"/>
                <a:ea typeface="Noto Sans KR"/>
                <a:cs typeface="Noto Sans KR"/>
              </a:defRPr>
            </a:pPr>
            <a:r>
              <a:rPr sz="1200" b="1">
                <a:solidFill>
                  <a:srgbClr val="00A58A"/>
                </a:solidFill>
                <a:latin typeface="Noto Sans KR"/>
                <a:ea typeface="Noto Sans KR"/>
                <a:cs typeface="Noto Sans KR"/>
              </a:rPr>
              <a:t>TOP 3</a:t>
            </a:r>
          </a:p>
        </p:txBody>
      </p:sp>
      <p:sp>
        <p:nvSpPr>
          <p:cNvPr id="9" name="직사각형 8">
            <a:extLst>
              <a:ext uri="{FF2B5EF4-FFF2-40B4-BE49-F238E27FC236}">
                <a16:creationId xmlns:a16="http://schemas.microsoft.com/office/drawing/2014/main" id="{5BDD7D8B-E8D2-49A1-A06C-8CED2D354CF8}"/>
              </a:ext>
            </a:extLst>
          </p:cNvPr>
          <p:cNvSpPr>
            <a:spLocks noGrp="1"/>
          </p:cNvSpPr>
          <p:nvPr/>
        </p:nvSpPr>
        <p:spPr>
          <a:xfrm>
            <a:off x="685800" y="2019300"/>
            <a:ext cx="400050" cy="342900"/>
          </a:xfrm>
          <a:prstGeom prst="rect">
            <a:avLst/>
          </a:prstGeom>
          <a:noFill/>
          <a:ln w="0">
            <a:noFill/>
            <a:prstDash val="solid"/>
          </a:ln>
        </p:spPr>
        <p:txBody>
          <a:bodyPr lIns="0" tIns="0" rIns="0" bIns="0" anchor="ctr"/>
          <a:lstStyle/>
          <a:p>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01</a:t>
            </a:r>
          </a:p>
        </p:txBody>
      </p:sp>
      <p:sp>
        <p:nvSpPr>
          <p:cNvPr id="10" name="직사각형 9">
            <a:extLst>
              <a:ext uri="{FF2B5EF4-FFF2-40B4-BE49-F238E27FC236}">
                <a16:creationId xmlns:a16="http://schemas.microsoft.com/office/drawing/2014/main" id="{D80AE5F3-A2F5-4573-8F09-0D995C4FD062}"/>
              </a:ext>
            </a:extLst>
          </p:cNvPr>
          <p:cNvSpPr>
            <a:spLocks noGrp="1"/>
          </p:cNvSpPr>
          <p:nvPr/>
        </p:nvSpPr>
        <p:spPr>
          <a:xfrm>
            <a:off x="1181100" y="1981200"/>
            <a:ext cx="1714500" cy="400050"/>
          </a:xfrm>
          <a:prstGeom prst="rect">
            <a:avLst/>
          </a:prstGeom>
          <a:noFill/>
          <a:ln w="0">
            <a:noFill/>
            <a:prstDash val="solid"/>
          </a:ln>
        </p:spPr>
        <p:txBody>
          <a:bodyPr lIns="0" tIns="0" rIns="0" bIns="0" anchor="ctr"/>
          <a:lstStyle/>
          <a:p>
            <a:pPr algn="l">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미국</a:t>
            </a:r>
          </a:p>
        </p:txBody>
      </p:sp>
      <p:sp>
        <p:nvSpPr>
          <p:cNvPr id="11" name="직사각형 10">
            <a:extLst>
              <a:ext uri="{FF2B5EF4-FFF2-40B4-BE49-F238E27FC236}">
                <a16:creationId xmlns:a16="http://schemas.microsoft.com/office/drawing/2014/main" id="{0CF60E03-7B43-4003-9B18-13EC5D254213}"/>
              </a:ext>
            </a:extLst>
          </p:cNvPr>
          <p:cNvSpPr>
            <a:spLocks noGrp="1"/>
          </p:cNvSpPr>
          <p:nvPr/>
        </p:nvSpPr>
        <p:spPr>
          <a:xfrm>
            <a:off x="1181100" y="2400300"/>
            <a:ext cx="2343150" cy="3429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기회와 진입장벽 동시 검토</a:t>
            </a:r>
          </a:p>
        </p:txBody>
      </p:sp>
      <p:sp>
        <p:nvSpPr>
          <p:cNvPr id="12" name="직사각형 11">
            <a:extLst>
              <a:ext uri="{FF2B5EF4-FFF2-40B4-BE49-F238E27FC236}">
                <a16:creationId xmlns:a16="http://schemas.microsoft.com/office/drawing/2014/main" id="{7477A495-AFD4-4C22-95C8-BDD103D94740}"/>
              </a:ext>
            </a:extLst>
          </p:cNvPr>
          <p:cNvSpPr>
            <a:spLocks noGrp="1"/>
          </p:cNvSpPr>
          <p:nvPr/>
        </p:nvSpPr>
        <p:spPr>
          <a:xfrm>
            <a:off x="685800" y="2819400"/>
            <a:ext cx="2857500" cy="9525"/>
          </a:xfrm>
          <a:prstGeom prst="rect">
            <a:avLst/>
          </a:prstGeom>
          <a:solidFill>
            <a:srgbClr val="D7DEE2"/>
          </a:solidFill>
          <a:ln w="0">
            <a:solidFill>
              <a:srgbClr val="D7DEE2"/>
            </a:solidFill>
            <a:prstDash val="solid"/>
          </a:ln>
        </p:spPr>
      </p:sp>
      <p:sp>
        <p:nvSpPr>
          <p:cNvPr id="13" name="직사각형 12">
            <a:extLst>
              <a:ext uri="{FF2B5EF4-FFF2-40B4-BE49-F238E27FC236}">
                <a16:creationId xmlns:a16="http://schemas.microsoft.com/office/drawing/2014/main" id="{7BAD16EF-A888-45C0-9814-99AB4A156B3A}"/>
              </a:ext>
            </a:extLst>
          </p:cNvPr>
          <p:cNvSpPr>
            <a:spLocks noGrp="1"/>
          </p:cNvSpPr>
          <p:nvPr/>
        </p:nvSpPr>
        <p:spPr>
          <a:xfrm>
            <a:off x="685800" y="3009900"/>
            <a:ext cx="400050" cy="342900"/>
          </a:xfrm>
          <a:prstGeom prst="rect">
            <a:avLst/>
          </a:prstGeom>
          <a:noFill/>
          <a:ln w="0">
            <a:noFill/>
            <a:prstDash val="solid"/>
          </a:ln>
        </p:spPr>
        <p:txBody>
          <a:bodyPr lIns="0" tIns="0" rIns="0" bIns="0" anchor="ctr"/>
          <a:lstStyle/>
          <a:p>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02</a:t>
            </a:r>
          </a:p>
        </p:txBody>
      </p:sp>
      <p:sp>
        <p:nvSpPr>
          <p:cNvPr id="14" name="직사각형 13">
            <a:extLst>
              <a:ext uri="{FF2B5EF4-FFF2-40B4-BE49-F238E27FC236}">
                <a16:creationId xmlns:a16="http://schemas.microsoft.com/office/drawing/2014/main" id="{F907AC8F-8BCD-48AD-AF2B-926629854680}"/>
              </a:ext>
            </a:extLst>
          </p:cNvPr>
          <p:cNvSpPr>
            <a:spLocks noGrp="1"/>
          </p:cNvSpPr>
          <p:nvPr/>
        </p:nvSpPr>
        <p:spPr>
          <a:xfrm>
            <a:off x="1181100" y="2971800"/>
            <a:ext cx="1714500" cy="400050"/>
          </a:xfrm>
          <a:prstGeom prst="rect">
            <a:avLst/>
          </a:prstGeom>
          <a:noFill/>
          <a:ln w="0">
            <a:noFill/>
            <a:prstDash val="solid"/>
          </a:ln>
        </p:spPr>
        <p:txBody>
          <a:bodyPr lIns="0" tIns="0" rIns="0" bIns="0" anchor="ctr"/>
          <a:lstStyle/>
          <a:p>
            <a:pPr algn="l">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베트남</a:t>
            </a:r>
          </a:p>
        </p:txBody>
      </p:sp>
      <p:sp>
        <p:nvSpPr>
          <p:cNvPr id="15" name="직사각형 14">
            <a:extLst>
              <a:ext uri="{FF2B5EF4-FFF2-40B4-BE49-F238E27FC236}">
                <a16:creationId xmlns:a16="http://schemas.microsoft.com/office/drawing/2014/main" id="{98B8AF61-C08A-4F14-AB9A-C1BDBC398319}"/>
              </a:ext>
            </a:extLst>
          </p:cNvPr>
          <p:cNvSpPr>
            <a:spLocks noGrp="1"/>
          </p:cNvSpPr>
          <p:nvPr/>
        </p:nvSpPr>
        <p:spPr>
          <a:xfrm>
            <a:off x="1181100" y="3390900"/>
            <a:ext cx="2343150" cy="3429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성장성과 조건 비교</a:t>
            </a:r>
          </a:p>
        </p:txBody>
      </p:sp>
      <p:sp>
        <p:nvSpPr>
          <p:cNvPr id="16" name="직사각형 15">
            <a:extLst>
              <a:ext uri="{FF2B5EF4-FFF2-40B4-BE49-F238E27FC236}">
                <a16:creationId xmlns:a16="http://schemas.microsoft.com/office/drawing/2014/main" id="{FE9621D5-5120-4977-A953-4E27A6C8811B}"/>
              </a:ext>
            </a:extLst>
          </p:cNvPr>
          <p:cNvSpPr>
            <a:spLocks noGrp="1"/>
          </p:cNvSpPr>
          <p:nvPr/>
        </p:nvSpPr>
        <p:spPr>
          <a:xfrm>
            <a:off x="685800" y="3810000"/>
            <a:ext cx="2857500" cy="9525"/>
          </a:xfrm>
          <a:prstGeom prst="rect">
            <a:avLst/>
          </a:prstGeom>
          <a:solidFill>
            <a:srgbClr val="D7DEE2"/>
          </a:solidFill>
          <a:ln w="0">
            <a:solidFill>
              <a:srgbClr val="D7DEE2"/>
            </a:solidFill>
            <a:prstDash val="solid"/>
          </a:ln>
        </p:spPr>
      </p:sp>
      <p:sp>
        <p:nvSpPr>
          <p:cNvPr id="17" name="직사각형 16">
            <a:extLst>
              <a:ext uri="{FF2B5EF4-FFF2-40B4-BE49-F238E27FC236}">
                <a16:creationId xmlns:a16="http://schemas.microsoft.com/office/drawing/2014/main" id="{02FAB7C7-1113-4420-BA02-E04283F2E30E}"/>
              </a:ext>
            </a:extLst>
          </p:cNvPr>
          <p:cNvSpPr>
            <a:spLocks noGrp="1"/>
          </p:cNvSpPr>
          <p:nvPr/>
        </p:nvSpPr>
        <p:spPr>
          <a:xfrm>
            <a:off x="685800" y="4000500"/>
            <a:ext cx="400050" cy="342900"/>
          </a:xfrm>
          <a:prstGeom prst="rect">
            <a:avLst/>
          </a:prstGeom>
          <a:noFill/>
          <a:ln w="0">
            <a:noFill/>
            <a:prstDash val="solid"/>
          </a:ln>
        </p:spPr>
        <p:txBody>
          <a:bodyPr lIns="0" tIns="0" rIns="0" bIns="0" anchor="ctr"/>
          <a:lstStyle/>
          <a:p>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03</a:t>
            </a:r>
          </a:p>
        </p:txBody>
      </p:sp>
      <p:sp>
        <p:nvSpPr>
          <p:cNvPr id="18" name="직사각형 17">
            <a:extLst>
              <a:ext uri="{FF2B5EF4-FFF2-40B4-BE49-F238E27FC236}">
                <a16:creationId xmlns:a16="http://schemas.microsoft.com/office/drawing/2014/main" id="{6725CF1E-E291-4767-9B98-FBDD2C383DCD}"/>
              </a:ext>
            </a:extLst>
          </p:cNvPr>
          <p:cNvSpPr>
            <a:spLocks noGrp="1"/>
          </p:cNvSpPr>
          <p:nvPr/>
        </p:nvSpPr>
        <p:spPr>
          <a:xfrm>
            <a:off x="1181100" y="3962400"/>
            <a:ext cx="1714500" cy="400050"/>
          </a:xfrm>
          <a:prstGeom prst="rect">
            <a:avLst/>
          </a:prstGeom>
          <a:noFill/>
          <a:ln w="0">
            <a:noFill/>
            <a:prstDash val="solid"/>
          </a:ln>
        </p:spPr>
        <p:txBody>
          <a:bodyPr lIns="0" tIns="0" rIns="0" bIns="0" anchor="ctr"/>
          <a:lstStyle/>
          <a:p>
            <a:pPr algn="l">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브라질</a:t>
            </a:r>
          </a:p>
        </p:txBody>
      </p:sp>
      <p:sp>
        <p:nvSpPr>
          <p:cNvPr id="19" name="직사각형 18">
            <a:extLst>
              <a:ext uri="{FF2B5EF4-FFF2-40B4-BE49-F238E27FC236}">
                <a16:creationId xmlns:a16="http://schemas.microsoft.com/office/drawing/2014/main" id="{48472A0F-6639-498B-9634-0A4F88C1DBA8}"/>
              </a:ext>
            </a:extLst>
          </p:cNvPr>
          <p:cNvSpPr>
            <a:spLocks noGrp="1"/>
          </p:cNvSpPr>
          <p:nvPr/>
        </p:nvSpPr>
        <p:spPr>
          <a:xfrm>
            <a:off x="1181100" y="4381500"/>
            <a:ext cx="2343150" cy="3429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시장성과 위험 비교</a:t>
            </a:r>
          </a:p>
        </p:txBody>
      </p:sp>
      <p:sp>
        <p:nvSpPr>
          <p:cNvPr id="20" name="직사각형 19">
            <a:extLst>
              <a:ext uri="{FF2B5EF4-FFF2-40B4-BE49-F238E27FC236}">
                <a16:creationId xmlns:a16="http://schemas.microsoft.com/office/drawing/2014/main" id="{7A897958-909F-4A57-9404-78D6C0BE3649}"/>
              </a:ext>
            </a:extLst>
          </p:cNvPr>
          <p:cNvSpPr>
            <a:spLocks noGrp="1"/>
          </p:cNvSpPr>
          <p:nvPr/>
        </p:nvSpPr>
        <p:spPr>
          <a:xfrm>
            <a:off x="685800" y="4800600"/>
            <a:ext cx="2857500" cy="9525"/>
          </a:xfrm>
          <a:prstGeom prst="rect">
            <a:avLst/>
          </a:prstGeom>
          <a:solidFill>
            <a:srgbClr val="D7DEE2"/>
          </a:solidFill>
          <a:ln w="0">
            <a:solidFill>
              <a:srgbClr val="D7DEE2"/>
            </a:solidFill>
            <a:prstDash val="solid"/>
          </a:ln>
        </p:spPr>
      </p:sp>
      <p:sp>
        <p:nvSpPr>
          <p:cNvPr id="21" name="사각형: 둥근 모서리 20">
            <a:extLst>
              <a:ext uri="{FF2B5EF4-FFF2-40B4-BE49-F238E27FC236}">
                <a16:creationId xmlns:a16="http://schemas.microsoft.com/office/drawing/2014/main" id="{070CE97E-8220-495E-8746-4A51BCFE266B}"/>
              </a:ext>
            </a:extLst>
          </p:cNvPr>
          <p:cNvSpPr>
            <a:spLocks noGrp="1"/>
          </p:cNvSpPr>
          <p:nvPr/>
        </p:nvSpPr>
        <p:spPr>
          <a:xfrm>
            <a:off x="685800" y="5219700"/>
            <a:ext cx="2857500" cy="781050"/>
          </a:xfrm>
          <a:prstGeom prst="roundRect">
            <a:avLst>
              <a:gd name="adj" fmla="val 14634"/>
            </a:avLst>
          </a:prstGeom>
          <a:solidFill>
            <a:srgbClr val="E3F6F2"/>
          </a:solidFill>
          <a:ln w="0">
            <a:solidFill>
              <a:srgbClr val="E3F6F2"/>
            </a:solidFill>
            <a:prstDash val="solid"/>
          </a:ln>
        </p:spPr>
      </p:sp>
      <p:sp>
        <p:nvSpPr>
          <p:cNvPr id="22" name="직사각형 21">
            <a:extLst>
              <a:ext uri="{FF2B5EF4-FFF2-40B4-BE49-F238E27FC236}">
                <a16:creationId xmlns:a16="http://schemas.microsoft.com/office/drawing/2014/main" id="{1CCE6503-076C-4346-923E-A87AAF9770DE}"/>
              </a:ext>
            </a:extLst>
          </p:cNvPr>
          <p:cNvSpPr>
            <a:spLocks noGrp="1"/>
          </p:cNvSpPr>
          <p:nvPr/>
        </p:nvSpPr>
        <p:spPr>
          <a:xfrm>
            <a:off x="838200" y="5314950"/>
            <a:ext cx="2552700" cy="590550"/>
          </a:xfrm>
          <a:prstGeom prst="rect">
            <a:avLst/>
          </a:prstGeom>
          <a:noFill/>
          <a:ln w="0">
            <a:noFill/>
            <a:prstDash val="solid"/>
          </a:ln>
        </p:spPr>
        <p:txBody>
          <a:bodyPr lIns="0" tIns="0" rIns="0" bIns="0" anchor="ctr"/>
          <a:lstStyle/>
          <a:p>
            <a:pPr algn="ctr">
              <a:defRPr sz="1275" b="1">
                <a:solidFill>
                  <a:srgbClr val="051C2C"/>
                </a:solidFill>
                <a:latin typeface="Noto Sans KR"/>
                <a:ea typeface="Noto Sans KR"/>
                <a:cs typeface="Noto Sans KR"/>
              </a:defRPr>
            </a:pPr>
            <a:r>
              <a:rPr sz="1275" b="1">
                <a:solidFill>
                  <a:srgbClr val="051C2C"/>
                </a:solidFill>
                <a:latin typeface="Noto Sans KR"/>
                <a:ea typeface="Noto Sans KR"/>
                <a:cs typeface="Noto Sans KR"/>
              </a:rPr>
              <a:t>추천 이유 + 낮은 점수 이유를</a:t>
            </a:r>
          </a:p>
          <a:p>
            <a:pPr algn="ctr">
              <a:defRPr sz="1275" b="1">
                <a:solidFill>
                  <a:srgbClr val="051C2C"/>
                </a:solidFill>
                <a:latin typeface="Noto Sans KR"/>
                <a:ea typeface="Noto Sans KR"/>
                <a:cs typeface="Noto Sans KR"/>
              </a:defRPr>
            </a:pPr>
            <a:r>
              <a:rPr sz="1275" b="1">
                <a:solidFill>
                  <a:srgbClr val="051C2C"/>
                </a:solidFill>
                <a:latin typeface="Noto Sans KR"/>
                <a:ea typeface="Noto Sans KR"/>
                <a:cs typeface="Noto Sans KR"/>
              </a:rPr>
              <a:t>함께 공개합니다.</a:t>
            </a:r>
          </a:p>
        </p:txBody>
      </p:sp>
      <p:sp>
        <p:nvSpPr>
          <p:cNvPr id="23" name="사각형: 둥근 모서리 22">
            <a:extLst>
              <a:ext uri="{FF2B5EF4-FFF2-40B4-BE49-F238E27FC236}">
                <a16:creationId xmlns:a16="http://schemas.microsoft.com/office/drawing/2014/main" id="{C5BE26C8-004F-4E4F-88FD-D605EBC90B58}"/>
              </a:ext>
            </a:extLst>
          </p:cNvPr>
          <p:cNvSpPr>
            <a:spLocks noGrp="1"/>
          </p:cNvSpPr>
          <p:nvPr/>
        </p:nvSpPr>
        <p:spPr>
          <a:xfrm>
            <a:off x="3981450" y="1371600"/>
            <a:ext cx="7658100" cy="4686300"/>
          </a:xfrm>
          <a:prstGeom prst="roundRect">
            <a:avLst>
              <a:gd name="adj" fmla="val 2439"/>
            </a:avLst>
          </a:prstGeom>
          <a:solidFill>
            <a:srgbClr val="FFFFFF"/>
          </a:solidFill>
          <a:ln w="9525">
            <a:solidFill>
              <a:srgbClr val="D7DEE2"/>
            </a:solidFill>
            <a:prstDash val="solid"/>
          </a:ln>
        </p:spPr>
      </p:sp>
      <p:sp>
        <p:nvSpPr>
          <p:cNvPr id="24" name="사각형: 둥근 모서리 23">
            <a:extLst>
              <a:ext uri="{FF2B5EF4-FFF2-40B4-BE49-F238E27FC236}">
                <a16:creationId xmlns:a16="http://schemas.microsoft.com/office/drawing/2014/main" id="{2A477580-5520-447D-879E-205E29194E2E}"/>
              </a:ext>
            </a:extLst>
          </p:cNvPr>
          <p:cNvSpPr>
            <a:spLocks noGrp="1"/>
          </p:cNvSpPr>
          <p:nvPr/>
        </p:nvSpPr>
        <p:spPr>
          <a:xfrm>
            <a:off x="4171950" y="1562100"/>
            <a:ext cx="1390650" cy="285750"/>
          </a:xfrm>
          <a:prstGeom prst="roundRect">
            <a:avLst>
              <a:gd name="adj" fmla="val 40000"/>
            </a:avLst>
          </a:prstGeom>
          <a:solidFill>
            <a:srgbClr val="051C2C"/>
          </a:solidFill>
          <a:ln w="0">
            <a:solidFill>
              <a:srgbClr val="051C2C"/>
            </a:solidFill>
            <a:prstDash val="solid"/>
          </a:ln>
        </p:spPr>
      </p:sp>
      <p:sp>
        <p:nvSpPr>
          <p:cNvPr id="25" name="직사각형 24">
            <a:extLst>
              <a:ext uri="{FF2B5EF4-FFF2-40B4-BE49-F238E27FC236}">
                <a16:creationId xmlns:a16="http://schemas.microsoft.com/office/drawing/2014/main" id="{C24F0583-4D60-4E31-A4B2-0F351DBFCC22}"/>
              </a:ext>
            </a:extLst>
          </p:cNvPr>
          <p:cNvSpPr>
            <a:spLocks noGrp="1"/>
          </p:cNvSpPr>
          <p:nvPr/>
        </p:nvSpPr>
        <p:spPr>
          <a:xfrm>
            <a:off x="4171950" y="1562100"/>
            <a:ext cx="13906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실제 후보국 추천 화면</a:t>
            </a:r>
          </a:p>
        </p:txBody>
      </p:sp>
      <p:pic>
        <p:nvPicPr>
          <p:cNvPr id="52" name="그림 51"/>
          <p:cNvPicPr>
            <a:picLocks noChangeAspect="1"/>
          </p:cNvPicPr>
          <p:nvPr/>
        </p:nvPicPr>
        <p:blipFill>
          <a:blip r:embed="rId3"/>
          <a:stretch/>
        </p:blipFill>
        <p:spPr>
          <a:xfrm>
            <a:off x="4178920" y="1428750"/>
            <a:ext cx="7263161" cy="4572000"/>
          </a:xfrm>
          <a:prstGeom prst="roundRect">
            <a:avLst>
              <a:gd name="adj" fmla="val 2500"/>
            </a:avLst>
          </a:prstGeom>
        </p:spPr>
      </p:pic>
    </p:spTree>
    <p:extLst>
      <p:ext uri="{BB962C8B-B14F-4D97-AF65-F5344CB8AC3E}">
        <p14:creationId xmlns:p14="http://schemas.microsoft.com/office/powerpoint/2010/main" val="662401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직사각형 29">
            <a:extLst>
              <a:ext uri="{FF2B5EF4-FFF2-40B4-BE49-F238E27FC236}">
                <a16:creationId xmlns:a16="http://schemas.microsoft.com/office/drawing/2014/main" id="{55BFA9B9-EA30-4429-99B1-92CD471F1B38}"/>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4</a:t>
            </a:r>
          </a:p>
        </p:txBody>
      </p:sp>
      <p:sp>
        <p:nvSpPr>
          <p:cNvPr id="2" name="slide-8-title">
            <a:extLst>
              <a:ext uri="{FF2B5EF4-FFF2-40B4-BE49-F238E27FC236}">
                <a16:creationId xmlns:a16="http://schemas.microsoft.com/office/drawing/2014/main" id="{FBA676AB-64E8-4560-A1A2-ECBDDB1DC321}"/>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시장 기회 100점이어도 진입 준비 57%면 조건부 검토입니다</a:t>
            </a:r>
          </a:p>
        </p:txBody>
      </p:sp>
      <p:sp>
        <p:nvSpPr>
          <p:cNvPr id="3" name="직사각형 2">
            <a:extLst>
              <a:ext uri="{FF2B5EF4-FFF2-40B4-BE49-F238E27FC236}">
                <a16:creationId xmlns:a16="http://schemas.microsoft.com/office/drawing/2014/main" id="{B116B388-9306-4AC2-A460-D945A4C2C034}"/>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F137924F-EE7F-490A-8015-E201CE574A35}"/>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31674983-EAE3-4914-8E8C-0E9A247C04D2}"/>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7" name="직사각형 6">
            <a:extLst>
              <a:ext uri="{FF2B5EF4-FFF2-40B4-BE49-F238E27FC236}">
                <a16:creationId xmlns:a16="http://schemas.microsoft.com/office/drawing/2014/main" id="{7836F7C8-2C91-448B-92A2-F0803137E4CB}"/>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08</a:t>
            </a:r>
          </a:p>
        </p:txBody>
      </p:sp>
      <p:sp>
        <p:nvSpPr>
          <p:cNvPr id="8" name="사각형: 둥근 모서리 7">
            <a:extLst>
              <a:ext uri="{FF2B5EF4-FFF2-40B4-BE49-F238E27FC236}">
                <a16:creationId xmlns:a16="http://schemas.microsoft.com/office/drawing/2014/main" id="{976469FC-FEA9-4366-9643-7202DC62FC28}"/>
              </a:ext>
            </a:extLst>
          </p:cNvPr>
          <p:cNvSpPr>
            <a:spLocks noGrp="1"/>
          </p:cNvSpPr>
          <p:nvPr/>
        </p:nvSpPr>
        <p:spPr>
          <a:xfrm>
            <a:off x="552450" y="1371600"/>
            <a:ext cx="6972300" cy="4743450"/>
          </a:xfrm>
          <a:prstGeom prst="roundRect">
            <a:avLst>
              <a:gd name="adj" fmla="val 2410"/>
            </a:avLst>
          </a:prstGeom>
          <a:solidFill>
            <a:srgbClr val="FFFFFF"/>
          </a:solidFill>
          <a:ln w="9525">
            <a:solidFill>
              <a:srgbClr val="D7DEE2"/>
            </a:solidFill>
            <a:prstDash val="solid"/>
          </a:ln>
        </p:spPr>
      </p:sp>
      <p:sp>
        <p:nvSpPr>
          <p:cNvPr id="9" name="사각형: 둥근 모서리 8">
            <a:extLst>
              <a:ext uri="{FF2B5EF4-FFF2-40B4-BE49-F238E27FC236}">
                <a16:creationId xmlns:a16="http://schemas.microsoft.com/office/drawing/2014/main" id="{6C21D2A0-32F6-43DF-BB7D-8ECAD254C2DE}"/>
              </a:ext>
            </a:extLst>
          </p:cNvPr>
          <p:cNvSpPr>
            <a:spLocks noGrp="1"/>
          </p:cNvSpPr>
          <p:nvPr/>
        </p:nvSpPr>
        <p:spPr>
          <a:xfrm>
            <a:off x="742950" y="1562100"/>
            <a:ext cx="1485900" cy="285750"/>
          </a:xfrm>
          <a:prstGeom prst="roundRect">
            <a:avLst>
              <a:gd name="adj" fmla="val 40000"/>
            </a:avLst>
          </a:prstGeom>
          <a:solidFill>
            <a:srgbClr val="051C2C"/>
          </a:solidFill>
          <a:ln w="0">
            <a:solidFill>
              <a:srgbClr val="051C2C"/>
            </a:solidFill>
            <a:prstDash val="solid"/>
          </a:ln>
        </p:spPr>
      </p:sp>
      <p:sp>
        <p:nvSpPr>
          <p:cNvPr id="10" name="직사각형 9">
            <a:extLst>
              <a:ext uri="{FF2B5EF4-FFF2-40B4-BE49-F238E27FC236}">
                <a16:creationId xmlns:a16="http://schemas.microsoft.com/office/drawing/2014/main" id="{43A04916-DC1B-4971-8282-6BDB8C7FB319}"/>
              </a:ext>
            </a:extLst>
          </p:cNvPr>
          <p:cNvSpPr>
            <a:spLocks noGrp="1"/>
          </p:cNvSpPr>
          <p:nvPr/>
        </p:nvSpPr>
        <p:spPr>
          <a:xfrm>
            <a:off x="742950" y="1562100"/>
            <a:ext cx="148590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미국 상세 · 실제 화면</a:t>
            </a:r>
          </a:p>
        </p:txBody>
      </p:sp>
      <p:pic>
        <p:nvPicPr>
          <p:cNvPr id="40" name="그림 39"/>
          <p:cNvPicPr>
            <a:picLocks noChangeAspect="1"/>
          </p:cNvPicPr>
          <p:nvPr/>
        </p:nvPicPr>
        <p:blipFill>
          <a:blip r:embed="rId3"/>
          <a:stretch/>
        </p:blipFill>
        <p:spPr>
          <a:xfrm>
            <a:off x="609600" y="1584845"/>
            <a:ext cx="6858000" cy="4316960"/>
          </a:xfrm>
          <a:prstGeom prst="roundRect">
            <a:avLst>
              <a:gd name="adj" fmla="val 2469"/>
            </a:avLst>
          </a:prstGeom>
        </p:spPr>
      </p:pic>
      <p:sp>
        <p:nvSpPr>
          <p:cNvPr id="12" name="사각형: 둥근 모서리 11">
            <a:extLst>
              <a:ext uri="{FF2B5EF4-FFF2-40B4-BE49-F238E27FC236}">
                <a16:creationId xmlns:a16="http://schemas.microsoft.com/office/drawing/2014/main" id="{402516D8-4808-40DD-8A3D-97694737C4F0}"/>
              </a:ext>
            </a:extLst>
          </p:cNvPr>
          <p:cNvSpPr>
            <a:spLocks noGrp="1"/>
          </p:cNvSpPr>
          <p:nvPr/>
        </p:nvSpPr>
        <p:spPr>
          <a:xfrm>
            <a:off x="8020050" y="1466850"/>
            <a:ext cx="2152650" cy="285750"/>
          </a:xfrm>
          <a:prstGeom prst="roundRect">
            <a:avLst>
              <a:gd name="adj" fmla="val 40000"/>
            </a:avLst>
          </a:prstGeom>
          <a:solidFill>
            <a:srgbClr val="D46A00"/>
          </a:solidFill>
          <a:ln w="0">
            <a:solidFill>
              <a:srgbClr val="D46A00"/>
            </a:solidFill>
            <a:prstDash val="solid"/>
          </a:ln>
        </p:spPr>
      </p:sp>
      <p:sp>
        <p:nvSpPr>
          <p:cNvPr id="13" name="직사각형 12">
            <a:extLst>
              <a:ext uri="{FF2B5EF4-FFF2-40B4-BE49-F238E27FC236}">
                <a16:creationId xmlns:a16="http://schemas.microsoft.com/office/drawing/2014/main" id="{50D977F6-8A14-41BE-812F-FCD2BAC9C568}"/>
              </a:ext>
            </a:extLst>
          </p:cNvPr>
          <p:cNvSpPr>
            <a:spLocks noGrp="1"/>
          </p:cNvSpPr>
          <p:nvPr/>
        </p:nvSpPr>
        <p:spPr>
          <a:xfrm>
            <a:off x="8020050" y="1466850"/>
            <a:ext cx="21526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CONDITIONAL REVIEW</a:t>
            </a:r>
          </a:p>
        </p:txBody>
      </p:sp>
      <p:sp>
        <p:nvSpPr>
          <p:cNvPr id="14" name="직사각형 13">
            <a:extLst>
              <a:ext uri="{FF2B5EF4-FFF2-40B4-BE49-F238E27FC236}">
                <a16:creationId xmlns:a16="http://schemas.microsoft.com/office/drawing/2014/main" id="{E08EA88B-9B28-416A-8DC7-BAF78F4F2A4D}"/>
              </a:ext>
            </a:extLst>
          </p:cNvPr>
          <p:cNvSpPr>
            <a:spLocks noGrp="1"/>
          </p:cNvSpPr>
          <p:nvPr/>
        </p:nvSpPr>
        <p:spPr>
          <a:xfrm>
            <a:off x="7943850" y="2019300"/>
            <a:ext cx="1638300" cy="876300"/>
          </a:xfrm>
          <a:prstGeom prst="rect">
            <a:avLst/>
          </a:prstGeom>
          <a:noFill/>
          <a:ln w="0">
            <a:noFill/>
            <a:prstDash val="solid"/>
          </a:ln>
        </p:spPr>
        <p:txBody>
          <a:bodyPr lIns="0" tIns="0" rIns="0" bIns="0" anchor="ctr"/>
          <a:lstStyle/>
          <a:p>
            <a:pPr algn="l">
              <a:defRPr sz="5400" b="1">
                <a:solidFill>
                  <a:srgbClr val="051C2C"/>
                </a:solidFill>
                <a:latin typeface="Noto Sans KR"/>
                <a:ea typeface="Noto Sans KR"/>
                <a:cs typeface="Noto Sans KR"/>
              </a:defRPr>
            </a:pPr>
            <a:r>
              <a:rPr sz="5400" b="1">
                <a:solidFill>
                  <a:srgbClr val="051C2C"/>
                </a:solidFill>
                <a:latin typeface="Noto Sans KR"/>
                <a:ea typeface="Noto Sans KR"/>
                <a:cs typeface="Noto Sans KR"/>
              </a:rPr>
              <a:t>100</a:t>
            </a:r>
          </a:p>
        </p:txBody>
      </p:sp>
      <p:sp>
        <p:nvSpPr>
          <p:cNvPr id="15" name="직사각형 14">
            <a:extLst>
              <a:ext uri="{FF2B5EF4-FFF2-40B4-BE49-F238E27FC236}">
                <a16:creationId xmlns:a16="http://schemas.microsoft.com/office/drawing/2014/main" id="{455DA663-748E-4B72-A15A-720C00DABD82}"/>
              </a:ext>
            </a:extLst>
          </p:cNvPr>
          <p:cNvSpPr>
            <a:spLocks noGrp="1"/>
          </p:cNvSpPr>
          <p:nvPr/>
        </p:nvSpPr>
        <p:spPr>
          <a:xfrm>
            <a:off x="9582150" y="2305050"/>
            <a:ext cx="1790700" cy="323850"/>
          </a:xfrm>
          <a:prstGeom prst="rect">
            <a:avLst/>
          </a:prstGeom>
          <a:noFill/>
          <a:ln w="0">
            <a:noFill/>
            <a:prstDash val="solid"/>
          </a:ln>
        </p:spPr>
        <p:txBody>
          <a:bodyPr lIns="0" tIns="0" rIns="0" bIns="0" anchor="ctr"/>
          <a:lstStyle/>
          <a:p>
            <a:pPr algn="l">
              <a:defRPr sz="1200" b="1">
                <a:solidFill>
                  <a:srgbClr val="5F6B73"/>
                </a:solidFill>
                <a:latin typeface="Noto Sans KR"/>
                <a:ea typeface="Noto Sans KR"/>
                <a:cs typeface="Noto Sans KR"/>
              </a:defRPr>
            </a:pPr>
            <a:r>
              <a:rPr sz="1200" b="1">
                <a:solidFill>
                  <a:srgbClr val="5F6B73"/>
                </a:solidFill>
                <a:latin typeface="Noto Sans KR"/>
                <a:ea typeface="Noto Sans KR"/>
                <a:cs typeface="Noto Sans KR"/>
              </a:rPr>
              <a:t>/100  시장 기회</a:t>
            </a:r>
          </a:p>
        </p:txBody>
      </p:sp>
      <p:sp>
        <p:nvSpPr>
          <p:cNvPr id="16" name="직사각형 15">
            <a:extLst>
              <a:ext uri="{FF2B5EF4-FFF2-40B4-BE49-F238E27FC236}">
                <a16:creationId xmlns:a16="http://schemas.microsoft.com/office/drawing/2014/main" id="{1BAC0D52-A12F-44B1-8F89-73D79284FBF9}"/>
              </a:ext>
            </a:extLst>
          </p:cNvPr>
          <p:cNvSpPr>
            <a:spLocks noGrp="1"/>
          </p:cNvSpPr>
          <p:nvPr/>
        </p:nvSpPr>
        <p:spPr>
          <a:xfrm>
            <a:off x="7943850" y="3028950"/>
            <a:ext cx="3429000" cy="9525"/>
          </a:xfrm>
          <a:prstGeom prst="rect">
            <a:avLst/>
          </a:prstGeom>
          <a:solidFill>
            <a:srgbClr val="D7DEE2"/>
          </a:solidFill>
          <a:ln w="0">
            <a:solidFill>
              <a:srgbClr val="D7DEE2"/>
            </a:solidFill>
            <a:prstDash val="solid"/>
          </a:ln>
        </p:spPr>
      </p:sp>
      <p:sp>
        <p:nvSpPr>
          <p:cNvPr id="17" name="직사각형 16">
            <a:extLst>
              <a:ext uri="{FF2B5EF4-FFF2-40B4-BE49-F238E27FC236}">
                <a16:creationId xmlns:a16="http://schemas.microsoft.com/office/drawing/2014/main" id="{3E117F4B-1B79-46C4-89EB-8516BDE26E5C}"/>
              </a:ext>
            </a:extLst>
          </p:cNvPr>
          <p:cNvSpPr>
            <a:spLocks noGrp="1"/>
          </p:cNvSpPr>
          <p:nvPr/>
        </p:nvSpPr>
        <p:spPr>
          <a:xfrm>
            <a:off x="7943850" y="3219450"/>
            <a:ext cx="1638300" cy="781050"/>
          </a:xfrm>
          <a:prstGeom prst="rect">
            <a:avLst/>
          </a:prstGeom>
          <a:noFill/>
          <a:ln w="0">
            <a:noFill/>
            <a:prstDash val="solid"/>
          </a:ln>
        </p:spPr>
        <p:txBody>
          <a:bodyPr lIns="0" tIns="0" rIns="0" bIns="0" anchor="ctr"/>
          <a:lstStyle/>
          <a:p>
            <a:pPr algn="l">
              <a:defRPr sz="4800" b="1">
                <a:solidFill>
                  <a:srgbClr val="00A58A"/>
                </a:solidFill>
                <a:latin typeface="Noto Sans KR"/>
                <a:ea typeface="Noto Sans KR"/>
                <a:cs typeface="Noto Sans KR"/>
              </a:defRPr>
            </a:pPr>
            <a:r>
              <a:rPr sz="4800" b="1">
                <a:solidFill>
                  <a:srgbClr val="00A58A"/>
                </a:solidFill>
                <a:latin typeface="Noto Sans KR"/>
                <a:ea typeface="Noto Sans KR"/>
                <a:cs typeface="Noto Sans KR"/>
              </a:rPr>
              <a:t>57%</a:t>
            </a:r>
          </a:p>
        </p:txBody>
      </p:sp>
      <p:sp>
        <p:nvSpPr>
          <p:cNvPr id="18" name="직사각형 17">
            <a:extLst>
              <a:ext uri="{FF2B5EF4-FFF2-40B4-BE49-F238E27FC236}">
                <a16:creationId xmlns:a16="http://schemas.microsoft.com/office/drawing/2014/main" id="{4C024BD1-7963-48DB-AC56-09A1B8396783}"/>
              </a:ext>
            </a:extLst>
          </p:cNvPr>
          <p:cNvSpPr>
            <a:spLocks noGrp="1"/>
          </p:cNvSpPr>
          <p:nvPr/>
        </p:nvSpPr>
        <p:spPr>
          <a:xfrm>
            <a:off x="9582150" y="3448050"/>
            <a:ext cx="1790700" cy="323850"/>
          </a:xfrm>
          <a:prstGeom prst="rect">
            <a:avLst/>
          </a:prstGeom>
          <a:noFill/>
          <a:ln w="0">
            <a:noFill/>
            <a:prstDash val="solid"/>
          </a:ln>
        </p:spPr>
        <p:txBody>
          <a:bodyPr lIns="0" tIns="0" rIns="0" bIns="0" anchor="ctr"/>
          <a:lstStyle/>
          <a:p>
            <a:pPr algn="l">
              <a:defRPr sz="1200" b="1">
                <a:solidFill>
                  <a:srgbClr val="5F6B73"/>
                </a:solidFill>
                <a:latin typeface="Noto Sans KR"/>
                <a:ea typeface="Noto Sans KR"/>
                <a:cs typeface="Noto Sans KR"/>
              </a:defRPr>
            </a:pPr>
            <a:r>
              <a:rPr sz="1200" b="1">
                <a:solidFill>
                  <a:srgbClr val="5F6B73"/>
                </a:solidFill>
                <a:latin typeface="Noto Sans KR"/>
                <a:ea typeface="Noto Sans KR"/>
                <a:cs typeface="Noto Sans KR"/>
              </a:rPr>
              <a:t>근거 충족도</a:t>
            </a:r>
          </a:p>
        </p:txBody>
      </p:sp>
      <p:sp>
        <p:nvSpPr>
          <p:cNvPr id="19" name="직사각형 18">
            <a:extLst>
              <a:ext uri="{FF2B5EF4-FFF2-40B4-BE49-F238E27FC236}">
                <a16:creationId xmlns:a16="http://schemas.microsoft.com/office/drawing/2014/main" id="{42BE4FCE-6E1F-4E96-B5B7-4DC95B8F5DD9}"/>
              </a:ext>
            </a:extLst>
          </p:cNvPr>
          <p:cNvSpPr>
            <a:spLocks noGrp="1"/>
          </p:cNvSpPr>
          <p:nvPr/>
        </p:nvSpPr>
        <p:spPr>
          <a:xfrm>
            <a:off x="7943850" y="4095750"/>
            <a:ext cx="3429000" cy="9525"/>
          </a:xfrm>
          <a:prstGeom prst="rect">
            <a:avLst/>
          </a:prstGeom>
          <a:solidFill>
            <a:srgbClr val="D7DEE2"/>
          </a:solidFill>
          <a:ln w="0">
            <a:solidFill>
              <a:srgbClr val="D7DEE2"/>
            </a:solidFill>
            <a:prstDash val="solid"/>
          </a:ln>
        </p:spPr>
      </p:sp>
      <p:sp>
        <p:nvSpPr>
          <p:cNvPr id="20" name="직사각형 19">
            <a:extLst>
              <a:ext uri="{FF2B5EF4-FFF2-40B4-BE49-F238E27FC236}">
                <a16:creationId xmlns:a16="http://schemas.microsoft.com/office/drawing/2014/main" id="{50B60D40-CD13-4ACE-9FBE-B469B729949C}"/>
              </a:ext>
            </a:extLst>
          </p:cNvPr>
          <p:cNvSpPr>
            <a:spLocks noGrp="1"/>
          </p:cNvSpPr>
          <p:nvPr/>
        </p:nvSpPr>
        <p:spPr>
          <a:xfrm>
            <a:off x="7943850" y="4343400"/>
            <a:ext cx="1790700" cy="285750"/>
          </a:xfrm>
          <a:prstGeom prst="rect">
            <a:avLst/>
          </a:prstGeom>
          <a:noFill/>
          <a:ln w="0">
            <a:noFill/>
            <a:prstDash val="solid"/>
          </a:ln>
        </p:spPr>
        <p:txBody>
          <a:bodyPr lIns="0" tIns="0" rIns="0" bIns="0" anchor="ctr"/>
          <a:lstStyle/>
          <a:p>
            <a:pPr algn="l">
              <a:defRPr sz="1050" b="1">
                <a:solidFill>
                  <a:srgbClr val="C62828"/>
                </a:solidFill>
                <a:latin typeface="Noto Sans KR"/>
                <a:ea typeface="Noto Sans KR"/>
                <a:cs typeface="Noto Sans KR"/>
              </a:defRPr>
            </a:pPr>
            <a:r>
              <a:rPr sz="1050" b="1">
                <a:solidFill>
                  <a:srgbClr val="C62828"/>
                </a:solidFill>
                <a:latin typeface="Noto Sans KR"/>
                <a:ea typeface="Noto Sans KR"/>
                <a:cs typeface="Noto Sans KR"/>
              </a:rPr>
              <a:t>미확인 게이트</a:t>
            </a:r>
          </a:p>
        </p:txBody>
      </p:sp>
      <p:sp>
        <p:nvSpPr>
          <p:cNvPr id="21" name="타원 20">
            <a:extLst>
              <a:ext uri="{FF2B5EF4-FFF2-40B4-BE49-F238E27FC236}">
                <a16:creationId xmlns:a16="http://schemas.microsoft.com/office/drawing/2014/main" id="{35471F20-D99E-404D-BE1C-AC16561431CD}"/>
              </a:ext>
            </a:extLst>
          </p:cNvPr>
          <p:cNvSpPr>
            <a:spLocks noGrp="1"/>
          </p:cNvSpPr>
          <p:nvPr/>
        </p:nvSpPr>
        <p:spPr>
          <a:xfrm>
            <a:off x="7962900" y="4800600"/>
            <a:ext cx="247650" cy="247650"/>
          </a:xfrm>
          <a:prstGeom prst="ellipse">
            <a:avLst/>
          </a:prstGeom>
          <a:solidFill>
            <a:srgbClr val="C62828"/>
          </a:solidFill>
          <a:ln w="0">
            <a:solidFill>
              <a:srgbClr val="C62828"/>
            </a:solidFill>
            <a:prstDash val="solid"/>
          </a:ln>
        </p:spPr>
      </p:sp>
      <p:sp>
        <p:nvSpPr>
          <p:cNvPr id="22" name="직사각형 21">
            <a:extLst>
              <a:ext uri="{FF2B5EF4-FFF2-40B4-BE49-F238E27FC236}">
                <a16:creationId xmlns:a16="http://schemas.microsoft.com/office/drawing/2014/main" id="{1CFBD673-0013-47E7-9CBE-503CA1FB928A}"/>
              </a:ext>
            </a:extLst>
          </p:cNvPr>
          <p:cNvSpPr>
            <a:spLocks noGrp="1"/>
          </p:cNvSpPr>
          <p:nvPr/>
        </p:nvSpPr>
        <p:spPr>
          <a:xfrm>
            <a:off x="7962900" y="4800600"/>
            <a:ext cx="247650" cy="247650"/>
          </a:xfrm>
          <a:prstGeom prst="rect">
            <a:avLst/>
          </a:prstGeom>
          <a:noFill/>
          <a:ln w="0">
            <a:noFill/>
            <a:prstDash val="solid"/>
          </a:ln>
        </p:spPr>
        <p:txBody>
          <a:bodyPr lIns="0" tIns="0" rIns="0" bIns="0" anchor="ctr"/>
          <a:lstStyle/>
          <a:p>
            <a:pPr algn="ctr">
              <a:defRPr sz="975" b="1">
                <a:solidFill>
                  <a:srgbClr val="FFFFFF"/>
                </a:solidFill>
                <a:latin typeface="Noto Sans KR"/>
                <a:ea typeface="Noto Sans KR"/>
                <a:cs typeface="Noto Sans KR"/>
              </a:defRPr>
            </a:pPr>
            <a:r>
              <a:rPr sz="975" b="1">
                <a:solidFill>
                  <a:srgbClr val="FFFFFF"/>
                </a:solidFill>
                <a:latin typeface="Noto Sans KR"/>
                <a:ea typeface="Noto Sans KR"/>
                <a:cs typeface="Noto Sans KR"/>
              </a:rPr>
              <a:t>!</a:t>
            </a:r>
          </a:p>
        </p:txBody>
      </p:sp>
      <p:sp>
        <p:nvSpPr>
          <p:cNvPr id="23" name="직사각형 22">
            <a:extLst>
              <a:ext uri="{FF2B5EF4-FFF2-40B4-BE49-F238E27FC236}">
                <a16:creationId xmlns:a16="http://schemas.microsoft.com/office/drawing/2014/main" id="{46566378-8994-4870-89F7-A580FEC72023}"/>
              </a:ext>
            </a:extLst>
          </p:cNvPr>
          <p:cNvSpPr>
            <a:spLocks noGrp="1"/>
          </p:cNvSpPr>
          <p:nvPr/>
        </p:nvSpPr>
        <p:spPr>
          <a:xfrm>
            <a:off x="8343900" y="4762500"/>
            <a:ext cx="2571750" cy="323850"/>
          </a:xfrm>
          <a:prstGeom prst="rect">
            <a:avLst/>
          </a:prstGeom>
          <a:noFill/>
          <a:ln w="0">
            <a:noFill/>
            <a:prstDash val="solid"/>
          </a:ln>
        </p:spPr>
        <p:txBody>
          <a:bodyPr lIns="0" tIns="0" rIns="0" bIns="0" anchor="ctr"/>
          <a:lstStyle/>
          <a:p>
            <a:pPr algn="l">
              <a:defRPr sz="1275" b="1">
                <a:solidFill>
                  <a:srgbClr val="14212B"/>
                </a:solidFill>
                <a:latin typeface="Noto Sans KR"/>
                <a:ea typeface="Noto Sans KR"/>
                <a:cs typeface="Noto Sans KR"/>
              </a:defRPr>
            </a:pPr>
            <a:r>
              <a:rPr sz="1275" b="1">
                <a:solidFill>
                  <a:srgbClr val="14212B"/>
                </a:solidFill>
                <a:latin typeface="Noto Sans KR"/>
                <a:ea typeface="Noto Sans KR"/>
                <a:cs typeface="Noto Sans KR"/>
              </a:rPr>
              <a:t>반덤핑 확인</a:t>
            </a:r>
          </a:p>
        </p:txBody>
      </p:sp>
      <p:sp>
        <p:nvSpPr>
          <p:cNvPr id="24" name="타원 23">
            <a:extLst>
              <a:ext uri="{FF2B5EF4-FFF2-40B4-BE49-F238E27FC236}">
                <a16:creationId xmlns:a16="http://schemas.microsoft.com/office/drawing/2014/main" id="{6777AC20-63B5-44F7-99F6-CC2E5A9089B2}"/>
              </a:ext>
            </a:extLst>
          </p:cNvPr>
          <p:cNvSpPr>
            <a:spLocks noGrp="1"/>
          </p:cNvSpPr>
          <p:nvPr/>
        </p:nvSpPr>
        <p:spPr>
          <a:xfrm>
            <a:off x="7962900" y="5200650"/>
            <a:ext cx="247650" cy="247650"/>
          </a:xfrm>
          <a:prstGeom prst="ellipse">
            <a:avLst/>
          </a:prstGeom>
          <a:solidFill>
            <a:srgbClr val="C62828"/>
          </a:solidFill>
          <a:ln w="0">
            <a:solidFill>
              <a:srgbClr val="C62828"/>
            </a:solidFill>
            <a:prstDash val="solid"/>
          </a:ln>
        </p:spPr>
      </p:sp>
      <p:sp>
        <p:nvSpPr>
          <p:cNvPr id="25" name="직사각형 24">
            <a:extLst>
              <a:ext uri="{FF2B5EF4-FFF2-40B4-BE49-F238E27FC236}">
                <a16:creationId xmlns:a16="http://schemas.microsoft.com/office/drawing/2014/main" id="{1D82FCE7-24EB-4F3A-B6FD-6B4C6F9ED4ED}"/>
              </a:ext>
            </a:extLst>
          </p:cNvPr>
          <p:cNvSpPr>
            <a:spLocks noGrp="1"/>
          </p:cNvSpPr>
          <p:nvPr/>
        </p:nvSpPr>
        <p:spPr>
          <a:xfrm>
            <a:off x="7962900" y="5200650"/>
            <a:ext cx="247650" cy="247650"/>
          </a:xfrm>
          <a:prstGeom prst="rect">
            <a:avLst/>
          </a:prstGeom>
          <a:noFill/>
          <a:ln w="0">
            <a:noFill/>
            <a:prstDash val="solid"/>
          </a:ln>
        </p:spPr>
        <p:txBody>
          <a:bodyPr lIns="0" tIns="0" rIns="0" bIns="0" anchor="ctr"/>
          <a:lstStyle/>
          <a:p>
            <a:pPr algn="ctr">
              <a:defRPr sz="975" b="1">
                <a:solidFill>
                  <a:srgbClr val="FFFFFF"/>
                </a:solidFill>
                <a:latin typeface="Noto Sans KR"/>
                <a:ea typeface="Noto Sans KR"/>
                <a:cs typeface="Noto Sans KR"/>
              </a:defRPr>
            </a:pPr>
            <a:r>
              <a:rPr sz="975" b="1">
                <a:solidFill>
                  <a:srgbClr val="FFFFFF"/>
                </a:solidFill>
                <a:latin typeface="Noto Sans KR"/>
                <a:ea typeface="Noto Sans KR"/>
                <a:cs typeface="Noto Sans KR"/>
              </a:rPr>
              <a:t>!</a:t>
            </a:r>
          </a:p>
        </p:txBody>
      </p:sp>
      <p:sp>
        <p:nvSpPr>
          <p:cNvPr id="26" name="직사각형 25">
            <a:extLst>
              <a:ext uri="{FF2B5EF4-FFF2-40B4-BE49-F238E27FC236}">
                <a16:creationId xmlns:a16="http://schemas.microsoft.com/office/drawing/2014/main" id="{C429862C-45B5-4F7C-BD36-EADE608F7567}"/>
              </a:ext>
            </a:extLst>
          </p:cNvPr>
          <p:cNvSpPr>
            <a:spLocks noGrp="1"/>
          </p:cNvSpPr>
          <p:nvPr/>
        </p:nvSpPr>
        <p:spPr>
          <a:xfrm>
            <a:off x="8343900" y="5162550"/>
            <a:ext cx="2571750" cy="323850"/>
          </a:xfrm>
          <a:prstGeom prst="rect">
            <a:avLst/>
          </a:prstGeom>
          <a:noFill/>
          <a:ln w="0">
            <a:noFill/>
            <a:prstDash val="solid"/>
          </a:ln>
        </p:spPr>
        <p:txBody>
          <a:bodyPr lIns="0" tIns="0" rIns="0" bIns="0" anchor="ctr"/>
          <a:lstStyle/>
          <a:p>
            <a:pPr algn="l">
              <a:defRPr sz="1275" b="1">
                <a:solidFill>
                  <a:srgbClr val="14212B"/>
                </a:solidFill>
                <a:latin typeface="Noto Sans KR"/>
                <a:ea typeface="Noto Sans KR"/>
                <a:cs typeface="Noto Sans KR"/>
              </a:defRPr>
            </a:pPr>
            <a:r>
              <a:rPr sz="1275" b="1">
                <a:solidFill>
                  <a:srgbClr val="14212B"/>
                </a:solidFill>
                <a:latin typeface="Noto Sans KR"/>
                <a:ea typeface="Noto Sans KR"/>
                <a:cs typeface="Noto Sans KR"/>
              </a:rPr>
              <a:t>DOT 인증</a:t>
            </a:r>
          </a:p>
        </p:txBody>
      </p:sp>
      <p:sp>
        <p:nvSpPr>
          <p:cNvPr id="27" name="타원 26">
            <a:extLst>
              <a:ext uri="{FF2B5EF4-FFF2-40B4-BE49-F238E27FC236}">
                <a16:creationId xmlns:a16="http://schemas.microsoft.com/office/drawing/2014/main" id="{A4CFB8B2-E613-478B-8DBF-6172DAAB370B}"/>
              </a:ext>
            </a:extLst>
          </p:cNvPr>
          <p:cNvSpPr>
            <a:spLocks noGrp="1"/>
          </p:cNvSpPr>
          <p:nvPr/>
        </p:nvSpPr>
        <p:spPr>
          <a:xfrm>
            <a:off x="7962900" y="5600700"/>
            <a:ext cx="247650" cy="247650"/>
          </a:xfrm>
          <a:prstGeom prst="ellipse">
            <a:avLst/>
          </a:prstGeom>
          <a:solidFill>
            <a:srgbClr val="C62828"/>
          </a:solidFill>
          <a:ln w="0">
            <a:solidFill>
              <a:srgbClr val="C62828"/>
            </a:solidFill>
            <a:prstDash val="solid"/>
          </a:ln>
        </p:spPr>
      </p:sp>
      <p:sp>
        <p:nvSpPr>
          <p:cNvPr id="28" name="직사각형 27">
            <a:extLst>
              <a:ext uri="{FF2B5EF4-FFF2-40B4-BE49-F238E27FC236}">
                <a16:creationId xmlns:a16="http://schemas.microsoft.com/office/drawing/2014/main" id="{5D3BC539-A7F4-4258-9A9E-2B87F8969EE3}"/>
              </a:ext>
            </a:extLst>
          </p:cNvPr>
          <p:cNvSpPr>
            <a:spLocks noGrp="1"/>
          </p:cNvSpPr>
          <p:nvPr/>
        </p:nvSpPr>
        <p:spPr>
          <a:xfrm>
            <a:off x="7962900" y="5600700"/>
            <a:ext cx="247650" cy="247650"/>
          </a:xfrm>
          <a:prstGeom prst="rect">
            <a:avLst/>
          </a:prstGeom>
          <a:noFill/>
          <a:ln w="0">
            <a:noFill/>
            <a:prstDash val="solid"/>
          </a:ln>
        </p:spPr>
        <p:txBody>
          <a:bodyPr lIns="0" tIns="0" rIns="0" bIns="0" anchor="ctr"/>
          <a:lstStyle/>
          <a:p>
            <a:pPr algn="ctr">
              <a:defRPr sz="975" b="1">
                <a:solidFill>
                  <a:srgbClr val="FFFFFF"/>
                </a:solidFill>
                <a:latin typeface="Noto Sans KR"/>
                <a:ea typeface="Noto Sans KR"/>
                <a:cs typeface="Noto Sans KR"/>
              </a:defRPr>
            </a:pPr>
            <a:r>
              <a:rPr sz="975" b="1">
                <a:solidFill>
                  <a:srgbClr val="FFFFFF"/>
                </a:solidFill>
                <a:latin typeface="Noto Sans KR"/>
                <a:ea typeface="Noto Sans KR"/>
                <a:cs typeface="Noto Sans KR"/>
              </a:rPr>
              <a:t>!</a:t>
            </a:r>
          </a:p>
        </p:txBody>
      </p:sp>
      <p:sp>
        <p:nvSpPr>
          <p:cNvPr id="29" name="직사각형 28">
            <a:extLst>
              <a:ext uri="{FF2B5EF4-FFF2-40B4-BE49-F238E27FC236}">
                <a16:creationId xmlns:a16="http://schemas.microsoft.com/office/drawing/2014/main" id="{C1B45394-A09F-4609-B3AD-5478B8E730DD}"/>
              </a:ext>
            </a:extLst>
          </p:cNvPr>
          <p:cNvSpPr>
            <a:spLocks noGrp="1"/>
          </p:cNvSpPr>
          <p:nvPr/>
        </p:nvSpPr>
        <p:spPr>
          <a:xfrm>
            <a:off x="8343900" y="5562600"/>
            <a:ext cx="2571750" cy="323850"/>
          </a:xfrm>
          <a:prstGeom prst="rect">
            <a:avLst/>
          </a:prstGeom>
          <a:noFill/>
          <a:ln w="0">
            <a:noFill/>
            <a:prstDash val="solid"/>
          </a:ln>
        </p:spPr>
        <p:txBody>
          <a:bodyPr lIns="0" tIns="0" rIns="0" bIns="0" anchor="ctr"/>
          <a:lstStyle/>
          <a:p>
            <a:pPr algn="l">
              <a:defRPr sz="1275" b="1">
                <a:solidFill>
                  <a:srgbClr val="14212B"/>
                </a:solidFill>
                <a:latin typeface="Noto Sans KR"/>
                <a:ea typeface="Noto Sans KR"/>
                <a:cs typeface="Noto Sans KR"/>
              </a:defRPr>
            </a:pPr>
            <a:r>
              <a:rPr sz="1275" b="1">
                <a:solidFill>
                  <a:srgbClr val="14212B"/>
                </a:solidFill>
                <a:latin typeface="Noto Sans KR"/>
                <a:ea typeface="Noto Sans KR"/>
                <a:cs typeface="Noto Sans KR"/>
              </a:rPr>
              <a:t>세번 확정</a:t>
            </a:r>
          </a:p>
        </p:txBody>
      </p:sp>
    </p:spTree>
    <p:extLst>
      <p:ext uri="{BB962C8B-B14F-4D97-AF65-F5344CB8AC3E}">
        <p14:creationId xmlns:p14="http://schemas.microsoft.com/office/powerpoint/2010/main" val="1837715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직사각형 27">
            <a:extLst>
              <a:ext uri="{FF2B5EF4-FFF2-40B4-BE49-F238E27FC236}">
                <a16:creationId xmlns:a16="http://schemas.microsoft.com/office/drawing/2014/main" id="{5BE6A461-E193-4245-AE62-03601FBB4A91}"/>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5</a:t>
            </a:r>
          </a:p>
        </p:txBody>
      </p:sp>
      <p:sp>
        <p:nvSpPr>
          <p:cNvPr id="2" name="slide-9-title">
            <a:extLst>
              <a:ext uri="{FF2B5EF4-FFF2-40B4-BE49-F238E27FC236}">
                <a16:creationId xmlns:a16="http://schemas.microsoft.com/office/drawing/2014/main" id="{D60A4DB9-5352-4EFA-B9D9-ADA24D71B4EC}"/>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AI는 요약문이 아니라 조건부 추진과 다음 행동을 만듭니다</a:t>
            </a:r>
          </a:p>
        </p:txBody>
      </p:sp>
      <p:sp>
        <p:nvSpPr>
          <p:cNvPr id="3" name="직사각형 2">
            <a:extLst>
              <a:ext uri="{FF2B5EF4-FFF2-40B4-BE49-F238E27FC236}">
                <a16:creationId xmlns:a16="http://schemas.microsoft.com/office/drawing/2014/main" id="{7250C128-DB59-4699-A1D6-649A05A4D2C0}"/>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D614AD86-7D8E-4E23-9CED-C0565D5DB2F7}"/>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5DCB30D0-36AC-4510-9507-D0AAB8D15DB7}"/>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7" name="직사각형 6">
            <a:extLst>
              <a:ext uri="{FF2B5EF4-FFF2-40B4-BE49-F238E27FC236}">
                <a16:creationId xmlns:a16="http://schemas.microsoft.com/office/drawing/2014/main" id="{1B9844C9-BFF9-4E1F-9DAE-845C321835C5}"/>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09</a:t>
            </a:r>
          </a:p>
        </p:txBody>
      </p:sp>
      <p:sp>
        <p:nvSpPr>
          <p:cNvPr id="8" name="직사각형 7">
            <a:extLst>
              <a:ext uri="{FF2B5EF4-FFF2-40B4-BE49-F238E27FC236}">
                <a16:creationId xmlns:a16="http://schemas.microsoft.com/office/drawing/2014/main" id="{AB979D32-E27C-4CD0-897E-2F42DB3C1B20}"/>
              </a:ext>
            </a:extLst>
          </p:cNvPr>
          <p:cNvSpPr>
            <a:spLocks noGrp="1"/>
          </p:cNvSpPr>
          <p:nvPr/>
        </p:nvSpPr>
        <p:spPr>
          <a:xfrm>
            <a:off x="685800" y="1428750"/>
            <a:ext cx="2952750" cy="533400"/>
          </a:xfrm>
          <a:prstGeom prst="rect">
            <a:avLst/>
          </a:prstGeom>
          <a:noFill/>
          <a:ln w="0">
            <a:noFill/>
            <a:prstDash val="solid"/>
          </a:ln>
        </p:spPr>
        <p:txBody>
          <a:bodyPr lIns="0" tIns="0" rIns="0" bIns="0" anchor="ctr"/>
          <a:lstStyle/>
          <a:p>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조건부 추진</a:t>
            </a:r>
          </a:p>
        </p:txBody>
      </p:sp>
      <p:sp>
        <p:nvSpPr>
          <p:cNvPr id="9" name="직사각형 8">
            <a:extLst>
              <a:ext uri="{FF2B5EF4-FFF2-40B4-BE49-F238E27FC236}">
                <a16:creationId xmlns:a16="http://schemas.microsoft.com/office/drawing/2014/main" id="{0E09F860-5496-4715-9023-3D918DF4C8B3}"/>
              </a:ext>
            </a:extLst>
          </p:cNvPr>
          <p:cNvSpPr>
            <a:spLocks noGrp="1"/>
          </p:cNvSpPr>
          <p:nvPr/>
        </p:nvSpPr>
        <p:spPr>
          <a:xfrm>
            <a:off x="685800" y="2038350"/>
            <a:ext cx="3105150" cy="685800"/>
          </a:xfrm>
          <a:prstGeom prst="rect">
            <a:avLst/>
          </a:prstGeom>
          <a:noFill/>
          <a:ln w="0">
            <a:noFill/>
            <a:prstDash val="solid"/>
          </a:ln>
        </p:spPr>
        <p:txBody>
          <a:bodyPr lIns="0" tIns="0" rIns="0" bIns="0" anchor="ctr"/>
          <a:lstStyle/>
          <a:p>
            <a:pPr algn="l">
              <a:defRPr sz="1500" b="0">
                <a:solidFill>
                  <a:srgbClr val="5F6B73"/>
                </a:solidFill>
                <a:latin typeface="Noto Sans KR"/>
                <a:ea typeface="Noto Sans KR"/>
                <a:cs typeface="Noto Sans KR"/>
              </a:defRPr>
            </a:pPr>
            <a:r>
              <a:rPr sz="1500" b="0">
                <a:solidFill>
                  <a:srgbClr val="5F6B73"/>
                </a:solidFill>
                <a:latin typeface="Noto Sans KR"/>
                <a:ea typeface="Noto Sans KR"/>
                <a:cs typeface="Noto Sans KR"/>
              </a:rPr>
              <a:t>근거가 있는 조건을</a:t>
            </a:r>
          </a:p>
          <a:p>
            <a:pPr algn="l">
              <a:defRPr sz="1500" b="0">
                <a:solidFill>
                  <a:srgbClr val="5F6B73"/>
                </a:solidFill>
                <a:latin typeface="Noto Sans KR"/>
                <a:ea typeface="Noto Sans KR"/>
                <a:cs typeface="Noto Sans KR"/>
              </a:defRPr>
            </a:pPr>
            <a:r>
              <a:rPr sz="1500" b="0">
                <a:solidFill>
                  <a:srgbClr val="5F6B73"/>
                </a:solidFill>
                <a:latin typeface="Noto Sans KR"/>
                <a:ea typeface="Noto Sans KR"/>
                <a:cs typeface="Noto Sans KR"/>
              </a:rPr>
              <a:t>실행 항목으로 전환</a:t>
            </a:r>
          </a:p>
        </p:txBody>
      </p:sp>
      <p:sp>
        <p:nvSpPr>
          <p:cNvPr id="10" name="직사각형 9">
            <a:extLst>
              <a:ext uri="{FF2B5EF4-FFF2-40B4-BE49-F238E27FC236}">
                <a16:creationId xmlns:a16="http://schemas.microsoft.com/office/drawing/2014/main" id="{B2AB8E7C-610F-4C41-B224-E776F7E34AE5}"/>
              </a:ext>
            </a:extLst>
          </p:cNvPr>
          <p:cNvSpPr>
            <a:spLocks noGrp="1"/>
          </p:cNvSpPr>
          <p:nvPr/>
        </p:nvSpPr>
        <p:spPr>
          <a:xfrm>
            <a:off x="685800" y="3048000"/>
            <a:ext cx="1428750" cy="419100"/>
          </a:xfrm>
          <a:prstGeom prst="rect">
            <a:avLst/>
          </a:prstGeom>
          <a:noFill/>
          <a:ln w="0">
            <a:noFill/>
            <a:prstDash val="solid"/>
          </a:ln>
        </p:spPr>
        <p:txBody>
          <a:bodyPr lIns="0" tIns="0" rIns="0" bIns="0" anchor="ctr"/>
          <a:lstStyle/>
          <a:p>
            <a:pPr algn="l">
              <a:defRPr sz="2175" b="1">
                <a:solidFill>
                  <a:srgbClr val="C62828"/>
                </a:solidFill>
                <a:latin typeface="Noto Sans KR"/>
                <a:ea typeface="Noto Sans KR"/>
                <a:cs typeface="Noto Sans KR"/>
              </a:defRPr>
            </a:pPr>
            <a:r>
              <a:rPr sz="2175" b="1">
                <a:solidFill>
                  <a:srgbClr val="C62828"/>
                </a:solidFill>
                <a:latin typeface="Noto Sans KR"/>
                <a:ea typeface="Noto Sans KR"/>
                <a:cs typeface="Noto Sans KR"/>
              </a:rPr>
              <a:t>14.72%</a:t>
            </a:r>
          </a:p>
        </p:txBody>
      </p:sp>
      <p:sp>
        <p:nvSpPr>
          <p:cNvPr id="11" name="직사각형 10">
            <a:extLst>
              <a:ext uri="{FF2B5EF4-FFF2-40B4-BE49-F238E27FC236}">
                <a16:creationId xmlns:a16="http://schemas.microsoft.com/office/drawing/2014/main" id="{6515C455-BAD5-44AF-9BEE-F8E81D9AFA3B}"/>
              </a:ext>
            </a:extLst>
          </p:cNvPr>
          <p:cNvSpPr>
            <a:spLocks noGrp="1"/>
          </p:cNvSpPr>
          <p:nvPr/>
        </p:nvSpPr>
        <p:spPr>
          <a:xfrm>
            <a:off x="2171700" y="3048000"/>
            <a:ext cx="1619250" cy="266700"/>
          </a:xfrm>
          <a:prstGeom prst="rect">
            <a:avLst/>
          </a:prstGeom>
          <a:noFill/>
          <a:ln w="0">
            <a:noFill/>
            <a:prstDash val="solid"/>
          </a:ln>
        </p:spPr>
        <p:txBody>
          <a:bodyPr lIns="0" tIns="0" rIns="0" bIns="0" anchor="ctr"/>
          <a:lstStyle/>
          <a:p>
            <a:pPr algn="l">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반덤핑 관세</a:t>
            </a:r>
          </a:p>
        </p:txBody>
      </p:sp>
      <p:sp>
        <p:nvSpPr>
          <p:cNvPr id="12" name="직사각형 11">
            <a:extLst>
              <a:ext uri="{FF2B5EF4-FFF2-40B4-BE49-F238E27FC236}">
                <a16:creationId xmlns:a16="http://schemas.microsoft.com/office/drawing/2014/main" id="{61EEAC3A-9664-48EE-80C2-86331D98955B}"/>
              </a:ext>
            </a:extLst>
          </p:cNvPr>
          <p:cNvSpPr>
            <a:spLocks noGrp="1"/>
          </p:cNvSpPr>
          <p:nvPr/>
        </p:nvSpPr>
        <p:spPr>
          <a:xfrm>
            <a:off x="2171700" y="3371850"/>
            <a:ext cx="1619250" cy="2286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원가 재산정</a:t>
            </a:r>
          </a:p>
        </p:txBody>
      </p:sp>
      <p:sp>
        <p:nvSpPr>
          <p:cNvPr id="13" name="직사각형 12">
            <a:extLst>
              <a:ext uri="{FF2B5EF4-FFF2-40B4-BE49-F238E27FC236}">
                <a16:creationId xmlns:a16="http://schemas.microsoft.com/office/drawing/2014/main" id="{836279B4-ADF1-4AF0-8477-D5816B90F9C2}"/>
              </a:ext>
            </a:extLst>
          </p:cNvPr>
          <p:cNvSpPr>
            <a:spLocks noGrp="1"/>
          </p:cNvSpPr>
          <p:nvPr/>
        </p:nvSpPr>
        <p:spPr>
          <a:xfrm>
            <a:off x="685800" y="3733800"/>
            <a:ext cx="3105150" cy="9525"/>
          </a:xfrm>
          <a:prstGeom prst="rect">
            <a:avLst/>
          </a:prstGeom>
          <a:solidFill>
            <a:srgbClr val="D7DEE2"/>
          </a:solidFill>
          <a:ln w="0">
            <a:solidFill>
              <a:srgbClr val="D7DEE2"/>
            </a:solidFill>
            <a:prstDash val="solid"/>
          </a:ln>
        </p:spPr>
      </p:sp>
      <p:sp>
        <p:nvSpPr>
          <p:cNvPr id="14" name="직사각형 13">
            <a:extLst>
              <a:ext uri="{FF2B5EF4-FFF2-40B4-BE49-F238E27FC236}">
                <a16:creationId xmlns:a16="http://schemas.microsoft.com/office/drawing/2014/main" id="{81778549-53D0-43E8-B1B4-4B7CEA4EBD10}"/>
              </a:ext>
            </a:extLst>
          </p:cNvPr>
          <p:cNvSpPr>
            <a:spLocks noGrp="1"/>
          </p:cNvSpPr>
          <p:nvPr/>
        </p:nvSpPr>
        <p:spPr>
          <a:xfrm>
            <a:off x="685800" y="3924300"/>
            <a:ext cx="1428750" cy="419100"/>
          </a:xfrm>
          <a:prstGeom prst="rect">
            <a:avLst/>
          </a:prstGeom>
          <a:noFill/>
          <a:ln w="0">
            <a:noFill/>
            <a:prstDash val="solid"/>
          </a:ln>
        </p:spPr>
        <p:txBody>
          <a:bodyPr lIns="0" tIns="0" rIns="0" bIns="0" anchor="ctr"/>
          <a:lstStyle/>
          <a:p>
            <a:pPr algn="l">
              <a:defRPr sz="2175" b="1">
                <a:solidFill>
                  <a:srgbClr val="00A58A"/>
                </a:solidFill>
                <a:latin typeface="Noto Sans KR"/>
                <a:ea typeface="Noto Sans KR"/>
                <a:cs typeface="Noto Sans KR"/>
              </a:defRPr>
            </a:pPr>
            <a:r>
              <a:rPr sz="2175" b="1">
                <a:solidFill>
                  <a:srgbClr val="00A58A"/>
                </a:solidFill>
                <a:latin typeface="Noto Sans KR"/>
                <a:ea typeface="Noto Sans KR"/>
                <a:cs typeface="Noto Sans KR"/>
              </a:rPr>
              <a:t>DOT</a:t>
            </a:r>
          </a:p>
        </p:txBody>
      </p:sp>
      <p:sp>
        <p:nvSpPr>
          <p:cNvPr id="15" name="직사각형 14">
            <a:extLst>
              <a:ext uri="{FF2B5EF4-FFF2-40B4-BE49-F238E27FC236}">
                <a16:creationId xmlns:a16="http://schemas.microsoft.com/office/drawing/2014/main" id="{3D13FADD-FD5D-4CC8-AFCD-B94B7D80D0A4}"/>
              </a:ext>
            </a:extLst>
          </p:cNvPr>
          <p:cNvSpPr>
            <a:spLocks noGrp="1"/>
          </p:cNvSpPr>
          <p:nvPr/>
        </p:nvSpPr>
        <p:spPr>
          <a:xfrm>
            <a:off x="2171700" y="3924300"/>
            <a:ext cx="1619250" cy="266700"/>
          </a:xfrm>
          <a:prstGeom prst="rect">
            <a:avLst/>
          </a:prstGeom>
          <a:noFill/>
          <a:ln w="0">
            <a:noFill/>
            <a:prstDash val="solid"/>
          </a:ln>
        </p:spPr>
        <p:txBody>
          <a:bodyPr lIns="0" tIns="0" rIns="0" bIns="0" anchor="ctr"/>
          <a:lstStyle/>
          <a:p>
            <a:pPr algn="l">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필수 인증</a:t>
            </a:r>
          </a:p>
        </p:txBody>
      </p:sp>
      <p:sp>
        <p:nvSpPr>
          <p:cNvPr id="16" name="직사각형 15">
            <a:extLst>
              <a:ext uri="{FF2B5EF4-FFF2-40B4-BE49-F238E27FC236}">
                <a16:creationId xmlns:a16="http://schemas.microsoft.com/office/drawing/2014/main" id="{F9AB6B7A-2BC9-47A1-AD69-CAC3F143D116}"/>
              </a:ext>
            </a:extLst>
          </p:cNvPr>
          <p:cNvSpPr>
            <a:spLocks noGrp="1"/>
          </p:cNvSpPr>
          <p:nvPr/>
        </p:nvSpPr>
        <p:spPr>
          <a:xfrm>
            <a:off x="2171700" y="4248150"/>
            <a:ext cx="1619250" cy="2286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기관 확인</a:t>
            </a:r>
          </a:p>
        </p:txBody>
      </p:sp>
      <p:sp>
        <p:nvSpPr>
          <p:cNvPr id="17" name="직사각형 16">
            <a:extLst>
              <a:ext uri="{FF2B5EF4-FFF2-40B4-BE49-F238E27FC236}">
                <a16:creationId xmlns:a16="http://schemas.microsoft.com/office/drawing/2014/main" id="{681782F8-FCBD-4890-9F57-5C0C6F1585AC}"/>
              </a:ext>
            </a:extLst>
          </p:cNvPr>
          <p:cNvSpPr>
            <a:spLocks noGrp="1"/>
          </p:cNvSpPr>
          <p:nvPr/>
        </p:nvSpPr>
        <p:spPr>
          <a:xfrm>
            <a:off x="685800" y="4610100"/>
            <a:ext cx="3105150" cy="9525"/>
          </a:xfrm>
          <a:prstGeom prst="rect">
            <a:avLst/>
          </a:prstGeom>
          <a:solidFill>
            <a:srgbClr val="D7DEE2"/>
          </a:solidFill>
          <a:ln w="0">
            <a:solidFill>
              <a:srgbClr val="D7DEE2"/>
            </a:solidFill>
            <a:prstDash val="solid"/>
          </a:ln>
        </p:spPr>
      </p:sp>
      <p:sp>
        <p:nvSpPr>
          <p:cNvPr id="18" name="직사각형 17">
            <a:extLst>
              <a:ext uri="{FF2B5EF4-FFF2-40B4-BE49-F238E27FC236}">
                <a16:creationId xmlns:a16="http://schemas.microsoft.com/office/drawing/2014/main" id="{0E9876A2-8E76-47AC-A3BD-8760B31C8365}"/>
              </a:ext>
            </a:extLst>
          </p:cNvPr>
          <p:cNvSpPr>
            <a:spLocks noGrp="1"/>
          </p:cNvSpPr>
          <p:nvPr/>
        </p:nvSpPr>
        <p:spPr>
          <a:xfrm>
            <a:off x="685800" y="4800600"/>
            <a:ext cx="1428750" cy="419100"/>
          </a:xfrm>
          <a:prstGeom prst="rect">
            <a:avLst/>
          </a:prstGeom>
          <a:noFill/>
          <a:ln w="0">
            <a:noFill/>
            <a:prstDash val="solid"/>
          </a:ln>
        </p:spPr>
        <p:txBody>
          <a:bodyPr lIns="0" tIns="0" rIns="0" bIns="0" anchor="ctr"/>
          <a:lstStyle/>
          <a:p>
            <a:pPr algn="l">
              <a:defRPr sz="2175" b="1">
                <a:solidFill>
                  <a:srgbClr val="00A58A"/>
                </a:solidFill>
                <a:latin typeface="Noto Sans KR"/>
                <a:ea typeface="Noto Sans KR"/>
                <a:cs typeface="Noto Sans KR"/>
              </a:defRPr>
            </a:pPr>
            <a:r>
              <a:rPr sz="2175" b="1">
                <a:solidFill>
                  <a:srgbClr val="00A58A"/>
                </a:solidFill>
                <a:latin typeface="Noto Sans KR"/>
                <a:ea typeface="Noto Sans KR"/>
                <a:cs typeface="Noto Sans KR"/>
              </a:rPr>
              <a:t>85.7%</a:t>
            </a:r>
          </a:p>
        </p:txBody>
      </p:sp>
      <p:sp>
        <p:nvSpPr>
          <p:cNvPr id="19" name="직사각형 18">
            <a:extLst>
              <a:ext uri="{FF2B5EF4-FFF2-40B4-BE49-F238E27FC236}">
                <a16:creationId xmlns:a16="http://schemas.microsoft.com/office/drawing/2014/main" id="{805E5E3D-23C0-462C-A066-1F66174BF65E}"/>
              </a:ext>
            </a:extLst>
          </p:cNvPr>
          <p:cNvSpPr>
            <a:spLocks noGrp="1"/>
          </p:cNvSpPr>
          <p:nvPr/>
        </p:nvSpPr>
        <p:spPr>
          <a:xfrm>
            <a:off x="2171700" y="4800600"/>
            <a:ext cx="1619250" cy="266700"/>
          </a:xfrm>
          <a:prstGeom prst="rect">
            <a:avLst/>
          </a:prstGeom>
          <a:noFill/>
          <a:ln w="0">
            <a:noFill/>
            <a:prstDash val="solid"/>
          </a:ln>
        </p:spPr>
        <p:txBody>
          <a:bodyPr lIns="0" tIns="0" rIns="0" bIns="0" anchor="ctr"/>
          <a:lstStyle/>
          <a:p>
            <a:pPr algn="l">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O/A 결제 비중</a:t>
            </a:r>
          </a:p>
        </p:txBody>
      </p:sp>
      <p:sp>
        <p:nvSpPr>
          <p:cNvPr id="20" name="직사각형 19">
            <a:extLst>
              <a:ext uri="{FF2B5EF4-FFF2-40B4-BE49-F238E27FC236}">
                <a16:creationId xmlns:a16="http://schemas.microsoft.com/office/drawing/2014/main" id="{3BB988DC-F335-4CCC-B20C-8D1961CD6B7F}"/>
              </a:ext>
            </a:extLst>
          </p:cNvPr>
          <p:cNvSpPr>
            <a:spLocks noGrp="1"/>
          </p:cNvSpPr>
          <p:nvPr/>
        </p:nvSpPr>
        <p:spPr>
          <a:xfrm>
            <a:off x="2171700" y="5124450"/>
            <a:ext cx="1619250" cy="2286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무역보험 검토</a:t>
            </a:r>
          </a:p>
        </p:txBody>
      </p:sp>
      <p:sp>
        <p:nvSpPr>
          <p:cNvPr id="21" name="직사각형 20">
            <a:extLst>
              <a:ext uri="{FF2B5EF4-FFF2-40B4-BE49-F238E27FC236}">
                <a16:creationId xmlns:a16="http://schemas.microsoft.com/office/drawing/2014/main" id="{A53D448B-EB49-4D98-A3E6-EAF60318F543}"/>
              </a:ext>
            </a:extLst>
          </p:cNvPr>
          <p:cNvSpPr>
            <a:spLocks noGrp="1"/>
          </p:cNvSpPr>
          <p:nvPr/>
        </p:nvSpPr>
        <p:spPr>
          <a:xfrm>
            <a:off x="685800" y="5486400"/>
            <a:ext cx="3105150" cy="9525"/>
          </a:xfrm>
          <a:prstGeom prst="rect">
            <a:avLst/>
          </a:prstGeom>
          <a:solidFill>
            <a:srgbClr val="D7DEE2"/>
          </a:solidFill>
          <a:ln w="0">
            <a:solidFill>
              <a:srgbClr val="D7DEE2"/>
            </a:solidFill>
            <a:prstDash val="solid"/>
          </a:ln>
        </p:spPr>
      </p:sp>
      <p:sp>
        <p:nvSpPr>
          <p:cNvPr id="22" name="사각형: 둥근 모서리 21">
            <a:extLst>
              <a:ext uri="{FF2B5EF4-FFF2-40B4-BE49-F238E27FC236}">
                <a16:creationId xmlns:a16="http://schemas.microsoft.com/office/drawing/2014/main" id="{2BEEDAC9-292C-4D98-B13E-FC7E48FCF69E}"/>
              </a:ext>
            </a:extLst>
          </p:cNvPr>
          <p:cNvSpPr>
            <a:spLocks noGrp="1"/>
          </p:cNvSpPr>
          <p:nvPr/>
        </p:nvSpPr>
        <p:spPr>
          <a:xfrm>
            <a:off x="685800" y="5715000"/>
            <a:ext cx="1657350" cy="285750"/>
          </a:xfrm>
          <a:prstGeom prst="roundRect">
            <a:avLst>
              <a:gd name="adj" fmla="val 40000"/>
            </a:avLst>
          </a:prstGeom>
          <a:solidFill>
            <a:srgbClr val="051C2C"/>
          </a:solidFill>
          <a:ln w="0">
            <a:solidFill>
              <a:srgbClr val="051C2C"/>
            </a:solidFill>
            <a:prstDash val="solid"/>
          </a:ln>
        </p:spPr>
      </p:sp>
      <p:sp>
        <p:nvSpPr>
          <p:cNvPr id="23" name="직사각형 22">
            <a:extLst>
              <a:ext uri="{FF2B5EF4-FFF2-40B4-BE49-F238E27FC236}">
                <a16:creationId xmlns:a16="http://schemas.microsoft.com/office/drawing/2014/main" id="{577E5DF7-818E-4AE2-B2C5-2A743037E6CD}"/>
              </a:ext>
            </a:extLst>
          </p:cNvPr>
          <p:cNvSpPr>
            <a:spLocks noGrp="1"/>
          </p:cNvSpPr>
          <p:nvPr/>
        </p:nvSpPr>
        <p:spPr>
          <a:xfrm>
            <a:off x="685800" y="5715000"/>
            <a:ext cx="16573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PDF DOWNLOAD</a:t>
            </a:r>
          </a:p>
        </p:txBody>
      </p:sp>
      <p:sp>
        <p:nvSpPr>
          <p:cNvPr id="24" name="사각형: 둥근 모서리 23">
            <a:extLst>
              <a:ext uri="{FF2B5EF4-FFF2-40B4-BE49-F238E27FC236}">
                <a16:creationId xmlns:a16="http://schemas.microsoft.com/office/drawing/2014/main" id="{B16E8DF5-473C-44E9-81E2-F7C2BE4C391A}"/>
              </a:ext>
            </a:extLst>
          </p:cNvPr>
          <p:cNvSpPr>
            <a:spLocks noGrp="1"/>
          </p:cNvSpPr>
          <p:nvPr/>
        </p:nvSpPr>
        <p:spPr>
          <a:xfrm>
            <a:off x="4267200" y="1371600"/>
            <a:ext cx="7372350" cy="4686300"/>
          </a:xfrm>
          <a:prstGeom prst="roundRect">
            <a:avLst>
              <a:gd name="adj" fmla="val 2439"/>
            </a:avLst>
          </a:prstGeom>
          <a:solidFill>
            <a:srgbClr val="FFFFFF"/>
          </a:solidFill>
          <a:ln w="9525">
            <a:solidFill>
              <a:srgbClr val="D7DEE2"/>
            </a:solidFill>
            <a:prstDash val="solid"/>
          </a:ln>
        </p:spPr>
      </p:sp>
      <p:sp>
        <p:nvSpPr>
          <p:cNvPr id="25" name="사각형: 둥근 모서리 24">
            <a:extLst>
              <a:ext uri="{FF2B5EF4-FFF2-40B4-BE49-F238E27FC236}">
                <a16:creationId xmlns:a16="http://schemas.microsoft.com/office/drawing/2014/main" id="{24FEED96-11B3-452C-AF87-43384B8A38D3}"/>
              </a:ext>
            </a:extLst>
          </p:cNvPr>
          <p:cNvSpPr>
            <a:spLocks noGrp="1"/>
          </p:cNvSpPr>
          <p:nvPr/>
        </p:nvSpPr>
        <p:spPr>
          <a:xfrm>
            <a:off x="4457700" y="1562100"/>
            <a:ext cx="1295400" cy="285750"/>
          </a:xfrm>
          <a:prstGeom prst="roundRect">
            <a:avLst>
              <a:gd name="adj" fmla="val 40000"/>
            </a:avLst>
          </a:prstGeom>
          <a:solidFill>
            <a:srgbClr val="051C2C"/>
          </a:solidFill>
          <a:ln w="0">
            <a:solidFill>
              <a:srgbClr val="051C2C"/>
            </a:solidFill>
            <a:prstDash val="solid"/>
          </a:ln>
        </p:spPr>
      </p:sp>
      <p:sp>
        <p:nvSpPr>
          <p:cNvPr id="26" name="직사각형 25">
            <a:extLst>
              <a:ext uri="{FF2B5EF4-FFF2-40B4-BE49-F238E27FC236}">
                <a16:creationId xmlns:a16="http://schemas.microsoft.com/office/drawing/2014/main" id="{638D6D30-4A54-4C97-B872-3AD537213548}"/>
              </a:ext>
            </a:extLst>
          </p:cNvPr>
          <p:cNvSpPr>
            <a:spLocks noGrp="1"/>
          </p:cNvSpPr>
          <p:nvPr/>
        </p:nvSpPr>
        <p:spPr>
          <a:xfrm>
            <a:off x="4457700" y="1562100"/>
            <a:ext cx="129540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AI 수출전략 리포트</a:t>
            </a:r>
          </a:p>
        </p:txBody>
      </p:sp>
      <p:pic>
        <p:nvPicPr>
          <p:cNvPr id="54" name="그림 53"/>
          <p:cNvPicPr>
            <a:picLocks noChangeAspect="1"/>
          </p:cNvPicPr>
          <p:nvPr/>
        </p:nvPicPr>
        <p:blipFill>
          <a:blip r:embed="rId3"/>
          <a:stretch/>
        </p:blipFill>
        <p:spPr>
          <a:xfrm>
            <a:off x="4324350" y="1430359"/>
            <a:ext cx="7258050" cy="4568783"/>
          </a:xfrm>
          <a:prstGeom prst="roundRect">
            <a:avLst>
              <a:gd name="adj" fmla="val 2500"/>
            </a:avLst>
          </a:prstGeom>
        </p:spPr>
      </p:pic>
    </p:spTree>
    <p:extLst>
      <p:ext uri="{BB962C8B-B14F-4D97-AF65-F5344CB8AC3E}">
        <p14:creationId xmlns:p14="http://schemas.microsoft.com/office/powerpoint/2010/main" val="675969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직사각형 30">
            <a:extLst>
              <a:ext uri="{FF2B5EF4-FFF2-40B4-BE49-F238E27FC236}">
                <a16:creationId xmlns:a16="http://schemas.microsoft.com/office/drawing/2014/main" id="{F4371604-9590-4ADF-A676-5B00A8A368B2}"/>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ARCHITECTURE</a:t>
            </a:r>
          </a:p>
        </p:txBody>
      </p:sp>
      <p:sp>
        <p:nvSpPr>
          <p:cNvPr id="2" name="slide-10-title">
            <a:extLst>
              <a:ext uri="{FF2B5EF4-FFF2-40B4-BE49-F238E27FC236}">
                <a16:creationId xmlns:a16="http://schemas.microsoft.com/office/drawing/2014/main" id="{EC6841D5-3677-46B0-B342-44D8AF355096}"/>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dirty="0" err="1">
                <a:solidFill>
                  <a:srgbClr val="051C2C"/>
                </a:solidFill>
                <a:latin typeface="Noto Sans KR"/>
                <a:ea typeface="Noto Sans KR"/>
                <a:cs typeface="Noto Sans KR"/>
              </a:rPr>
              <a:t>공공데이터가</a:t>
            </a:r>
            <a:r>
              <a:rPr sz="2325" b="1" dirty="0">
                <a:solidFill>
                  <a:srgbClr val="051C2C"/>
                </a:solidFill>
                <a:latin typeface="Noto Sans KR"/>
                <a:ea typeface="Noto Sans KR"/>
                <a:cs typeface="Noto Sans KR"/>
              </a:rPr>
              <a:t> </a:t>
            </a:r>
            <a:r>
              <a:rPr sz="2325" b="1" dirty="0" err="1">
                <a:solidFill>
                  <a:srgbClr val="051C2C"/>
                </a:solidFill>
                <a:latin typeface="Noto Sans KR"/>
                <a:ea typeface="Noto Sans KR"/>
                <a:cs typeface="Noto Sans KR"/>
              </a:rPr>
              <a:t>사실을</a:t>
            </a:r>
            <a:r>
              <a:rPr sz="2325" b="1" dirty="0">
                <a:solidFill>
                  <a:srgbClr val="051C2C"/>
                </a:solidFill>
                <a:latin typeface="Noto Sans KR"/>
                <a:ea typeface="Noto Sans KR"/>
                <a:cs typeface="Noto Sans KR"/>
              </a:rPr>
              <a:t> </a:t>
            </a:r>
            <a:r>
              <a:rPr sz="2325" b="1" dirty="0" err="1">
                <a:solidFill>
                  <a:srgbClr val="051C2C"/>
                </a:solidFill>
                <a:latin typeface="Noto Sans KR"/>
                <a:ea typeface="Noto Sans KR"/>
                <a:cs typeface="Noto Sans KR"/>
              </a:rPr>
              <a:t>만들고</a:t>
            </a:r>
            <a:r>
              <a:rPr sz="2325" b="1" dirty="0">
                <a:solidFill>
                  <a:srgbClr val="051C2C"/>
                </a:solidFill>
                <a:latin typeface="Noto Sans KR"/>
                <a:ea typeface="Noto Sans KR"/>
                <a:cs typeface="Noto Sans KR"/>
              </a:rPr>
              <a:t> AI</a:t>
            </a:r>
            <a:r>
              <a:rPr lang="ko-KR" altLang="en-US" sz="2325" b="1" dirty="0">
                <a:solidFill>
                  <a:srgbClr val="051C2C"/>
                </a:solidFill>
                <a:latin typeface="Noto Sans KR"/>
                <a:ea typeface="Noto Sans KR"/>
                <a:cs typeface="Noto Sans KR"/>
              </a:rPr>
              <a:t>는</a:t>
            </a:r>
            <a:r>
              <a:rPr sz="2325" b="1" dirty="0">
                <a:solidFill>
                  <a:srgbClr val="051C2C"/>
                </a:solidFill>
                <a:latin typeface="Noto Sans KR"/>
                <a:ea typeface="Noto Sans KR"/>
                <a:cs typeface="Noto Sans KR"/>
              </a:rPr>
              <a:t> </a:t>
            </a:r>
            <a:r>
              <a:rPr lang="ko-KR" altLang="en-US" sz="2325" b="1" dirty="0">
                <a:solidFill>
                  <a:srgbClr val="051C2C"/>
                </a:solidFill>
                <a:latin typeface="Noto Sans KR"/>
                <a:ea typeface="Noto Sans KR"/>
                <a:cs typeface="Noto Sans KR"/>
              </a:rPr>
              <a:t>요약 하는 기능입니다</a:t>
            </a:r>
            <a:r>
              <a:rPr lang="en-US" altLang="ko-KR" sz="2325" b="1" dirty="0">
                <a:solidFill>
                  <a:srgbClr val="051C2C"/>
                </a:solidFill>
                <a:latin typeface="Noto Sans KR"/>
                <a:ea typeface="Noto Sans KR"/>
                <a:cs typeface="Noto Sans KR"/>
              </a:rPr>
              <a:t>.</a:t>
            </a:r>
            <a:endParaRPr sz="2325" b="1" dirty="0">
              <a:solidFill>
                <a:srgbClr val="051C2C"/>
              </a:solidFill>
              <a:latin typeface="Noto Sans KR"/>
              <a:ea typeface="Noto Sans KR"/>
              <a:cs typeface="Noto Sans KR"/>
            </a:endParaRPr>
          </a:p>
        </p:txBody>
      </p:sp>
      <p:sp>
        <p:nvSpPr>
          <p:cNvPr id="3" name="직사각형 2">
            <a:extLst>
              <a:ext uri="{FF2B5EF4-FFF2-40B4-BE49-F238E27FC236}">
                <a16:creationId xmlns:a16="http://schemas.microsoft.com/office/drawing/2014/main" id="{71BF25B8-1E32-4AEC-A149-E81138E8C0F6}"/>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0158F976-EEB5-42CB-B500-3F26AD7F587A}"/>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96F329AE-1A35-4370-A648-DDD317B70040}"/>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369D6145-F5C2-4333-80C0-69BE9C1055EC}"/>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프로젝트 데이터·AI 아키텍처</a:t>
            </a:r>
          </a:p>
        </p:txBody>
      </p:sp>
      <p:sp>
        <p:nvSpPr>
          <p:cNvPr id="7" name="직사각형 6">
            <a:extLst>
              <a:ext uri="{FF2B5EF4-FFF2-40B4-BE49-F238E27FC236}">
                <a16:creationId xmlns:a16="http://schemas.microsoft.com/office/drawing/2014/main" id="{EA271FA9-DA34-4198-ADF6-55994A56F90C}"/>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10</a:t>
            </a:r>
          </a:p>
        </p:txBody>
      </p:sp>
      <p:sp>
        <p:nvSpPr>
          <p:cNvPr id="8" name="직사각형 7">
            <a:extLst>
              <a:ext uri="{FF2B5EF4-FFF2-40B4-BE49-F238E27FC236}">
                <a16:creationId xmlns:a16="http://schemas.microsoft.com/office/drawing/2014/main" id="{ADE2E8D0-5708-40CA-A456-01C96918ADAE}"/>
              </a:ext>
            </a:extLst>
          </p:cNvPr>
          <p:cNvSpPr>
            <a:spLocks noGrp="1"/>
          </p:cNvSpPr>
          <p:nvPr/>
        </p:nvSpPr>
        <p:spPr>
          <a:xfrm>
            <a:off x="685800" y="1447800"/>
            <a:ext cx="1143000" cy="22860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FACT</a:t>
            </a:r>
          </a:p>
        </p:txBody>
      </p:sp>
      <p:sp>
        <p:nvSpPr>
          <p:cNvPr id="9" name="사각형: 둥근 모서리 8">
            <a:extLst>
              <a:ext uri="{FF2B5EF4-FFF2-40B4-BE49-F238E27FC236}">
                <a16:creationId xmlns:a16="http://schemas.microsoft.com/office/drawing/2014/main" id="{64BA8462-DF72-413D-969D-41B7CBD3F144}"/>
              </a:ext>
            </a:extLst>
          </p:cNvPr>
          <p:cNvSpPr>
            <a:spLocks noGrp="1"/>
          </p:cNvSpPr>
          <p:nvPr/>
        </p:nvSpPr>
        <p:spPr>
          <a:xfrm>
            <a:off x="685800" y="1752600"/>
            <a:ext cx="10820400" cy="1028700"/>
          </a:xfrm>
          <a:prstGeom prst="roundRect">
            <a:avLst>
              <a:gd name="adj" fmla="val 11111"/>
            </a:avLst>
          </a:prstGeom>
          <a:solidFill>
            <a:srgbClr val="F3F6F7"/>
          </a:solidFill>
          <a:ln w="9525">
            <a:solidFill>
              <a:srgbClr val="D7DEE2"/>
            </a:solidFill>
            <a:prstDash val="solid"/>
          </a:ln>
        </p:spPr>
      </p:sp>
      <p:sp>
        <p:nvSpPr>
          <p:cNvPr id="10" name="직사각형 9">
            <a:extLst>
              <a:ext uri="{FF2B5EF4-FFF2-40B4-BE49-F238E27FC236}">
                <a16:creationId xmlns:a16="http://schemas.microsoft.com/office/drawing/2014/main" id="{FA9FE3C1-004A-4C3B-A681-79FEC3D8B2B4}"/>
              </a:ext>
            </a:extLst>
          </p:cNvPr>
          <p:cNvSpPr>
            <a:spLocks noGrp="1"/>
          </p:cNvSpPr>
          <p:nvPr/>
        </p:nvSpPr>
        <p:spPr>
          <a:xfrm>
            <a:off x="933450" y="1943100"/>
            <a:ext cx="2324100" cy="342900"/>
          </a:xfrm>
          <a:prstGeom prst="rect">
            <a:avLst/>
          </a:prstGeom>
          <a:noFill/>
          <a:ln w="0">
            <a:noFill/>
            <a:prstDash val="solid"/>
          </a:ln>
        </p:spPr>
        <p:txBody>
          <a:bodyPr lIns="0" tIns="0" rIns="0" bIns="0" anchor="ctr"/>
          <a:lstStyle/>
          <a:p>
            <a:pPr algn="l">
              <a:defRPr sz="1725" b="1">
                <a:solidFill>
                  <a:srgbClr val="051C2C"/>
                </a:solidFill>
                <a:latin typeface="Noto Sans KR"/>
                <a:ea typeface="Noto Sans KR"/>
                <a:cs typeface="Noto Sans KR"/>
              </a:defRPr>
            </a:pPr>
            <a:r>
              <a:rPr sz="1725" b="1">
                <a:solidFill>
                  <a:srgbClr val="051C2C"/>
                </a:solidFill>
                <a:latin typeface="Noto Sans KR"/>
                <a:ea typeface="Noto Sans KR"/>
                <a:cs typeface="Noto Sans KR"/>
              </a:rPr>
              <a:t>공공데이터 사실층</a:t>
            </a:r>
          </a:p>
        </p:txBody>
      </p:sp>
      <p:sp>
        <p:nvSpPr>
          <p:cNvPr id="11" name="직사각형 10">
            <a:extLst>
              <a:ext uri="{FF2B5EF4-FFF2-40B4-BE49-F238E27FC236}">
                <a16:creationId xmlns:a16="http://schemas.microsoft.com/office/drawing/2014/main" id="{5E011163-1428-4495-9155-ED67EF84F38C}"/>
              </a:ext>
            </a:extLst>
          </p:cNvPr>
          <p:cNvSpPr>
            <a:spLocks noGrp="1"/>
          </p:cNvSpPr>
          <p:nvPr/>
        </p:nvSpPr>
        <p:spPr>
          <a:xfrm>
            <a:off x="3467100" y="1943100"/>
            <a:ext cx="3223260" cy="266700"/>
          </a:xfrm>
          <a:prstGeom prst="rect">
            <a:avLst/>
          </a:prstGeom>
          <a:noFill/>
          <a:ln w="0">
            <a:noFill/>
            <a:prstDash val="solid"/>
          </a:ln>
        </p:spPr>
        <p:txBody>
          <a:bodyPr lIns="0" tIns="0" rIns="0" bIns="0" anchor="ctr"/>
          <a:lstStyle/>
          <a:p>
            <a:pPr algn="l">
              <a:defRPr sz="1500" b="1">
                <a:solidFill>
                  <a:srgbClr val="14212B"/>
                </a:solidFill>
                <a:latin typeface="Noto Sans KR"/>
                <a:ea typeface="Noto Sans KR"/>
                <a:cs typeface="Noto Sans KR"/>
              </a:defRPr>
            </a:pPr>
            <a:r>
              <a:rPr sz="1500" b="1" dirty="0">
                <a:solidFill>
                  <a:srgbClr val="14212B"/>
                </a:solidFill>
                <a:latin typeface="Noto Sans KR"/>
                <a:ea typeface="Noto Sans KR"/>
                <a:cs typeface="Noto Sans KR"/>
              </a:rPr>
              <a:t>KICOX · KOTRA · K-SURE · </a:t>
            </a:r>
            <a:r>
              <a:rPr sz="1500" b="1" dirty="0" err="1">
                <a:solidFill>
                  <a:srgbClr val="14212B"/>
                </a:solidFill>
                <a:latin typeface="Noto Sans KR"/>
                <a:ea typeface="Noto Sans KR"/>
                <a:cs typeface="Noto Sans KR"/>
              </a:rPr>
              <a:t>관세청</a:t>
            </a:r>
            <a:r>
              <a:rPr sz="1500" b="1" dirty="0">
                <a:solidFill>
                  <a:srgbClr val="14212B"/>
                </a:solidFill>
                <a:latin typeface="Noto Sans KR"/>
                <a:ea typeface="Noto Sans KR"/>
                <a:cs typeface="Noto Sans KR"/>
              </a:rPr>
              <a:t> </a:t>
            </a:r>
          </a:p>
        </p:txBody>
      </p:sp>
      <p:sp>
        <p:nvSpPr>
          <p:cNvPr id="12" name="직사각형 11">
            <a:extLst>
              <a:ext uri="{FF2B5EF4-FFF2-40B4-BE49-F238E27FC236}">
                <a16:creationId xmlns:a16="http://schemas.microsoft.com/office/drawing/2014/main" id="{18DA521B-4E07-4D69-A702-EAC2046A6229}"/>
              </a:ext>
            </a:extLst>
          </p:cNvPr>
          <p:cNvSpPr>
            <a:spLocks noGrp="1"/>
          </p:cNvSpPr>
          <p:nvPr/>
        </p:nvSpPr>
        <p:spPr>
          <a:xfrm>
            <a:off x="3467100" y="2343150"/>
            <a:ext cx="7810500" cy="2667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10종 </a:t>
            </a:r>
            <a:r>
              <a:rPr sz="1050" b="0" dirty="0" err="1">
                <a:solidFill>
                  <a:srgbClr val="5F6B73"/>
                </a:solidFill>
                <a:latin typeface="Noto Sans KR"/>
                <a:ea typeface="Noto Sans KR"/>
                <a:cs typeface="Noto Sans KR"/>
              </a:rPr>
              <a:t>API와</a:t>
            </a:r>
            <a:r>
              <a:rPr sz="1050" b="0" dirty="0">
                <a:solidFill>
                  <a:srgbClr val="5F6B73"/>
                </a:solidFill>
                <a:latin typeface="Noto Sans KR"/>
                <a:ea typeface="Noto Sans KR"/>
                <a:cs typeface="Noto Sans KR"/>
              </a:rPr>
              <a:t> </a:t>
            </a:r>
            <a:r>
              <a:rPr sz="1050" b="0" dirty="0" err="1">
                <a:solidFill>
                  <a:srgbClr val="5F6B73"/>
                </a:solidFill>
                <a:latin typeface="Noto Sans KR"/>
                <a:ea typeface="Noto Sans KR"/>
                <a:cs typeface="Noto Sans KR"/>
              </a:rPr>
              <a:t>공식</a:t>
            </a:r>
            <a:r>
              <a:rPr sz="1050" b="0" dirty="0">
                <a:solidFill>
                  <a:srgbClr val="5F6B73"/>
                </a:solidFill>
                <a:latin typeface="Noto Sans KR"/>
                <a:ea typeface="Noto Sans KR"/>
                <a:cs typeface="Noto Sans KR"/>
              </a:rPr>
              <a:t> 웹 </a:t>
            </a:r>
            <a:r>
              <a:rPr sz="1050" b="0" dirty="0" err="1">
                <a:solidFill>
                  <a:srgbClr val="5F6B73"/>
                </a:solidFill>
                <a:latin typeface="Noto Sans KR"/>
                <a:ea typeface="Noto Sans KR"/>
                <a:cs typeface="Noto Sans KR"/>
              </a:rPr>
              <a:t>근거</a:t>
            </a:r>
            <a:endParaRPr sz="1050" b="0" dirty="0">
              <a:solidFill>
                <a:srgbClr val="5F6B73"/>
              </a:solidFill>
              <a:latin typeface="Noto Sans KR"/>
              <a:ea typeface="Noto Sans KR"/>
              <a:cs typeface="Noto Sans KR"/>
            </a:endParaRPr>
          </a:p>
        </p:txBody>
      </p:sp>
      <p:sp>
        <p:nvSpPr>
          <p:cNvPr id="13" name="직사각형 12">
            <a:extLst>
              <a:ext uri="{FF2B5EF4-FFF2-40B4-BE49-F238E27FC236}">
                <a16:creationId xmlns:a16="http://schemas.microsoft.com/office/drawing/2014/main" id="{CA96A1D5-E61E-4D63-B214-42637A5E433A}"/>
              </a:ext>
            </a:extLst>
          </p:cNvPr>
          <p:cNvSpPr>
            <a:spLocks noGrp="1"/>
          </p:cNvSpPr>
          <p:nvPr/>
        </p:nvSpPr>
        <p:spPr>
          <a:xfrm>
            <a:off x="685800" y="3028950"/>
            <a:ext cx="1143000" cy="22860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EVIDENCE</a:t>
            </a:r>
          </a:p>
        </p:txBody>
      </p:sp>
      <p:sp>
        <p:nvSpPr>
          <p:cNvPr id="14" name="사각형: 둥근 모서리 13">
            <a:extLst>
              <a:ext uri="{FF2B5EF4-FFF2-40B4-BE49-F238E27FC236}">
                <a16:creationId xmlns:a16="http://schemas.microsoft.com/office/drawing/2014/main" id="{040204C4-1F3A-40F9-8A61-B0C9C151D6B4}"/>
              </a:ext>
            </a:extLst>
          </p:cNvPr>
          <p:cNvSpPr>
            <a:spLocks noGrp="1"/>
          </p:cNvSpPr>
          <p:nvPr/>
        </p:nvSpPr>
        <p:spPr>
          <a:xfrm>
            <a:off x="685800" y="3333750"/>
            <a:ext cx="10820400" cy="1104900"/>
          </a:xfrm>
          <a:prstGeom prst="roundRect">
            <a:avLst>
              <a:gd name="adj" fmla="val 10345"/>
            </a:avLst>
          </a:prstGeom>
          <a:solidFill>
            <a:srgbClr val="051C2C"/>
          </a:solidFill>
          <a:ln w="0">
            <a:solidFill>
              <a:srgbClr val="051C2C"/>
            </a:solidFill>
            <a:prstDash val="solid"/>
          </a:ln>
        </p:spPr>
      </p:sp>
      <p:sp>
        <p:nvSpPr>
          <p:cNvPr id="15" name="직사각형 14">
            <a:extLst>
              <a:ext uri="{FF2B5EF4-FFF2-40B4-BE49-F238E27FC236}">
                <a16:creationId xmlns:a16="http://schemas.microsoft.com/office/drawing/2014/main" id="{53D403F9-31DE-486E-8059-9571829395E8}"/>
              </a:ext>
            </a:extLst>
          </p:cNvPr>
          <p:cNvSpPr>
            <a:spLocks noGrp="1"/>
          </p:cNvSpPr>
          <p:nvPr/>
        </p:nvSpPr>
        <p:spPr>
          <a:xfrm>
            <a:off x="914400" y="3524250"/>
            <a:ext cx="3162300" cy="304800"/>
          </a:xfrm>
          <a:prstGeom prst="rect">
            <a:avLst/>
          </a:prstGeom>
          <a:noFill/>
          <a:ln w="0">
            <a:noFill/>
            <a:prstDash val="solid"/>
          </a:ln>
        </p:spPr>
        <p:txBody>
          <a:bodyPr lIns="0" tIns="0" rIns="0" bIns="0" anchor="ctr"/>
          <a:lstStyle/>
          <a:p>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정규화</a:t>
            </a:r>
          </a:p>
        </p:txBody>
      </p:sp>
      <p:sp>
        <p:nvSpPr>
          <p:cNvPr id="16" name="직사각형 15">
            <a:extLst>
              <a:ext uri="{FF2B5EF4-FFF2-40B4-BE49-F238E27FC236}">
                <a16:creationId xmlns:a16="http://schemas.microsoft.com/office/drawing/2014/main" id="{606F0E14-8EE7-468C-A1D1-74B7DB404974}"/>
              </a:ext>
            </a:extLst>
          </p:cNvPr>
          <p:cNvSpPr>
            <a:spLocks noGrp="1"/>
          </p:cNvSpPr>
          <p:nvPr/>
        </p:nvSpPr>
        <p:spPr>
          <a:xfrm>
            <a:off x="914400" y="3886200"/>
            <a:ext cx="3162300" cy="323850"/>
          </a:xfrm>
          <a:prstGeom prst="rect">
            <a:avLst/>
          </a:prstGeom>
          <a:noFill/>
          <a:ln w="0">
            <a:noFill/>
            <a:prstDash val="solid"/>
          </a:ln>
        </p:spPr>
        <p:txBody>
          <a:bodyPr lIns="0" tIns="0" rIns="0" bIns="0" anchor="ctr"/>
          <a:lstStyle/>
          <a:p>
            <a:pPr algn="ctr">
              <a:defRPr sz="1125" b="0">
                <a:solidFill>
                  <a:srgbClr val="FFFFFF"/>
                </a:solidFill>
                <a:latin typeface="Noto Sans KR"/>
                <a:ea typeface="Noto Sans KR"/>
                <a:cs typeface="Noto Sans KR"/>
              </a:defRPr>
            </a:pPr>
            <a:r>
              <a:rPr sz="1125" b="0">
                <a:solidFill>
                  <a:srgbClr val="FFFFFF"/>
                </a:solidFill>
                <a:latin typeface="Noto Sans KR"/>
                <a:ea typeface="Noto Sans KR"/>
                <a:cs typeface="Noto Sans KR"/>
              </a:rPr>
              <a:t>기업 · HSK · 국가 키</a:t>
            </a:r>
          </a:p>
        </p:txBody>
      </p:sp>
      <p:sp>
        <p:nvSpPr>
          <p:cNvPr id="17" name="직사각형 16">
            <a:extLst>
              <a:ext uri="{FF2B5EF4-FFF2-40B4-BE49-F238E27FC236}">
                <a16:creationId xmlns:a16="http://schemas.microsoft.com/office/drawing/2014/main" id="{AE5D55E5-5AE1-42E6-85F9-BF8F5B1FA8BF}"/>
              </a:ext>
            </a:extLst>
          </p:cNvPr>
          <p:cNvSpPr>
            <a:spLocks noGrp="1"/>
          </p:cNvSpPr>
          <p:nvPr/>
        </p:nvSpPr>
        <p:spPr>
          <a:xfrm>
            <a:off x="4286250" y="3543300"/>
            <a:ext cx="9525" cy="685800"/>
          </a:xfrm>
          <a:prstGeom prst="rect">
            <a:avLst/>
          </a:prstGeom>
          <a:solidFill>
            <a:srgbClr val="426170"/>
          </a:solidFill>
          <a:ln w="0">
            <a:solidFill>
              <a:srgbClr val="426170"/>
            </a:solidFill>
            <a:prstDash val="solid"/>
          </a:ln>
        </p:spPr>
      </p:sp>
      <p:sp>
        <p:nvSpPr>
          <p:cNvPr id="18" name="직사각형 17">
            <a:extLst>
              <a:ext uri="{FF2B5EF4-FFF2-40B4-BE49-F238E27FC236}">
                <a16:creationId xmlns:a16="http://schemas.microsoft.com/office/drawing/2014/main" id="{9883592C-4058-4393-9A52-E1A2A49F8806}"/>
              </a:ext>
            </a:extLst>
          </p:cNvPr>
          <p:cNvSpPr>
            <a:spLocks noGrp="1"/>
          </p:cNvSpPr>
          <p:nvPr/>
        </p:nvSpPr>
        <p:spPr>
          <a:xfrm>
            <a:off x="4476750" y="3524250"/>
            <a:ext cx="3162300" cy="304800"/>
          </a:xfrm>
          <a:prstGeom prst="rect">
            <a:avLst/>
          </a:prstGeom>
          <a:noFill/>
          <a:ln w="0">
            <a:noFill/>
            <a:prstDash val="solid"/>
          </a:ln>
        </p:spPr>
        <p:txBody>
          <a:bodyPr lIns="0" tIns="0" rIns="0" bIns="0" anchor="ctr"/>
          <a:lstStyle/>
          <a:p>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근거 ID</a:t>
            </a:r>
          </a:p>
        </p:txBody>
      </p:sp>
      <p:sp>
        <p:nvSpPr>
          <p:cNvPr id="19" name="직사각형 18">
            <a:extLst>
              <a:ext uri="{FF2B5EF4-FFF2-40B4-BE49-F238E27FC236}">
                <a16:creationId xmlns:a16="http://schemas.microsoft.com/office/drawing/2014/main" id="{1B1D3272-301B-4671-81D3-7B39F7B65A62}"/>
              </a:ext>
            </a:extLst>
          </p:cNvPr>
          <p:cNvSpPr>
            <a:spLocks noGrp="1"/>
          </p:cNvSpPr>
          <p:nvPr/>
        </p:nvSpPr>
        <p:spPr>
          <a:xfrm>
            <a:off x="4476750" y="3886200"/>
            <a:ext cx="3162300" cy="323850"/>
          </a:xfrm>
          <a:prstGeom prst="rect">
            <a:avLst/>
          </a:prstGeom>
          <a:noFill/>
          <a:ln w="0">
            <a:noFill/>
            <a:prstDash val="solid"/>
          </a:ln>
        </p:spPr>
        <p:txBody>
          <a:bodyPr lIns="0" tIns="0" rIns="0" bIns="0" anchor="ctr"/>
          <a:lstStyle/>
          <a:p>
            <a:pPr algn="ctr">
              <a:defRPr sz="1125" b="0">
                <a:solidFill>
                  <a:srgbClr val="FFFFFF"/>
                </a:solidFill>
                <a:latin typeface="Noto Sans KR"/>
                <a:ea typeface="Noto Sans KR"/>
                <a:cs typeface="Noto Sans KR"/>
              </a:defRPr>
            </a:pPr>
            <a:r>
              <a:rPr sz="1125" b="0">
                <a:solidFill>
                  <a:srgbClr val="FFFFFF"/>
                </a:solidFill>
                <a:latin typeface="Noto Sans KR"/>
                <a:ea typeface="Noto Sans KR"/>
                <a:cs typeface="Noto Sans KR"/>
              </a:rPr>
              <a:t>출처 · 조회일 · 상태</a:t>
            </a:r>
          </a:p>
        </p:txBody>
      </p:sp>
      <p:sp>
        <p:nvSpPr>
          <p:cNvPr id="20" name="직사각형 19">
            <a:extLst>
              <a:ext uri="{FF2B5EF4-FFF2-40B4-BE49-F238E27FC236}">
                <a16:creationId xmlns:a16="http://schemas.microsoft.com/office/drawing/2014/main" id="{AE9D23F9-9977-4F55-B97B-61B0CB424849}"/>
              </a:ext>
            </a:extLst>
          </p:cNvPr>
          <p:cNvSpPr>
            <a:spLocks noGrp="1"/>
          </p:cNvSpPr>
          <p:nvPr/>
        </p:nvSpPr>
        <p:spPr>
          <a:xfrm>
            <a:off x="7848600" y="3543300"/>
            <a:ext cx="9525" cy="685800"/>
          </a:xfrm>
          <a:prstGeom prst="rect">
            <a:avLst/>
          </a:prstGeom>
          <a:solidFill>
            <a:srgbClr val="426170"/>
          </a:solidFill>
          <a:ln w="0">
            <a:solidFill>
              <a:srgbClr val="426170"/>
            </a:solidFill>
            <a:prstDash val="solid"/>
          </a:ln>
        </p:spPr>
      </p:sp>
      <p:sp>
        <p:nvSpPr>
          <p:cNvPr id="21" name="직사각형 20">
            <a:extLst>
              <a:ext uri="{FF2B5EF4-FFF2-40B4-BE49-F238E27FC236}">
                <a16:creationId xmlns:a16="http://schemas.microsoft.com/office/drawing/2014/main" id="{BB78044F-3401-47B3-B057-0FE0FC205B59}"/>
              </a:ext>
            </a:extLst>
          </p:cNvPr>
          <p:cNvSpPr>
            <a:spLocks noGrp="1"/>
          </p:cNvSpPr>
          <p:nvPr/>
        </p:nvSpPr>
        <p:spPr>
          <a:xfrm>
            <a:off x="8039100" y="3524250"/>
            <a:ext cx="3162300" cy="304800"/>
          </a:xfrm>
          <a:prstGeom prst="rect">
            <a:avLst/>
          </a:prstGeom>
          <a:noFill/>
          <a:ln w="0">
            <a:noFill/>
            <a:prstDash val="solid"/>
          </a:ln>
        </p:spPr>
        <p:txBody>
          <a:bodyPr lIns="0" tIns="0" rIns="0" bIns="0" anchor="ctr"/>
          <a:lstStyle/>
          <a:p>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의사결정 게이트</a:t>
            </a:r>
          </a:p>
        </p:txBody>
      </p:sp>
      <p:sp>
        <p:nvSpPr>
          <p:cNvPr id="22" name="직사각형 21">
            <a:extLst>
              <a:ext uri="{FF2B5EF4-FFF2-40B4-BE49-F238E27FC236}">
                <a16:creationId xmlns:a16="http://schemas.microsoft.com/office/drawing/2014/main" id="{8FA3E5F2-6D49-439F-BD68-C3C954E8B5A5}"/>
              </a:ext>
            </a:extLst>
          </p:cNvPr>
          <p:cNvSpPr>
            <a:spLocks noGrp="1"/>
          </p:cNvSpPr>
          <p:nvPr/>
        </p:nvSpPr>
        <p:spPr>
          <a:xfrm>
            <a:off x="8039100" y="3886200"/>
            <a:ext cx="3162300" cy="323850"/>
          </a:xfrm>
          <a:prstGeom prst="rect">
            <a:avLst/>
          </a:prstGeom>
          <a:noFill/>
          <a:ln w="0">
            <a:noFill/>
            <a:prstDash val="solid"/>
          </a:ln>
        </p:spPr>
        <p:txBody>
          <a:bodyPr lIns="0" tIns="0" rIns="0" bIns="0" anchor="ctr"/>
          <a:lstStyle/>
          <a:p>
            <a:pPr algn="ctr">
              <a:defRPr sz="1125" b="0">
                <a:solidFill>
                  <a:srgbClr val="FFFFFF"/>
                </a:solidFill>
                <a:latin typeface="Noto Sans KR"/>
                <a:ea typeface="Noto Sans KR"/>
                <a:cs typeface="Noto Sans KR"/>
              </a:defRPr>
            </a:pPr>
            <a:r>
              <a:rPr sz="1125" b="0">
                <a:solidFill>
                  <a:srgbClr val="FFFFFF"/>
                </a:solidFill>
                <a:latin typeface="Noto Sans KR"/>
                <a:ea typeface="Noto Sans KR"/>
                <a:cs typeface="Noto Sans KR"/>
              </a:rPr>
              <a:t>미확인 · 조건부 · 기관확인</a:t>
            </a:r>
          </a:p>
        </p:txBody>
      </p:sp>
      <p:sp>
        <p:nvSpPr>
          <p:cNvPr id="23" name="직사각형 22">
            <a:extLst>
              <a:ext uri="{FF2B5EF4-FFF2-40B4-BE49-F238E27FC236}">
                <a16:creationId xmlns:a16="http://schemas.microsoft.com/office/drawing/2014/main" id="{59C842E2-54E1-4E9E-B2B8-5C4D13D4F0D6}"/>
              </a:ext>
            </a:extLst>
          </p:cNvPr>
          <p:cNvSpPr>
            <a:spLocks noGrp="1"/>
          </p:cNvSpPr>
          <p:nvPr/>
        </p:nvSpPr>
        <p:spPr>
          <a:xfrm>
            <a:off x="685800" y="4686300"/>
            <a:ext cx="1143000" cy="22860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ACTION</a:t>
            </a:r>
          </a:p>
        </p:txBody>
      </p:sp>
      <p:sp>
        <p:nvSpPr>
          <p:cNvPr id="24" name="사각형: 둥근 모서리 23">
            <a:extLst>
              <a:ext uri="{FF2B5EF4-FFF2-40B4-BE49-F238E27FC236}">
                <a16:creationId xmlns:a16="http://schemas.microsoft.com/office/drawing/2014/main" id="{6680A95D-84D7-4730-B1C7-9F0A3F3F13F7}"/>
              </a:ext>
            </a:extLst>
          </p:cNvPr>
          <p:cNvSpPr>
            <a:spLocks noGrp="1"/>
          </p:cNvSpPr>
          <p:nvPr/>
        </p:nvSpPr>
        <p:spPr>
          <a:xfrm>
            <a:off x="685800" y="4991100"/>
            <a:ext cx="10820400" cy="1066800"/>
          </a:xfrm>
          <a:prstGeom prst="roundRect">
            <a:avLst>
              <a:gd name="adj" fmla="val 10714"/>
            </a:avLst>
          </a:prstGeom>
          <a:solidFill>
            <a:srgbClr val="E3F6F2"/>
          </a:solidFill>
          <a:ln w="0">
            <a:solidFill>
              <a:srgbClr val="E3F6F2"/>
            </a:solidFill>
            <a:prstDash val="solid"/>
          </a:ln>
        </p:spPr>
      </p:sp>
      <p:sp>
        <p:nvSpPr>
          <p:cNvPr id="25" name="직사각형 24">
            <a:extLst>
              <a:ext uri="{FF2B5EF4-FFF2-40B4-BE49-F238E27FC236}">
                <a16:creationId xmlns:a16="http://schemas.microsoft.com/office/drawing/2014/main" id="{3957B5E5-D66C-4037-B52D-73FE03AFED9D}"/>
              </a:ext>
            </a:extLst>
          </p:cNvPr>
          <p:cNvSpPr>
            <a:spLocks noGrp="1"/>
          </p:cNvSpPr>
          <p:nvPr/>
        </p:nvSpPr>
        <p:spPr>
          <a:xfrm>
            <a:off x="933450" y="5181600"/>
            <a:ext cx="3067050" cy="323850"/>
          </a:xfrm>
          <a:prstGeom prst="rect">
            <a:avLst/>
          </a:prstGeom>
          <a:noFill/>
          <a:ln w="0">
            <a:noFill/>
            <a:prstDash val="solid"/>
          </a:ln>
        </p:spPr>
        <p:txBody>
          <a:bodyPr lIns="0" tIns="0" rIns="0" bIns="0" anchor="ctr"/>
          <a:lstStyle/>
          <a:p>
            <a:pPr algn="l">
              <a:defRPr sz="1650" b="1">
                <a:solidFill>
                  <a:srgbClr val="051C2C"/>
                </a:solidFill>
                <a:latin typeface="Noto Sans KR"/>
                <a:ea typeface="Noto Sans KR"/>
                <a:cs typeface="Noto Sans KR"/>
              </a:defRPr>
            </a:pPr>
            <a:r>
              <a:rPr sz="1650" b="1">
                <a:solidFill>
                  <a:srgbClr val="051C2C"/>
                </a:solidFill>
                <a:latin typeface="Noto Sans KR"/>
                <a:ea typeface="Noto Sans KR"/>
                <a:cs typeface="Noto Sans KR"/>
              </a:rPr>
              <a:t>Gemini · 전문 에이전트</a:t>
            </a:r>
          </a:p>
        </p:txBody>
      </p:sp>
      <p:sp>
        <p:nvSpPr>
          <p:cNvPr id="26" name="직사각형 25">
            <a:extLst>
              <a:ext uri="{FF2B5EF4-FFF2-40B4-BE49-F238E27FC236}">
                <a16:creationId xmlns:a16="http://schemas.microsoft.com/office/drawing/2014/main" id="{847BD161-0F85-49D1-BC67-17F800F1D4D1}"/>
              </a:ext>
            </a:extLst>
          </p:cNvPr>
          <p:cNvSpPr>
            <a:spLocks noGrp="1"/>
          </p:cNvSpPr>
          <p:nvPr/>
        </p:nvSpPr>
        <p:spPr>
          <a:xfrm>
            <a:off x="4686300" y="5162550"/>
            <a:ext cx="1238250" cy="361950"/>
          </a:xfrm>
          <a:prstGeom prst="rect">
            <a:avLst/>
          </a:prstGeom>
          <a:noFill/>
          <a:ln w="0">
            <a:noFill/>
            <a:prstDash val="solid"/>
          </a:ln>
        </p:spPr>
        <p:txBody>
          <a:bodyPr lIns="0" tIns="0" rIns="0" bIns="0" anchor="ctr"/>
          <a:lstStyle/>
          <a:p>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추천</a:t>
            </a:r>
          </a:p>
        </p:txBody>
      </p:sp>
      <p:sp>
        <p:nvSpPr>
          <p:cNvPr id="27" name="직사각형 26">
            <a:extLst>
              <a:ext uri="{FF2B5EF4-FFF2-40B4-BE49-F238E27FC236}">
                <a16:creationId xmlns:a16="http://schemas.microsoft.com/office/drawing/2014/main" id="{79127D68-9B70-4A23-9F2D-E63C56591A2A}"/>
              </a:ext>
            </a:extLst>
          </p:cNvPr>
          <p:cNvSpPr>
            <a:spLocks noGrp="1"/>
          </p:cNvSpPr>
          <p:nvPr/>
        </p:nvSpPr>
        <p:spPr>
          <a:xfrm>
            <a:off x="6172200" y="5162550"/>
            <a:ext cx="1238250" cy="361950"/>
          </a:xfrm>
          <a:prstGeom prst="rect">
            <a:avLst/>
          </a:prstGeom>
          <a:noFill/>
          <a:ln w="0">
            <a:noFill/>
            <a:prstDash val="solid"/>
          </a:ln>
        </p:spPr>
        <p:txBody>
          <a:bodyPr lIns="0" tIns="0" rIns="0" bIns="0" anchor="ctr"/>
          <a:lstStyle/>
          <a:p>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판단</a:t>
            </a:r>
          </a:p>
        </p:txBody>
      </p:sp>
      <p:sp>
        <p:nvSpPr>
          <p:cNvPr id="28" name="직사각형 27">
            <a:extLst>
              <a:ext uri="{FF2B5EF4-FFF2-40B4-BE49-F238E27FC236}">
                <a16:creationId xmlns:a16="http://schemas.microsoft.com/office/drawing/2014/main" id="{FF079B72-2021-4C4B-B4FE-3F0F2521A60A}"/>
              </a:ext>
            </a:extLst>
          </p:cNvPr>
          <p:cNvSpPr>
            <a:spLocks noGrp="1"/>
          </p:cNvSpPr>
          <p:nvPr/>
        </p:nvSpPr>
        <p:spPr>
          <a:xfrm>
            <a:off x="7658100" y="5162550"/>
            <a:ext cx="1428750" cy="361950"/>
          </a:xfrm>
          <a:prstGeom prst="rect">
            <a:avLst/>
          </a:prstGeom>
          <a:noFill/>
          <a:ln w="0">
            <a:noFill/>
            <a:prstDash val="solid"/>
          </a:ln>
        </p:spPr>
        <p:txBody>
          <a:bodyPr lIns="0" tIns="0" rIns="0" bIns="0" anchor="ctr"/>
          <a:lstStyle/>
          <a:p>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다음 행동</a:t>
            </a:r>
          </a:p>
        </p:txBody>
      </p:sp>
      <p:sp>
        <p:nvSpPr>
          <p:cNvPr id="29" name="직사각형 28">
            <a:extLst>
              <a:ext uri="{FF2B5EF4-FFF2-40B4-BE49-F238E27FC236}">
                <a16:creationId xmlns:a16="http://schemas.microsoft.com/office/drawing/2014/main" id="{518233B7-76FF-4FBE-88B3-4F1A114D1FEE}"/>
              </a:ext>
            </a:extLst>
          </p:cNvPr>
          <p:cNvSpPr>
            <a:spLocks noGrp="1"/>
          </p:cNvSpPr>
          <p:nvPr/>
        </p:nvSpPr>
        <p:spPr>
          <a:xfrm>
            <a:off x="9467850" y="5162550"/>
            <a:ext cx="1619250" cy="361950"/>
          </a:xfrm>
          <a:prstGeom prst="rect">
            <a:avLst/>
          </a:prstGeom>
          <a:noFill/>
          <a:ln w="0">
            <a:noFill/>
            <a:prstDash val="solid"/>
          </a:ln>
        </p:spPr>
        <p:txBody>
          <a:bodyPr lIns="0" tIns="0" rIns="0" bIns="0" anchor="ctr"/>
          <a:lstStyle/>
          <a:p>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PDF · API</a:t>
            </a:r>
          </a:p>
        </p:txBody>
      </p:sp>
      <p:sp>
        <p:nvSpPr>
          <p:cNvPr id="30" name="직사각형 29">
            <a:extLst>
              <a:ext uri="{FF2B5EF4-FFF2-40B4-BE49-F238E27FC236}">
                <a16:creationId xmlns:a16="http://schemas.microsoft.com/office/drawing/2014/main" id="{0E0C981A-2A37-47AE-9D95-5729D0EF099D}"/>
              </a:ext>
            </a:extLst>
          </p:cNvPr>
          <p:cNvSpPr>
            <a:spLocks noGrp="1"/>
          </p:cNvSpPr>
          <p:nvPr/>
        </p:nvSpPr>
        <p:spPr>
          <a:xfrm>
            <a:off x="4476750" y="5619750"/>
            <a:ext cx="6610350" cy="266700"/>
          </a:xfrm>
          <a:prstGeom prst="rect">
            <a:avLst/>
          </a:prstGeom>
          <a:noFill/>
          <a:ln w="0">
            <a:noFill/>
            <a:prstDash val="solid"/>
          </a:ln>
        </p:spPr>
        <p:txBody>
          <a:bodyPr lIns="0" tIns="0" rIns="0" bIns="0" anchor="ctr"/>
          <a:lstStyle/>
          <a:p>
            <a:pPr algn="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AI는 출처를 대체하지 않고 근거 위에서만 작동합니다.</a:t>
            </a:r>
          </a:p>
        </p:txBody>
      </p:sp>
    </p:spTree>
    <p:extLst>
      <p:ext uri="{BB962C8B-B14F-4D97-AF65-F5344CB8AC3E}">
        <p14:creationId xmlns:p14="http://schemas.microsoft.com/office/powerpoint/2010/main" val="1254240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 name="직사각형 69">
            <a:extLst>
              <a:ext uri="{FF2B5EF4-FFF2-40B4-BE49-F238E27FC236}">
                <a16:creationId xmlns:a16="http://schemas.microsoft.com/office/drawing/2014/main" id="{465B3E75-1262-46D4-88FE-CFC9F97EEE9C}"/>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DIFFERENTIATION</a:t>
            </a:r>
          </a:p>
        </p:txBody>
      </p:sp>
      <p:sp>
        <p:nvSpPr>
          <p:cNvPr id="2" name="slide-11-title">
            <a:extLst>
              <a:ext uri="{FF2B5EF4-FFF2-40B4-BE49-F238E27FC236}">
                <a16:creationId xmlns:a16="http://schemas.microsoft.com/office/drawing/2014/main" id="{B20CF7BB-BEEF-4679-B21C-0656BB2209D6}"/>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차별점은 데이터 수가 아니라 근거가 끊기지 않는 구조입니다</a:t>
            </a:r>
          </a:p>
        </p:txBody>
      </p:sp>
      <p:sp>
        <p:nvSpPr>
          <p:cNvPr id="3" name="직사각형 2">
            <a:extLst>
              <a:ext uri="{FF2B5EF4-FFF2-40B4-BE49-F238E27FC236}">
                <a16:creationId xmlns:a16="http://schemas.microsoft.com/office/drawing/2014/main" id="{1BDC5124-584C-4A3B-898B-3B337A62B141}"/>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28731E14-CDDD-42E4-B9C5-0B7A8556CA0D}"/>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76892AAA-6ADC-4B8E-B154-DFE668AED0BC}"/>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204DC92E-BA2B-4E53-9C9F-6EA87E3902FE}"/>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기능 비교 및 구현 구조</a:t>
            </a:r>
          </a:p>
        </p:txBody>
      </p:sp>
      <p:sp>
        <p:nvSpPr>
          <p:cNvPr id="7" name="직사각형 6">
            <a:extLst>
              <a:ext uri="{FF2B5EF4-FFF2-40B4-BE49-F238E27FC236}">
                <a16:creationId xmlns:a16="http://schemas.microsoft.com/office/drawing/2014/main" id="{A265F328-A34B-49E0-B364-563A3ECDF5DB}"/>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11</a:t>
            </a:r>
          </a:p>
        </p:txBody>
      </p:sp>
      <p:sp>
        <p:nvSpPr>
          <p:cNvPr id="8" name="직사각형 7">
            <a:extLst>
              <a:ext uri="{FF2B5EF4-FFF2-40B4-BE49-F238E27FC236}">
                <a16:creationId xmlns:a16="http://schemas.microsoft.com/office/drawing/2014/main" id="{D7E55D7D-2E91-4A1B-B917-85C24B01A7B6}"/>
              </a:ext>
            </a:extLst>
          </p:cNvPr>
          <p:cNvSpPr>
            <a:spLocks noGrp="1"/>
          </p:cNvSpPr>
          <p:nvPr/>
        </p:nvSpPr>
        <p:spPr>
          <a:xfrm>
            <a:off x="609600" y="1428750"/>
            <a:ext cx="2533650" cy="552450"/>
          </a:xfrm>
          <a:prstGeom prst="rect">
            <a:avLst/>
          </a:prstGeom>
          <a:solidFill>
            <a:srgbClr val="F3F6F7"/>
          </a:solidFill>
          <a:ln w="9525">
            <a:solidFill>
              <a:srgbClr val="D7DEE2"/>
            </a:solidFill>
            <a:prstDash val="solid"/>
          </a:ln>
        </p:spPr>
      </p:sp>
      <p:sp>
        <p:nvSpPr>
          <p:cNvPr id="9" name="직사각형 8">
            <a:extLst>
              <a:ext uri="{FF2B5EF4-FFF2-40B4-BE49-F238E27FC236}">
                <a16:creationId xmlns:a16="http://schemas.microsoft.com/office/drawing/2014/main" id="{F22DC2C6-DAB0-490E-8813-12223E810E86}"/>
              </a:ext>
            </a:extLst>
          </p:cNvPr>
          <p:cNvSpPr>
            <a:spLocks noGrp="1"/>
          </p:cNvSpPr>
          <p:nvPr/>
        </p:nvSpPr>
        <p:spPr>
          <a:xfrm>
            <a:off x="685800" y="1428750"/>
            <a:ext cx="2381250" cy="5524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비교 기준</a:t>
            </a:r>
          </a:p>
        </p:txBody>
      </p:sp>
      <p:sp>
        <p:nvSpPr>
          <p:cNvPr id="10" name="직사각형 9">
            <a:extLst>
              <a:ext uri="{FF2B5EF4-FFF2-40B4-BE49-F238E27FC236}">
                <a16:creationId xmlns:a16="http://schemas.microsoft.com/office/drawing/2014/main" id="{96218308-E093-432C-A30D-B3AA3C18D1B3}"/>
              </a:ext>
            </a:extLst>
          </p:cNvPr>
          <p:cNvSpPr>
            <a:spLocks noGrp="1"/>
          </p:cNvSpPr>
          <p:nvPr/>
        </p:nvSpPr>
        <p:spPr>
          <a:xfrm>
            <a:off x="3143250" y="1428750"/>
            <a:ext cx="1924050" cy="552450"/>
          </a:xfrm>
          <a:prstGeom prst="rect">
            <a:avLst/>
          </a:prstGeom>
          <a:solidFill>
            <a:srgbClr val="F3F6F7"/>
          </a:solidFill>
          <a:ln w="9525">
            <a:solidFill>
              <a:srgbClr val="D7DEE2"/>
            </a:solidFill>
            <a:prstDash val="solid"/>
          </a:ln>
        </p:spPr>
      </p:sp>
      <p:sp>
        <p:nvSpPr>
          <p:cNvPr id="11" name="직사각형 10">
            <a:extLst>
              <a:ext uri="{FF2B5EF4-FFF2-40B4-BE49-F238E27FC236}">
                <a16:creationId xmlns:a16="http://schemas.microsoft.com/office/drawing/2014/main" id="{0B41E0C7-6504-4CE1-AB3A-CD18F83A08AC}"/>
              </a:ext>
            </a:extLst>
          </p:cNvPr>
          <p:cNvSpPr>
            <a:spLocks noGrp="1"/>
          </p:cNvSpPr>
          <p:nvPr/>
        </p:nvSpPr>
        <p:spPr>
          <a:xfrm>
            <a:off x="3219450" y="1428750"/>
            <a:ext cx="1771650" cy="5524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정보 포털</a:t>
            </a:r>
          </a:p>
        </p:txBody>
      </p:sp>
      <p:sp>
        <p:nvSpPr>
          <p:cNvPr id="12" name="직사각형 11">
            <a:extLst>
              <a:ext uri="{FF2B5EF4-FFF2-40B4-BE49-F238E27FC236}">
                <a16:creationId xmlns:a16="http://schemas.microsoft.com/office/drawing/2014/main" id="{D0E8A984-F2CB-4809-BBF1-2EC2ADBFF1CA}"/>
              </a:ext>
            </a:extLst>
          </p:cNvPr>
          <p:cNvSpPr>
            <a:spLocks noGrp="1"/>
          </p:cNvSpPr>
          <p:nvPr/>
        </p:nvSpPr>
        <p:spPr>
          <a:xfrm>
            <a:off x="5067300" y="1428750"/>
            <a:ext cx="1924050" cy="552450"/>
          </a:xfrm>
          <a:prstGeom prst="rect">
            <a:avLst/>
          </a:prstGeom>
          <a:solidFill>
            <a:srgbClr val="F3F6F7"/>
          </a:solidFill>
          <a:ln w="9525">
            <a:solidFill>
              <a:srgbClr val="D7DEE2"/>
            </a:solidFill>
            <a:prstDash val="solid"/>
          </a:ln>
        </p:spPr>
      </p:sp>
      <p:sp>
        <p:nvSpPr>
          <p:cNvPr id="13" name="직사각형 12">
            <a:extLst>
              <a:ext uri="{FF2B5EF4-FFF2-40B4-BE49-F238E27FC236}">
                <a16:creationId xmlns:a16="http://schemas.microsoft.com/office/drawing/2014/main" id="{1F58F443-9AAC-4464-A152-347462B8FD28}"/>
              </a:ext>
            </a:extLst>
          </p:cNvPr>
          <p:cNvSpPr>
            <a:spLocks noGrp="1"/>
          </p:cNvSpPr>
          <p:nvPr/>
        </p:nvSpPr>
        <p:spPr>
          <a:xfrm>
            <a:off x="5143500" y="1428750"/>
            <a:ext cx="1771650" cy="5524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일반 AI</a:t>
            </a:r>
          </a:p>
        </p:txBody>
      </p:sp>
      <p:sp>
        <p:nvSpPr>
          <p:cNvPr id="14" name="직사각형 13">
            <a:extLst>
              <a:ext uri="{FF2B5EF4-FFF2-40B4-BE49-F238E27FC236}">
                <a16:creationId xmlns:a16="http://schemas.microsoft.com/office/drawing/2014/main" id="{10053F8D-EC5E-436E-BD57-2C62C60C8589}"/>
              </a:ext>
            </a:extLst>
          </p:cNvPr>
          <p:cNvSpPr>
            <a:spLocks noGrp="1"/>
          </p:cNvSpPr>
          <p:nvPr/>
        </p:nvSpPr>
        <p:spPr>
          <a:xfrm>
            <a:off x="6991350" y="1428750"/>
            <a:ext cx="1924050" cy="552450"/>
          </a:xfrm>
          <a:prstGeom prst="rect">
            <a:avLst/>
          </a:prstGeom>
          <a:solidFill>
            <a:srgbClr val="F3F6F7"/>
          </a:solidFill>
          <a:ln w="9525">
            <a:solidFill>
              <a:srgbClr val="D7DEE2"/>
            </a:solidFill>
            <a:prstDash val="solid"/>
          </a:ln>
        </p:spPr>
      </p:sp>
      <p:sp>
        <p:nvSpPr>
          <p:cNvPr id="15" name="직사각형 14">
            <a:extLst>
              <a:ext uri="{FF2B5EF4-FFF2-40B4-BE49-F238E27FC236}">
                <a16:creationId xmlns:a16="http://schemas.microsoft.com/office/drawing/2014/main" id="{81676C29-CD41-455F-BD34-FBD2BA73A640}"/>
              </a:ext>
            </a:extLst>
          </p:cNvPr>
          <p:cNvSpPr>
            <a:spLocks noGrp="1"/>
          </p:cNvSpPr>
          <p:nvPr/>
        </p:nvSpPr>
        <p:spPr>
          <a:xfrm>
            <a:off x="7067550" y="1428750"/>
            <a:ext cx="1771650" cy="5524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문서 컨설팅</a:t>
            </a:r>
          </a:p>
        </p:txBody>
      </p:sp>
      <p:sp>
        <p:nvSpPr>
          <p:cNvPr id="16" name="직사각형 15">
            <a:extLst>
              <a:ext uri="{FF2B5EF4-FFF2-40B4-BE49-F238E27FC236}">
                <a16:creationId xmlns:a16="http://schemas.microsoft.com/office/drawing/2014/main" id="{DA628091-8E37-472D-9477-0AE3D9ACDBB1}"/>
              </a:ext>
            </a:extLst>
          </p:cNvPr>
          <p:cNvSpPr>
            <a:spLocks noGrp="1"/>
          </p:cNvSpPr>
          <p:nvPr/>
        </p:nvSpPr>
        <p:spPr>
          <a:xfrm>
            <a:off x="8915400" y="1428750"/>
            <a:ext cx="2667000" cy="552450"/>
          </a:xfrm>
          <a:prstGeom prst="rect">
            <a:avLst/>
          </a:prstGeom>
          <a:solidFill>
            <a:srgbClr val="051C2C"/>
          </a:solidFill>
          <a:ln w="9525">
            <a:solidFill>
              <a:srgbClr val="051C2C"/>
            </a:solidFill>
            <a:prstDash val="solid"/>
          </a:ln>
        </p:spPr>
      </p:sp>
      <p:sp>
        <p:nvSpPr>
          <p:cNvPr id="17" name="직사각형 16">
            <a:extLst>
              <a:ext uri="{FF2B5EF4-FFF2-40B4-BE49-F238E27FC236}">
                <a16:creationId xmlns:a16="http://schemas.microsoft.com/office/drawing/2014/main" id="{F9F263C2-96D2-4597-A693-B403FADB5EA3}"/>
              </a:ext>
            </a:extLst>
          </p:cNvPr>
          <p:cNvSpPr>
            <a:spLocks noGrp="1"/>
          </p:cNvSpPr>
          <p:nvPr/>
        </p:nvSpPr>
        <p:spPr>
          <a:xfrm>
            <a:off x="8991600" y="1428750"/>
            <a:ext cx="2514600" cy="552450"/>
          </a:xfrm>
          <a:prstGeom prst="rect">
            <a:avLst/>
          </a:prstGeom>
          <a:noFill/>
          <a:ln w="0">
            <a:noFill/>
            <a:prstDash val="solid"/>
          </a:ln>
        </p:spPr>
        <p:txBody>
          <a:bodyPr lIns="0" tIns="0" rIns="0" bIns="0" anchor="ctr"/>
          <a:lstStyle/>
          <a:p>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AI 산단수출 코파일럿</a:t>
            </a:r>
          </a:p>
        </p:txBody>
      </p:sp>
      <p:sp>
        <p:nvSpPr>
          <p:cNvPr id="18" name="직사각형 17">
            <a:extLst>
              <a:ext uri="{FF2B5EF4-FFF2-40B4-BE49-F238E27FC236}">
                <a16:creationId xmlns:a16="http://schemas.microsoft.com/office/drawing/2014/main" id="{F7316548-9A61-4C60-A598-27D7DDAC6CD7}"/>
              </a:ext>
            </a:extLst>
          </p:cNvPr>
          <p:cNvSpPr>
            <a:spLocks noGrp="1"/>
          </p:cNvSpPr>
          <p:nvPr/>
        </p:nvSpPr>
        <p:spPr>
          <a:xfrm>
            <a:off x="609600" y="1981200"/>
            <a:ext cx="2533650" cy="666750"/>
          </a:xfrm>
          <a:prstGeom prst="rect">
            <a:avLst/>
          </a:prstGeom>
          <a:solidFill>
            <a:srgbClr val="FFFFFF"/>
          </a:solidFill>
          <a:ln w="9525">
            <a:solidFill>
              <a:srgbClr val="D7DEE2"/>
            </a:solidFill>
            <a:prstDash val="solid"/>
          </a:ln>
        </p:spPr>
      </p:sp>
      <p:sp>
        <p:nvSpPr>
          <p:cNvPr id="19" name="직사각형 18">
            <a:extLst>
              <a:ext uri="{FF2B5EF4-FFF2-40B4-BE49-F238E27FC236}">
                <a16:creationId xmlns:a16="http://schemas.microsoft.com/office/drawing/2014/main" id="{7AB788E2-1801-43F7-B626-DEB1F0501DEB}"/>
              </a:ext>
            </a:extLst>
          </p:cNvPr>
          <p:cNvSpPr>
            <a:spLocks noGrp="1"/>
          </p:cNvSpPr>
          <p:nvPr/>
        </p:nvSpPr>
        <p:spPr>
          <a:xfrm>
            <a:off x="723900" y="198120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기업·품목 맥락</a:t>
            </a:r>
          </a:p>
        </p:txBody>
      </p:sp>
      <p:sp>
        <p:nvSpPr>
          <p:cNvPr id="20" name="직사각형 19">
            <a:extLst>
              <a:ext uri="{FF2B5EF4-FFF2-40B4-BE49-F238E27FC236}">
                <a16:creationId xmlns:a16="http://schemas.microsoft.com/office/drawing/2014/main" id="{9A694FE0-1315-40C0-A2C5-89D852453577}"/>
              </a:ext>
            </a:extLst>
          </p:cNvPr>
          <p:cNvSpPr>
            <a:spLocks noGrp="1"/>
          </p:cNvSpPr>
          <p:nvPr/>
        </p:nvSpPr>
        <p:spPr>
          <a:xfrm>
            <a:off x="3143250" y="1981200"/>
            <a:ext cx="1924050" cy="666750"/>
          </a:xfrm>
          <a:prstGeom prst="rect">
            <a:avLst/>
          </a:prstGeom>
          <a:solidFill>
            <a:srgbClr val="FFFFFF"/>
          </a:solidFill>
          <a:ln w="9525">
            <a:solidFill>
              <a:srgbClr val="D7DEE2"/>
            </a:solidFill>
            <a:prstDash val="solid"/>
          </a:ln>
        </p:spPr>
      </p:sp>
      <p:sp>
        <p:nvSpPr>
          <p:cNvPr id="21" name="직사각형 20">
            <a:extLst>
              <a:ext uri="{FF2B5EF4-FFF2-40B4-BE49-F238E27FC236}">
                <a16:creationId xmlns:a16="http://schemas.microsoft.com/office/drawing/2014/main" id="{413ABE85-3B6D-4CC4-AA7E-BEFE4B860693}"/>
              </a:ext>
            </a:extLst>
          </p:cNvPr>
          <p:cNvSpPr>
            <a:spLocks noGrp="1"/>
          </p:cNvSpPr>
          <p:nvPr/>
        </p:nvSpPr>
        <p:spPr>
          <a:xfrm>
            <a:off x="3257550" y="19812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부분</a:t>
            </a:r>
          </a:p>
        </p:txBody>
      </p:sp>
      <p:sp>
        <p:nvSpPr>
          <p:cNvPr id="22" name="직사각형 21">
            <a:extLst>
              <a:ext uri="{FF2B5EF4-FFF2-40B4-BE49-F238E27FC236}">
                <a16:creationId xmlns:a16="http://schemas.microsoft.com/office/drawing/2014/main" id="{41C321F6-D94B-458B-AB4F-305222597C5E}"/>
              </a:ext>
            </a:extLst>
          </p:cNvPr>
          <p:cNvSpPr>
            <a:spLocks noGrp="1"/>
          </p:cNvSpPr>
          <p:nvPr/>
        </p:nvSpPr>
        <p:spPr>
          <a:xfrm>
            <a:off x="5067300" y="1981200"/>
            <a:ext cx="1924050" cy="666750"/>
          </a:xfrm>
          <a:prstGeom prst="rect">
            <a:avLst/>
          </a:prstGeom>
          <a:solidFill>
            <a:srgbClr val="FFFFFF"/>
          </a:solidFill>
          <a:ln w="9525">
            <a:solidFill>
              <a:srgbClr val="D7DEE2"/>
            </a:solidFill>
            <a:prstDash val="solid"/>
          </a:ln>
        </p:spPr>
      </p:sp>
      <p:sp>
        <p:nvSpPr>
          <p:cNvPr id="23" name="직사각형 22">
            <a:extLst>
              <a:ext uri="{FF2B5EF4-FFF2-40B4-BE49-F238E27FC236}">
                <a16:creationId xmlns:a16="http://schemas.microsoft.com/office/drawing/2014/main" id="{6B1BE678-0228-4585-9814-09B5F2C969D8}"/>
              </a:ext>
            </a:extLst>
          </p:cNvPr>
          <p:cNvSpPr>
            <a:spLocks noGrp="1"/>
          </p:cNvSpPr>
          <p:nvPr/>
        </p:nvSpPr>
        <p:spPr>
          <a:xfrm>
            <a:off x="5181600" y="19812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입력 의존</a:t>
            </a:r>
          </a:p>
        </p:txBody>
      </p:sp>
      <p:sp>
        <p:nvSpPr>
          <p:cNvPr id="24" name="직사각형 23">
            <a:extLst>
              <a:ext uri="{FF2B5EF4-FFF2-40B4-BE49-F238E27FC236}">
                <a16:creationId xmlns:a16="http://schemas.microsoft.com/office/drawing/2014/main" id="{63EC2D62-7C89-4D14-AE42-3B7D74289018}"/>
              </a:ext>
            </a:extLst>
          </p:cNvPr>
          <p:cNvSpPr>
            <a:spLocks noGrp="1"/>
          </p:cNvSpPr>
          <p:nvPr/>
        </p:nvSpPr>
        <p:spPr>
          <a:xfrm>
            <a:off x="6991350" y="1981200"/>
            <a:ext cx="1924050" cy="666750"/>
          </a:xfrm>
          <a:prstGeom prst="rect">
            <a:avLst/>
          </a:prstGeom>
          <a:solidFill>
            <a:srgbClr val="FFFFFF"/>
          </a:solidFill>
          <a:ln w="9525">
            <a:solidFill>
              <a:srgbClr val="D7DEE2"/>
            </a:solidFill>
            <a:prstDash val="solid"/>
          </a:ln>
        </p:spPr>
      </p:sp>
      <p:sp>
        <p:nvSpPr>
          <p:cNvPr id="25" name="직사각형 24">
            <a:extLst>
              <a:ext uri="{FF2B5EF4-FFF2-40B4-BE49-F238E27FC236}">
                <a16:creationId xmlns:a16="http://schemas.microsoft.com/office/drawing/2014/main" id="{73AAFD37-195E-4BC9-8906-81A844864BF4}"/>
              </a:ext>
            </a:extLst>
          </p:cNvPr>
          <p:cNvSpPr>
            <a:spLocks noGrp="1"/>
          </p:cNvSpPr>
          <p:nvPr/>
        </p:nvSpPr>
        <p:spPr>
          <a:xfrm>
            <a:off x="7105650" y="19812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수작업</a:t>
            </a:r>
          </a:p>
        </p:txBody>
      </p:sp>
      <p:sp>
        <p:nvSpPr>
          <p:cNvPr id="26" name="직사각형 25">
            <a:extLst>
              <a:ext uri="{FF2B5EF4-FFF2-40B4-BE49-F238E27FC236}">
                <a16:creationId xmlns:a16="http://schemas.microsoft.com/office/drawing/2014/main" id="{26E9411E-C610-4AD9-AC7B-23D4A7C61201}"/>
              </a:ext>
            </a:extLst>
          </p:cNvPr>
          <p:cNvSpPr>
            <a:spLocks noGrp="1"/>
          </p:cNvSpPr>
          <p:nvPr/>
        </p:nvSpPr>
        <p:spPr>
          <a:xfrm>
            <a:off x="8915400" y="1981200"/>
            <a:ext cx="2667000" cy="666750"/>
          </a:xfrm>
          <a:prstGeom prst="rect">
            <a:avLst/>
          </a:prstGeom>
          <a:solidFill>
            <a:srgbClr val="EDF5F3"/>
          </a:solidFill>
          <a:ln w="9525">
            <a:solidFill>
              <a:srgbClr val="D7DEE2"/>
            </a:solidFill>
            <a:prstDash val="solid"/>
          </a:ln>
        </p:spPr>
      </p:sp>
      <p:sp>
        <p:nvSpPr>
          <p:cNvPr id="27" name="직사각형 26">
            <a:extLst>
              <a:ext uri="{FF2B5EF4-FFF2-40B4-BE49-F238E27FC236}">
                <a16:creationId xmlns:a16="http://schemas.microsoft.com/office/drawing/2014/main" id="{CC419FD9-7D26-40C8-AEE2-36DB5A754CC7}"/>
              </a:ext>
            </a:extLst>
          </p:cNvPr>
          <p:cNvSpPr>
            <a:spLocks noGrp="1"/>
          </p:cNvSpPr>
          <p:nvPr/>
        </p:nvSpPr>
        <p:spPr>
          <a:xfrm>
            <a:off x="9029700" y="198120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전 과정 유지</a:t>
            </a:r>
          </a:p>
        </p:txBody>
      </p:sp>
      <p:sp>
        <p:nvSpPr>
          <p:cNvPr id="28" name="직사각형 27">
            <a:extLst>
              <a:ext uri="{FF2B5EF4-FFF2-40B4-BE49-F238E27FC236}">
                <a16:creationId xmlns:a16="http://schemas.microsoft.com/office/drawing/2014/main" id="{20458FC6-89EB-474B-891F-EB1766284663}"/>
              </a:ext>
            </a:extLst>
          </p:cNvPr>
          <p:cNvSpPr>
            <a:spLocks noGrp="1"/>
          </p:cNvSpPr>
          <p:nvPr/>
        </p:nvSpPr>
        <p:spPr>
          <a:xfrm>
            <a:off x="609600" y="2647950"/>
            <a:ext cx="2533650" cy="666750"/>
          </a:xfrm>
          <a:prstGeom prst="rect">
            <a:avLst/>
          </a:prstGeom>
          <a:solidFill>
            <a:srgbClr val="FFFFFF"/>
          </a:solidFill>
          <a:ln w="9525">
            <a:solidFill>
              <a:srgbClr val="D7DEE2"/>
            </a:solidFill>
            <a:prstDash val="solid"/>
          </a:ln>
        </p:spPr>
      </p:sp>
      <p:sp>
        <p:nvSpPr>
          <p:cNvPr id="29" name="직사각형 28">
            <a:extLst>
              <a:ext uri="{FF2B5EF4-FFF2-40B4-BE49-F238E27FC236}">
                <a16:creationId xmlns:a16="http://schemas.microsoft.com/office/drawing/2014/main" id="{6009A5BC-4D81-48FA-931F-CEE4A615D92B}"/>
              </a:ext>
            </a:extLst>
          </p:cNvPr>
          <p:cNvSpPr>
            <a:spLocks noGrp="1"/>
          </p:cNvSpPr>
          <p:nvPr/>
        </p:nvSpPr>
        <p:spPr>
          <a:xfrm>
            <a:off x="723900" y="264795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출처·조회일</a:t>
            </a:r>
          </a:p>
        </p:txBody>
      </p:sp>
      <p:sp>
        <p:nvSpPr>
          <p:cNvPr id="30" name="직사각형 29">
            <a:extLst>
              <a:ext uri="{FF2B5EF4-FFF2-40B4-BE49-F238E27FC236}">
                <a16:creationId xmlns:a16="http://schemas.microsoft.com/office/drawing/2014/main" id="{9ECF59E4-58CA-49ED-A046-704CD7B52DB0}"/>
              </a:ext>
            </a:extLst>
          </p:cNvPr>
          <p:cNvSpPr>
            <a:spLocks noGrp="1"/>
          </p:cNvSpPr>
          <p:nvPr/>
        </p:nvSpPr>
        <p:spPr>
          <a:xfrm>
            <a:off x="3143250" y="2647950"/>
            <a:ext cx="1924050" cy="666750"/>
          </a:xfrm>
          <a:prstGeom prst="rect">
            <a:avLst/>
          </a:prstGeom>
          <a:solidFill>
            <a:srgbClr val="FFFFFF"/>
          </a:solidFill>
          <a:ln w="9525">
            <a:solidFill>
              <a:srgbClr val="D7DEE2"/>
            </a:solidFill>
            <a:prstDash val="solid"/>
          </a:ln>
        </p:spPr>
      </p:sp>
      <p:sp>
        <p:nvSpPr>
          <p:cNvPr id="31" name="직사각형 30">
            <a:extLst>
              <a:ext uri="{FF2B5EF4-FFF2-40B4-BE49-F238E27FC236}">
                <a16:creationId xmlns:a16="http://schemas.microsoft.com/office/drawing/2014/main" id="{BECE8FB0-C7AA-4EA7-AD7E-D74D6BFC95A9}"/>
              </a:ext>
            </a:extLst>
          </p:cNvPr>
          <p:cNvSpPr>
            <a:spLocks noGrp="1"/>
          </p:cNvSpPr>
          <p:nvPr/>
        </p:nvSpPr>
        <p:spPr>
          <a:xfrm>
            <a:off x="3257550" y="26479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제공</a:t>
            </a:r>
          </a:p>
        </p:txBody>
      </p:sp>
      <p:sp>
        <p:nvSpPr>
          <p:cNvPr id="32" name="직사각형 31">
            <a:extLst>
              <a:ext uri="{FF2B5EF4-FFF2-40B4-BE49-F238E27FC236}">
                <a16:creationId xmlns:a16="http://schemas.microsoft.com/office/drawing/2014/main" id="{A409E8CE-E99A-4E13-9D31-B3938689B5D9}"/>
              </a:ext>
            </a:extLst>
          </p:cNvPr>
          <p:cNvSpPr>
            <a:spLocks noGrp="1"/>
          </p:cNvSpPr>
          <p:nvPr/>
        </p:nvSpPr>
        <p:spPr>
          <a:xfrm>
            <a:off x="5067300" y="2647950"/>
            <a:ext cx="1924050" cy="666750"/>
          </a:xfrm>
          <a:prstGeom prst="rect">
            <a:avLst/>
          </a:prstGeom>
          <a:solidFill>
            <a:srgbClr val="FFFFFF"/>
          </a:solidFill>
          <a:ln w="9525">
            <a:solidFill>
              <a:srgbClr val="D7DEE2"/>
            </a:solidFill>
            <a:prstDash val="solid"/>
          </a:ln>
        </p:spPr>
      </p:sp>
      <p:sp>
        <p:nvSpPr>
          <p:cNvPr id="33" name="직사각형 32">
            <a:extLst>
              <a:ext uri="{FF2B5EF4-FFF2-40B4-BE49-F238E27FC236}">
                <a16:creationId xmlns:a16="http://schemas.microsoft.com/office/drawing/2014/main" id="{9EC3C568-F777-4A1A-AA7C-F63E0FF9C61E}"/>
              </a:ext>
            </a:extLst>
          </p:cNvPr>
          <p:cNvSpPr>
            <a:spLocks noGrp="1"/>
          </p:cNvSpPr>
          <p:nvPr/>
        </p:nvSpPr>
        <p:spPr>
          <a:xfrm>
            <a:off x="5181600" y="26479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불안정</a:t>
            </a:r>
          </a:p>
        </p:txBody>
      </p:sp>
      <p:sp>
        <p:nvSpPr>
          <p:cNvPr id="34" name="직사각형 33">
            <a:extLst>
              <a:ext uri="{FF2B5EF4-FFF2-40B4-BE49-F238E27FC236}">
                <a16:creationId xmlns:a16="http://schemas.microsoft.com/office/drawing/2014/main" id="{8E054776-99AD-4798-8CB6-D32763B8D587}"/>
              </a:ext>
            </a:extLst>
          </p:cNvPr>
          <p:cNvSpPr>
            <a:spLocks noGrp="1"/>
          </p:cNvSpPr>
          <p:nvPr/>
        </p:nvSpPr>
        <p:spPr>
          <a:xfrm>
            <a:off x="6991350" y="2647950"/>
            <a:ext cx="1924050" cy="666750"/>
          </a:xfrm>
          <a:prstGeom prst="rect">
            <a:avLst/>
          </a:prstGeom>
          <a:solidFill>
            <a:srgbClr val="FFFFFF"/>
          </a:solidFill>
          <a:ln w="9525">
            <a:solidFill>
              <a:srgbClr val="D7DEE2"/>
            </a:solidFill>
            <a:prstDash val="solid"/>
          </a:ln>
        </p:spPr>
      </p:sp>
      <p:sp>
        <p:nvSpPr>
          <p:cNvPr id="35" name="직사각형 34">
            <a:extLst>
              <a:ext uri="{FF2B5EF4-FFF2-40B4-BE49-F238E27FC236}">
                <a16:creationId xmlns:a16="http://schemas.microsoft.com/office/drawing/2014/main" id="{5A2B0754-7E77-4AB6-8C0F-A9ED5DCD29CE}"/>
              </a:ext>
            </a:extLst>
          </p:cNvPr>
          <p:cNvSpPr>
            <a:spLocks noGrp="1"/>
          </p:cNvSpPr>
          <p:nvPr/>
        </p:nvSpPr>
        <p:spPr>
          <a:xfrm>
            <a:off x="7105650" y="26479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고정 시점</a:t>
            </a:r>
          </a:p>
        </p:txBody>
      </p:sp>
      <p:sp>
        <p:nvSpPr>
          <p:cNvPr id="36" name="직사각형 35">
            <a:extLst>
              <a:ext uri="{FF2B5EF4-FFF2-40B4-BE49-F238E27FC236}">
                <a16:creationId xmlns:a16="http://schemas.microsoft.com/office/drawing/2014/main" id="{415D9BFD-B616-4572-AF04-733B5F550BE1}"/>
              </a:ext>
            </a:extLst>
          </p:cNvPr>
          <p:cNvSpPr>
            <a:spLocks noGrp="1"/>
          </p:cNvSpPr>
          <p:nvPr/>
        </p:nvSpPr>
        <p:spPr>
          <a:xfrm>
            <a:off x="8915400" y="2647950"/>
            <a:ext cx="2667000" cy="666750"/>
          </a:xfrm>
          <a:prstGeom prst="rect">
            <a:avLst/>
          </a:prstGeom>
          <a:solidFill>
            <a:srgbClr val="EDF5F3"/>
          </a:solidFill>
          <a:ln w="9525">
            <a:solidFill>
              <a:srgbClr val="D7DEE2"/>
            </a:solidFill>
            <a:prstDash val="solid"/>
          </a:ln>
        </p:spPr>
      </p:sp>
      <p:sp>
        <p:nvSpPr>
          <p:cNvPr id="37" name="직사각형 36">
            <a:extLst>
              <a:ext uri="{FF2B5EF4-FFF2-40B4-BE49-F238E27FC236}">
                <a16:creationId xmlns:a16="http://schemas.microsoft.com/office/drawing/2014/main" id="{5BE3D972-393A-418C-80B6-96041EEA81AD}"/>
              </a:ext>
            </a:extLst>
          </p:cNvPr>
          <p:cNvSpPr>
            <a:spLocks noGrp="1"/>
          </p:cNvSpPr>
          <p:nvPr/>
        </p:nvSpPr>
        <p:spPr>
          <a:xfrm>
            <a:off x="9029700" y="264795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근거 ID 추적</a:t>
            </a:r>
          </a:p>
        </p:txBody>
      </p:sp>
      <p:sp>
        <p:nvSpPr>
          <p:cNvPr id="38" name="직사각형 37">
            <a:extLst>
              <a:ext uri="{FF2B5EF4-FFF2-40B4-BE49-F238E27FC236}">
                <a16:creationId xmlns:a16="http://schemas.microsoft.com/office/drawing/2014/main" id="{A60CBC0B-B071-4446-BAF9-DADD29A0240C}"/>
              </a:ext>
            </a:extLst>
          </p:cNvPr>
          <p:cNvSpPr>
            <a:spLocks noGrp="1"/>
          </p:cNvSpPr>
          <p:nvPr/>
        </p:nvSpPr>
        <p:spPr>
          <a:xfrm>
            <a:off x="609600" y="3314700"/>
            <a:ext cx="2533650" cy="666750"/>
          </a:xfrm>
          <a:prstGeom prst="rect">
            <a:avLst/>
          </a:prstGeom>
          <a:solidFill>
            <a:srgbClr val="FFFFFF"/>
          </a:solidFill>
          <a:ln w="9525">
            <a:solidFill>
              <a:srgbClr val="D7DEE2"/>
            </a:solidFill>
            <a:prstDash val="solid"/>
          </a:ln>
        </p:spPr>
      </p:sp>
      <p:sp>
        <p:nvSpPr>
          <p:cNvPr id="39" name="직사각형 38">
            <a:extLst>
              <a:ext uri="{FF2B5EF4-FFF2-40B4-BE49-F238E27FC236}">
                <a16:creationId xmlns:a16="http://schemas.microsoft.com/office/drawing/2014/main" id="{C958B8BB-ABC6-4EBE-A17C-493A45B43DDA}"/>
              </a:ext>
            </a:extLst>
          </p:cNvPr>
          <p:cNvSpPr>
            <a:spLocks noGrp="1"/>
          </p:cNvSpPr>
          <p:nvPr/>
        </p:nvSpPr>
        <p:spPr>
          <a:xfrm>
            <a:off x="723900" y="331470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미확인 공개</a:t>
            </a:r>
          </a:p>
        </p:txBody>
      </p:sp>
      <p:sp>
        <p:nvSpPr>
          <p:cNvPr id="40" name="직사각형 39">
            <a:extLst>
              <a:ext uri="{FF2B5EF4-FFF2-40B4-BE49-F238E27FC236}">
                <a16:creationId xmlns:a16="http://schemas.microsoft.com/office/drawing/2014/main" id="{2BD4288C-D51A-4847-96BA-716B4375B72C}"/>
              </a:ext>
            </a:extLst>
          </p:cNvPr>
          <p:cNvSpPr>
            <a:spLocks noGrp="1"/>
          </p:cNvSpPr>
          <p:nvPr/>
        </p:nvSpPr>
        <p:spPr>
          <a:xfrm>
            <a:off x="3143250" y="3314700"/>
            <a:ext cx="1924050" cy="666750"/>
          </a:xfrm>
          <a:prstGeom prst="rect">
            <a:avLst/>
          </a:prstGeom>
          <a:solidFill>
            <a:srgbClr val="FFFFFF"/>
          </a:solidFill>
          <a:ln w="9525">
            <a:solidFill>
              <a:srgbClr val="D7DEE2"/>
            </a:solidFill>
            <a:prstDash val="solid"/>
          </a:ln>
        </p:spPr>
      </p:sp>
      <p:sp>
        <p:nvSpPr>
          <p:cNvPr id="41" name="직사각형 40">
            <a:extLst>
              <a:ext uri="{FF2B5EF4-FFF2-40B4-BE49-F238E27FC236}">
                <a16:creationId xmlns:a16="http://schemas.microsoft.com/office/drawing/2014/main" id="{8EC0D043-B8CE-4B8A-B06E-A1B9FCAF65E6}"/>
              </a:ext>
            </a:extLst>
          </p:cNvPr>
          <p:cNvSpPr>
            <a:spLocks noGrp="1"/>
          </p:cNvSpPr>
          <p:nvPr/>
        </p:nvSpPr>
        <p:spPr>
          <a:xfrm>
            <a:off x="3257550" y="33147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분산</a:t>
            </a:r>
          </a:p>
        </p:txBody>
      </p:sp>
      <p:sp>
        <p:nvSpPr>
          <p:cNvPr id="42" name="직사각형 41">
            <a:extLst>
              <a:ext uri="{FF2B5EF4-FFF2-40B4-BE49-F238E27FC236}">
                <a16:creationId xmlns:a16="http://schemas.microsoft.com/office/drawing/2014/main" id="{94C7B078-EE1A-44EB-8B44-C8DC69427232}"/>
              </a:ext>
            </a:extLst>
          </p:cNvPr>
          <p:cNvSpPr>
            <a:spLocks noGrp="1"/>
          </p:cNvSpPr>
          <p:nvPr/>
        </p:nvSpPr>
        <p:spPr>
          <a:xfrm>
            <a:off x="5067300" y="3314700"/>
            <a:ext cx="1924050" cy="666750"/>
          </a:xfrm>
          <a:prstGeom prst="rect">
            <a:avLst/>
          </a:prstGeom>
          <a:solidFill>
            <a:srgbClr val="FFFFFF"/>
          </a:solidFill>
          <a:ln w="9525">
            <a:solidFill>
              <a:srgbClr val="D7DEE2"/>
            </a:solidFill>
            <a:prstDash val="solid"/>
          </a:ln>
        </p:spPr>
      </p:sp>
      <p:sp>
        <p:nvSpPr>
          <p:cNvPr id="43" name="직사각형 42">
            <a:extLst>
              <a:ext uri="{FF2B5EF4-FFF2-40B4-BE49-F238E27FC236}">
                <a16:creationId xmlns:a16="http://schemas.microsoft.com/office/drawing/2014/main" id="{AFE35882-1124-4336-86F2-1144060C593F}"/>
              </a:ext>
            </a:extLst>
          </p:cNvPr>
          <p:cNvSpPr>
            <a:spLocks noGrp="1"/>
          </p:cNvSpPr>
          <p:nvPr/>
        </p:nvSpPr>
        <p:spPr>
          <a:xfrm>
            <a:off x="5181600" y="33147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누락 가능</a:t>
            </a:r>
          </a:p>
        </p:txBody>
      </p:sp>
      <p:sp>
        <p:nvSpPr>
          <p:cNvPr id="44" name="직사각형 43">
            <a:extLst>
              <a:ext uri="{FF2B5EF4-FFF2-40B4-BE49-F238E27FC236}">
                <a16:creationId xmlns:a16="http://schemas.microsoft.com/office/drawing/2014/main" id="{93F8D860-D266-4AAC-87BD-CB6FC4555C28}"/>
              </a:ext>
            </a:extLst>
          </p:cNvPr>
          <p:cNvSpPr>
            <a:spLocks noGrp="1"/>
          </p:cNvSpPr>
          <p:nvPr/>
        </p:nvSpPr>
        <p:spPr>
          <a:xfrm>
            <a:off x="6991350" y="3314700"/>
            <a:ext cx="1924050" cy="666750"/>
          </a:xfrm>
          <a:prstGeom prst="rect">
            <a:avLst/>
          </a:prstGeom>
          <a:solidFill>
            <a:srgbClr val="FFFFFF"/>
          </a:solidFill>
          <a:ln w="9525">
            <a:solidFill>
              <a:srgbClr val="D7DEE2"/>
            </a:solidFill>
            <a:prstDash val="solid"/>
          </a:ln>
        </p:spPr>
      </p:sp>
      <p:sp>
        <p:nvSpPr>
          <p:cNvPr id="45" name="직사각형 44">
            <a:extLst>
              <a:ext uri="{FF2B5EF4-FFF2-40B4-BE49-F238E27FC236}">
                <a16:creationId xmlns:a16="http://schemas.microsoft.com/office/drawing/2014/main" id="{70A45A08-41B6-42CB-AF79-BB7A57D9C7AC}"/>
              </a:ext>
            </a:extLst>
          </p:cNvPr>
          <p:cNvSpPr>
            <a:spLocks noGrp="1"/>
          </p:cNvSpPr>
          <p:nvPr/>
        </p:nvSpPr>
        <p:spPr>
          <a:xfrm>
            <a:off x="7105650" y="33147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문서 기재</a:t>
            </a:r>
          </a:p>
        </p:txBody>
      </p:sp>
      <p:sp>
        <p:nvSpPr>
          <p:cNvPr id="46" name="직사각형 45">
            <a:extLst>
              <a:ext uri="{FF2B5EF4-FFF2-40B4-BE49-F238E27FC236}">
                <a16:creationId xmlns:a16="http://schemas.microsoft.com/office/drawing/2014/main" id="{84F6C6E1-9CDF-4066-A52A-A559A3630571}"/>
              </a:ext>
            </a:extLst>
          </p:cNvPr>
          <p:cNvSpPr>
            <a:spLocks noGrp="1"/>
          </p:cNvSpPr>
          <p:nvPr/>
        </p:nvSpPr>
        <p:spPr>
          <a:xfrm>
            <a:off x="8915400" y="3314700"/>
            <a:ext cx="2667000" cy="666750"/>
          </a:xfrm>
          <a:prstGeom prst="rect">
            <a:avLst/>
          </a:prstGeom>
          <a:solidFill>
            <a:srgbClr val="EDF5F3"/>
          </a:solidFill>
          <a:ln w="9525">
            <a:solidFill>
              <a:srgbClr val="D7DEE2"/>
            </a:solidFill>
            <a:prstDash val="solid"/>
          </a:ln>
        </p:spPr>
      </p:sp>
      <p:sp>
        <p:nvSpPr>
          <p:cNvPr id="47" name="직사각형 46">
            <a:extLst>
              <a:ext uri="{FF2B5EF4-FFF2-40B4-BE49-F238E27FC236}">
                <a16:creationId xmlns:a16="http://schemas.microsoft.com/office/drawing/2014/main" id="{07C8733D-3025-41F0-B4F7-1C9C115FAD77}"/>
              </a:ext>
            </a:extLst>
          </p:cNvPr>
          <p:cNvSpPr>
            <a:spLocks noGrp="1"/>
          </p:cNvSpPr>
          <p:nvPr/>
        </p:nvSpPr>
        <p:spPr>
          <a:xfrm>
            <a:off x="9029700" y="331470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게이트로 유지</a:t>
            </a:r>
          </a:p>
        </p:txBody>
      </p:sp>
      <p:sp>
        <p:nvSpPr>
          <p:cNvPr id="48" name="직사각형 47">
            <a:extLst>
              <a:ext uri="{FF2B5EF4-FFF2-40B4-BE49-F238E27FC236}">
                <a16:creationId xmlns:a16="http://schemas.microsoft.com/office/drawing/2014/main" id="{F6748492-7CB2-43BF-8A3E-B7AB394F4339}"/>
              </a:ext>
            </a:extLst>
          </p:cNvPr>
          <p:cNvSpPr>
            <a:spLocks noGrp="1"/>
          </p:cNvSpPr>
          <p:nvPr/>
        </p:nvSpPr>
        <p:spPr>
          <a:xfrm>
            <a:off x="609600" y="3981450"/>
            <a:ext cx="2533650" cy="666750"/>
          </a:xfrm>
          <a:prstGeom prst="rect">
            <a:avLst/>
          </a:prstGeom>
          <a:solidFill>
            <a:srgbClr val="FFFFFF"/>
          </a:solidFill>
          <a:ln w="9525">
            <a:solidFill>
              <a:srgbClr val="D7DEE2"/>
            </a:solidFill>
            <a:prstDash val="solid"/>
          </a:ln>
        </p:spPr>
      </p:sp>
      <p:sp>
        <p:nvSpPr>
          <p:cNvPr id="49" name="직사각형 48">
            <a:extLst>
              <a:ext uri="{FF2B5EF4-FFF2-40B4-BE49-F238E27FC236}">
                <a16:creationId xmlns:a16="http://schemas.microsoft.com/office/drawing/2014/main" id="{FC601CA6-9B41-49C8-A0F1-AFA822BC74D1}"/>
              </a:ext>
            </a:extLst>
          </p:cNvPr>
          <p:cNvSpPr>
            <a:spLocks noGrp="1"/>
          </p:cNvSpPr>
          <p:nvPr/>
        </p:nvSpPr>
        <p:spPr>
          <a:xfrm>
            <a:off x="723900" y="398145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데이터 갱신</a:t>
            </a:r>
          </a:p>
        </p:txBody>
      </p:sp>
      <p:sp>
        <p:nvSpPr>
          <p:cNvPr id="50" name="직사각형 49">
            <a:extLst>
              <a:ext uri="{FF2B5EF4-FFF2-40B4-BE49-F238E27FC236}">
                <a16:creationId xmlns:a16="http://schemas.microsoft.com/office/drawing/2014/main" id="{EDF92C07-6EA3-4F78-B90B-C927D18A5525}"/>
              </a:ext>
            </a:extLst>
          </p:cNvPr>
          <p:cNvSpPr>
            <a:spLocks noGrp="1"/>
          </p:cNvSpPr>
          <p:nvPr/>
        </p:nvSpPr>
        <p:spPr>
          <a:xfrm>
            <a:off x="3143250" y="3981450"/>
            <a:ext cx="1924050" cy="666750"/>
          </a:xfrm>
          <a:prstGeom prst="rect">
            <a:avLst/>
          </a:prstGeom>
          <a:solidFill>
            <a:srgbClr val="FFFFFF"/>
          </a:solidFill>
          <a:ln w="9525">
            <a:solidFill>
              <a:srgbClr val="D7DEE2"/>
            </a:solidFill>
            <a:prstDash val="solid"/>
          </a:ln>
        </p:spPr>
      </p:sp>
      <p:sp>
        <p:nvSpPr>
          <p:cNvPr id="51" name="직사각형 50">
            <a:extLst>
              <a:ext uri="{FF2B5EF4-FFF2-40B4-BE49-F238E27FC236}">
                <a16:creationId xmlns:a16="http://schemas.microsoft.com/office/drawing/2014/main" id="{A706A7CC-4052-4609-A4FA-2B853D4ECE26}"/>
              </a:ext>
            </a:extLst>
          </p:cNvPr>
          <p:cNvSpPr>
            <a:spLocks noGrp="1"/>
          </p:cNvSpPr>
          <p:nvPr/>
        </p:nvSpPr>
        <p:spPr>
          <a:xfrm>
            <a:off x="3257550" y="39814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재검색</a:t>
            </a:r>
          </a:p>
        </p:txBody>
      </p:sp>
      <p:sp>
        <p:nvSpPr>
          <p:cNvPr id="52" name="직사각형 51">
            <a:extLst>
              <a:ext uri="{FF2B5EF4-FFF2-40B4-BE49-F238E27FC236}">
                <a16:creationId xmlns:a16="http://schemas.microsoft.com/office/drawing/2014/main" id="{762692DB-4F5F-4D20-B83A-CB2870C424C8}"/>
              </a:ext>
            </a:extLst>
          </p:cNvPr>
          <p:cNvSpPr>
            <a:spLocks noGrp="1"/>
          </p:cNvSpPr>
          <p:nvPr/>
        </p:nvSpPr>
        <p:spPr>
          <a:xfrm>
            <a:off x="5067300" y="3981450"/>
            <a:ext cx="1924050" cy="666750"/>
          </a:xfrm>
          <a:prstGeom prst="rect">
            <a:avLst/>
          </a:prstGeom>
          <a:solidFill>
            <a:srgbClr val="FFFFFF"/>
          </a:solidFill>
          <a:ln w="9525">
            <a:solidFill>
              <a:srgbClr val="D7DEE2"/>
            </a:solidFill>
            <a:prstDash val="solid"/>
          </a:ln>
        </p:spPr>
      </p:sp>
      <p:sp>
        <p:nvSpPr>
          <p:cNvPr id="53" name="직사각형 52">
            <a:extLst>
              <a:ext uri="{FF2B5EF4-FFF2-40B4-BE49-F238E27FC236}">
                <a16:creationId xmlns:a16="http://schemas.microsoft.com/office/drawing/2014/main" id="{A8FCB155-D068-44F9-9496-43BDD6E51EE8}"/>
              </a:ext>
            </a:extLst>
          </p:cNvPr>
          <p:cNvSpPr>
            <a:spLocks noGrp="1"/>
          </p:cNvSpPr>
          <p:nvPr/>
        </p:nvSpPr>
        <p:spPr>
          <a:xfrm>
            <a:off x="5181600" y="39814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재질문</a:t>
            </a:r>
          </a:p>
        </p:txBody>
      </p:sp>
      <p:sp>
        <p:nvSpPr>
          <p:cNvPr id="54" name="직사각형 53">
            <a:extLst>
              <a:ext uri="{FF2B5EF4-FFF2-40B4-BE49-F238E27FC236}">
                <a16:creationId xmlns:a16="http://schemas.microsoft.com/office/drawing/2014/main" id="{440A1218-1D5D-44E9-A634-ED32EC66DC97}"/>
              </a:ext>
            </a:extLst>
          </p:cNvPr>
          <p:cNvSpPr>
            <a:spLocks noGrp="1"/>
          </p:cNvSpPr>
          <p:nvPr/>
        </p:nvSpPr>
        <p:spPr>
          <a:xfrm>
            <a:off x="6991350" y="3981450"/>
            <a:ext cx="1924050" cy="666750"/>
          </a:xfrm>
          <a:prstGeom prst="rect">
            <a:avLst/>
          </a:prstGeom>
          <a:solidFill>
            <a:srgbClr val="FFFFFF"/>
          </a:solidFill>
          <a:ln w="9525">
            <a:solidFill>
              <a:srgbClr val="D7DEE2"/>
            </a:solidFill>
            <a:prstDash val="solid"/>
          </a:ln>
        </p:spPr>
      </p:sp>
      <p:sp>
        <p:nvSpPr>
          <p:cNvPr id="55" name="직사각형 54">
            <a:extLst>
              <a:ext uri="{FF2B5EF4-FFF2-40B4-BE49-F238E27FC236}">
                <a16:creationId xmlns:a16="http://schemas.microsoft.com/office/drawing/2014/main" id="{AFB9AC7E-3263-4BCB-84C3-3FC8B14D9410}"/>
              </a:ext>
            </a:extLst>
          </p:cNvPr>
          <p:cNvSpPr>
            <a:spLocks noGrp="1"/>
          </p:cNvSpPr>
          <p:nvPr/>
        </p:nvSpPr>
        <p:spPr>
          <a:xfrm>
            <a:off x="7105650" y="39814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재작성</a:t>
            </a:r>
          </a:p>
        </p:txBody>
      </p:sp>
      <p:sp>
        <p:nvSpPr>
          <p:cNvPr id="56" name="직사각형 55">
            <a:extLst>
              <a:ext uri="{FF2B5EF4-FFF2-40B4-BE49-F238E27FC236}">
                <a16:creationId xmlns:a16="http://schemas.microsoft.com/office/drawing/2014/main" id="{3A7BCD15-BEC3-416D-B238-288B72125C15}"/>
              </a:ext>
            </a:extLst>
          </p:cNvPr>
          <p:cNvSpPr>
            <a:spLocks noGrp="1"/>
          </p:cNvSpPr>
          <p:nvPr/>
        </p:nvSpPr>
        <p:spPr>
          <a:xfrm>
            <a:off x="8915400" y="3981450"/>
            <a:ext cx="2667000" cy="666750"/>
          </a:xfrm>
          <a:prstGeom prst="rect">
            <a:avLst/>
          </a:prstGeom>
          <a:solidFill>
            <a:srgbClr val="EDF5F3"/>
          </a:solidFill>
          <a:ln w="9525">
            <a:solidFill>
              <a:srgbClr val="D7DEE2"/>
            </a:solidFill>
            <a:prstDash val="solid"/>
          </a:ln>
        </p:spPr>
      </p:sp>
      <p:sp>
        <p:nvSpPr>
          <p:cNvPr id="57" name="직사각형 56">
            <a:extLst>
              <a:ext uri="{FF2B5EF4-FFF2-40B4-BE49-F238E27FC236}">
                <a16:creationId xmlns:a16="http://schemas.microsoft.com/office/drawing/2014/main" id="{2E7B6D98-B923-4096-8874-335CF346E75B}"/>
              </a:ext>
            </a:extLst>
          </p:cNvPr>
          <p:cNvSpPr>
            <a:spLocks noGrp="1"/>
          </p:cNvSpPr>
          <p:nvPr/>
        </p:nvSpPr>
        <p:spPr>
          <a:xfrm>
            <a:off x="9029700" y="398145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재조회·재생성</a:t>
            </a:r>
          </a:p>
        </p:txBody>
      </p:sp>
      <p:sp>
        <p:nvSpPr>
          <p:cNvPr id="58" name="직사각형 57">
            <a:extLst>
              <a:ext uri="{FF2B5EF4-FFF2-40B4-BE49-F238E27FC236}">
                <a16:creationId xmlns:a16="http://schemas.microsoft.com/office/drawing/2014/main" id="{3D1EBC2D-92AD-4CBF-B02C-3693F16F7E95}"/>
              </a:ext>
            </a:extLst>
          </p:cNvPr>
          <p:cNvSpPr>
            <a:spLocks noGrp="1"/>
          </p:cNvSpPr>
          <p:nvPr/>
        </p:nvSpPr>
        <p:spPr>
          <a:xfrm>
            <a:off x="609600" y="4648200"/>
            <a:ext cx="2533650" cy="666750"/>
          </a:xfrm>
          <a:prstGeom prst="rect">
            <a:avLst/>
          </a:prstGeom>
          <a:solidFill>
            <a:srgbClr val="FFFFFF"/>
          </a:solidFill>
          <a:ln w="9525">
            <a:solidFill>
              <a:srgbClr val="D7DEE2"/>
            </a:solidFill>
            <a:prstDash val="solid"/>
          </a:ln>
        </p:spPr>
      </p:sp>
      <p:sp>
        <p:nvSpPr>
          <p:cNvPr id="59" name="직사각형 58">
            <a:extLst>
              <a:ext uri="{FF2B5EF4-FFF2-40B4-BE49-F238E27FC236}">
                <a16:creationId xmlns:a16="http://schemas.microsoft.com/office/drawing/2014/main" id="{AAA696DB-5996-4D6F-A50A-EB54C67A3843}"/>
              </a:ext>
            </a:extLst>
          </p:cNvPr>
          <p:cNvSpPr>
            <a:spLocks noGrp="1"/>
          </p:cNvSpPr>
          <p:nvPr/>
        </p:nvSpPr>
        <p:spPr>
          <a:xfrm>
            <a:off x="723900" y="464820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다음 행동</a:t>
            </a:r>
          </a:p>
        </p:txBody>
      </p:sp>
      <p:sp>
        <p:nvSpPr>
          <p:cNvPr id="60" name="직사각형 59">
            <a:extLst>
              <a:ext uri="{FF2B5EF4-FFF2-40B4-BE49-F238E27FC236}">
                <a16:creationId xmlns:a16="http://schemas.microsoft.com/office/drawing/2014/main" id="{D2FA4CCC-527C-4C6C-A909-780ECB523C96}"/>
              </a:ext>
            </a:extLst>
          </p:cNvPr>
          <p:cNvSpPr>
            <a:spLocks noGrp="1"/>
          </p:cNvSpPr>
          <p:nvPr/>
        </p:nvSpPr>
        <p:spPr>
          <a:xfrm>
            <a:off x="3143250" y="4648200"/>
            <a:ext cx="1924050" cy="666750"/>
          </a:xfrm>
          <a:prstGeom prst="rect">
            <a:avLst/>
          </a:prstGeom>
          <a:solidFill>
            <a:srgbClr val="FFFFFF"/>
          </a:solidFill>
          <a:ln w="9525">
            <a:solidFill>
              <a:srgbClr val="D7DEE2"/>
            </a:solidFill>
            <a:prstDash val="solid"/>
          </a:ln>
        </p:spPr>
      </p:sp>
      <p:sp>
        <p:nvSpPr>
          <p:cNvPr id="61" name="직사각형 60">
            <a:extLst>
              <a:ext uri="{FF2B5EF4-FFF2-40B4-BE49-F238E27FC236}">
                <a16:creationId xmlns:a16="http://schemas.microsoft.com/office/drawing/2014/main" id="{C18EBBF6-69D0-48AB-9AD8-D8CAD660DD3D}"/>
              </a:ext>
            </a:extLst>
          </p:cNvPr>
          <p:cNvSpPr>
            <a:spLocks noGrp="1"/>
          </p:cNvSpPr>
          <p:nvPr/>
        </p:nvSpPr>
        <p:spPr>
          <a:xfrm>
            <a:off x="3257550" y="46482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분리</a:t>
            </a:r>
          </a:p>
        </p:txBody>
      </p:sp>
      <p:sp>
        <p:nvSpPr>
          <p:cNvPr id="62" name="직사각형 61">
            <a:extLst>
              <a:ext uri="{FF2B5EF4-FFF2-40B4-BE49-F238E27FC236}">
                <a16:creationId xmlns:a16="http://schemas.microsoft.com/office/drawing/2014/main" id="{49A0E553-C805-499F-ACE1-A5A6C894759E}"/>
              </a:ext>
            </a:extLst>
          </p:cNvPr>
          <p:cNvSpPr>
            <a:spLocks noGrp="1"/>
          </p:cNvSpPr>
          <p:nvPr/>
        </p:nvSpPr>
        <p:spPr>
          <a:xfrm>
            <a:off x="5067300" y="4648200"/>
            <a:ext cx="1924050" cy="666750"/>
          </a:xfrm>
          <a:prstGeom prst="rect">
            <a:avLst/>
          </a:prstGeom>
          <a:solidFill>
            <a:srgbClr val="FFFFFF"/>
          </a:solidFill>
          <a:ln w="9525">
            <a:solidFill>
              <a:srgbClr val="D7DEE2"/>
            </a:solidFill>
            <a:prstDash val="solid"/>
          </a:ln>
        </p:spPr>
      </p:sp>
      <p:sp>
        <p:nvSpPr>
          <p:cNvPr id="63" name="직사각형 62">
            <a:extLst>
              <a:ext uri="{FF2B5EF4-FFF2-40B4-BE49-F238E27FC236}">
                <a16:creationId xmlns:a16="http://schemas.microsoft.com/office/drawing/2014/main" id="{1625F6EB-FFFD-4705-9328-1C700DF54F99}"/>
              </a:ext>
            </a:extLst>
          </p:cNvPr>
          <p:cNvSpPr>
            <a:spLocks noGrp="1"/>
          </p:cNvSpPr>
          <p:nvPr/>
        </p:nvSpPr>
        <p:spPr>
          <a:xfrm>
            <a:off x="5181600" y="46482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일반 조언</a:t>
            </a:r>
          </a:p>
        </p:txBody>
      </p:sp>
      <p:sp>
        <p:nvSpPr>
          <p:cNvPr id="64" name="직사각형 63">
            <a:extLst>
              <a:ext uri="{FF2B5EF4-FFF2-40B4-BE49-F238E27FC236}">
                <a16:creationId xmlns:a16="http://schemas.microsoft.com/office/drawing/2014/main" id="{E218D08C-BAD8-4899-B14D-5EB34461154C}"/>
              </a:ext>
            </a:extLst>
          </p:cNvPr>
          <p:cNvSpPr>
            <a:spLocks noGrp="1"/>
          </p:cNvSpPr>
          <p:nvPr/>
        </p:nvSpPr>
        <p:spPr>
          <a:xfrm>
            <a:off x="6991350" y="4648200"/>
            <a:ext cx="1924050" cy="666750"/>
          </a:xfrm>
          <a:prstGeom prst="rect">
            <a:avLst/>
          </a:prstGeom>
          <a:solidFill>
            <a:srgbClr val="FFFFFF"/>
          </a:solidFill>
          <a:ln w="9525">
            <a:solidFill>
              <a:srgbClr val="D7DEE2"/>
            </a:solidFill>
            <a:prstDash val="solid"/>
          </a:ln>
        </p:spPr>
      </p:sp>
      <p:sp>
        <p:nvSpPr>
          <p:cNvPr id="65" name="직사각형 64">
            <a:extLst>
              <a:ext uri="{FF2B5EF4-FFF2-40B4-BE49-F238E27FC236}">
                <a16:creationId xmlns:a16="http://schemas.microsoft.com/office/drawing/2014/main" id="{1F15125D-C4B7-4E2B-8A9F-BC32D8E15168}"/>
              </a:ext>
            </a:extLst>
          </p:cNvPr>
          <p:cNvSpPr>
            <a:spLocks noGrp="1"/>
          </p:cNvSpPr>
          <p:nvPr/>
        </p:nvSpPr>
        <p:spPr>
          <a:xfrm>
            <a:off x="7105650" y="46482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수기 작성</a:t>
            </a:r>
          </a:p>
        </p:txBody>
      </p:sp>
      <p:sp>
        <p:nvSpPr>
          <p:cNvPr id="66" name="직사각형 65">
            <a:extLst>
              <a:ext uri="{FF2B5EF4-FFF2-40B4-BE49-F238E27FC236}">
                <a16:creationId xmlns:a16="http://schemas.microsoft.com/office/drawing/2014/main" id="{1B49C442-601A-4D01-BE9C-265760232B98}"/>
              </a:ext>
            </a:extLst>
          </p:cNvPr>
          <p:cNvSpPr>
            <a:spLocks noGrp="1"/>
          </p:cNvSpPr>
          <p:nvPr/>
        </p:nvSpPr>
        <p:spPr>
          <a:xfrm>
            <a:off x="8915400" y="4648200"/>
            <a:ext cx="2667000" cy="666750"/>
          </a:xfrm>
          <a:prstGeom prst="rect">
            <a:avLst/>
          </a:prstGeom>
          <a:solidFill>
            <a:srgbClr val="EDF5F3"/>
          </a:solidFill>
          <a:ln w="9525">
            <a:solidFill>
              <a:srgbClr val="D7DEE2"/>
            </a:solidFill>
            <a:prstDash val="solid"/>
          </a:ln>
        </p:spPr>
      </p:sp>
      <p:sp>
        <p:nvSpPr>
          <p:cNvPr id="67" name="직사각형 66">
            <a:extLst>
              <a:ext uri="{FF2B5EF4-FFF2-40B4-BE49-F238E27FC236}">
                <a16:creationId xmlns:a16="http://schemas.microsoft.com/office/drawing/2014/main" id="{23EA36F0-56BD-4625-B972-6ACB639716ED}"/>
              </a:ext>
            </a:extLst>
          </p:cNvPr>
          <p:cNvSpPr>
            <a:spLocks noGrp="1"/>
          </p:cNvSpPr>
          <p:nvPr/>
        </p:nvSpPr>
        <p:spPr>
          <a:xfrm>
            <a:off x="9029700" y="464820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담당자·PDF 연결</a:t>
            </a:r>
          </a:p>
        </p:txBody>
      </p:sp>
      <p:sp>
        <p:nvSpPr>
          <p:cNvPr id="68" name="사각형: 둥근 모서리 67">
            <a:extLst>
              <a:ext uri="{FF2B5EF4-FFF2-40B4-BE49-F238E27FC236}">
                <a16:creationId xmlns:a16="http://schemas.microsoft.com/office/drawing/2014/main" id="{37501455-BE07-4CBC-9A0F-6FC250116C26}"/>
              </a:ext>
            </a:extLst>
          </p:cNvPr>
          <p:cNvSpPr>
            <a:spLocks noGrp="1"/>
          </p:cNvSpPr>
          <p:nvPr/>
        </p:nvSpPr>
        <p:spPr>
          <a:xfrm>
            <a:off x="609600" y="5581650"/>
            <a:ext cx="10972800" cy="552450"/>
          </a:xfrm>
          <a:prstGeom prst="roundRect">
            <a:avLst>
              <a:gd name="adj" fmla="val 20690"/>
            </a:avLst>
          </a:prstGeom>
          <a:solidFill>
            <a:srgbClr val="051C2C"/>
          </a:solidFill>
          <a:ln w="0">
            <a:solidFill>
              <a:srgbClr val="051C2C"/>
            </a:solidFill>
            <a:prstDash val="solid"/>
          </a:ln>
        </p:spPr>
      </p:sp>
      <p:sp>
        <p:nvSpPr>
          <p:cNvPr id="69" name="직사각형 68">
            <a:extLst>
              <a:ext uri="{FF2B5EF4-FFF2-40B4-BE49-F238E27FC236}">
                <a16:creationId xmlns:a16="http://schemas.microsoft.com/office/drawing/2014/main" id="{DDF3D937-7A3B-4FF6-9F9D-44A8105BE476}"/>
              </a:ext>
            </a:extLst>
          </p:cNvPr>
          <p:cNvSpPr>
            <a:spLocks noGrp="1"/>
          </p:cNvSpPr>
          <p:nvPr/>
        </p:nvSpPr>
        <p:spPr>
          <a:xfrm>
            <a:off x="838200" y="5676900"/>
            <a:ext cx="10515600" cy="361950"/>
          </a:xfrm>
          <a:prstGeom prst="rect">
            <a:avLst/>
          </a:prstGeom>
          <a:noFill/>
          <a:ln w="0">
            <a:noFill/>
            <a:prstDash val="solid"/>
          </a:ln>
        </p:spPr>
        <p:txBody>
          <a:bodyPr lIns="0" tIns="0" rIns="0" bIns="0" anchor="ctr"/>
          <a:lstStyle/>
          <a:p>
            <a:pPr algn="ctr">
              <a:defRPr sz="1500" b="1">
                <a:solidFill>
                  <a:srgbClr val="FFFFFF"/>
                </a:solidFill>
                <a:latin typeface="Noto Sans KR"/>
                <a:ea typeface="Noto Sans KR"/>
                <a:cs typeface="Noto Sans KR"/>
              </a:defRPr>
            </a:pPr>
            <a:r>
              <a:rPr sz="1500" b="1">
                <a:solidFill>
                  <a:srgbClr val="FFFFFF"/>
                </a:solidFill>
                <a:latin typeface="Noto Sans KR"/>
                <a:ea typeface="Noto Sans KR"/>
                <a:cs typeface="Noto Sans KR"/>
              </a:rPr>
              <a:t>핵심 경쟁력  |  10종 API + 근거·게이트 스키마 + HSK 도메인 규칙</a:t>
            </a:r>
          </a:p>
        </p:txBody>
      </p:sp>
    </p:spTree>
    <p:extLst>
      <p:ext uri="{BB962C8B-B14F-4D97-AF65-F5344CB8AC3E}">
        <p14:creationId xmlns:p14="http://schemas.microsoft.com/office/powerpoint/2010/main" val="764872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직사각형 27">
            <a:extLst>
              <a:ext uri="{FF2B5EF4-FFF2-40B4-BE49-F238E27FC236}">
                <a16:creationId xmlns:a16="http://schemas.microsoft.com/office/drawing/2014/main" id="{BC5741E6-F5A5-4306-99E4-C05679032326}"/>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VALIDATION</a:t>
            </a:r>
          </a:p>
        </p:txBody>
      </p:sp>
      <p:sp>
        <p:nvSpPr>
          <p:cNvPr id="2" name="slide-12-title">
            <a:extLst>
              <a:ext uri="{FF2B5EF4-FFF2-40B4-BE49-F238E27FC236}">
                <a16:creationId xmlns:a16="http://schemas.microsoft.com/office/drawing/2014/main" id="{7E2A6363-B6E5-427F-A68E-5565760CB904}"/>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넥센타이어 시나리오로 입력부터 PDF까지 전 과정을 검증했습니다</a:t>
            </a:r>
          </a:p>
        </p:txBody>
      </p:sp>
      <p:sp>
        <p:nvSpPr>
          <p:cNvPr id="3" name="직사각형 2">
            <a:extLst>
              <a:ext uri="{FF2B5EF4-FFF2-40B4-BE49-F238E27FC236}">
                <a16:creationId xmlns:a16="http://schemas.microsoft.com/office/drawing/2014/main" id="{CEE55ADC-A842-4224-A7E8-588DAEBE42F5}"/>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BADE59F6-8FF0-4975-B9F4-2B56652996F0}"/>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CB2B663F-F1C2-446E-8B25-C920D7BB72BE}"/>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C1E38779-BD8A-475E-B89F-40EE92724762}"/>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화면 data-sources.png 및 E2E 시나리오</a:t>
            </a:r>
          </a:p>
        </p:txBody>
      </p:sp>
      <p:sp>
        <p:nvSpPr>
          <p:cNvPr id="7" name="직사각형 6">
            <a:extLst>
              <a:ext uri="{FF2B5EF4-FFF2-40B4-BE49-F238E27FC236}">
                <a16:creationId xmlns:a16="http://schemas.microsoft.com/office/drawing/2014/main" id="{6A2F1619-B187-41AF-94DE-1355E1076207}"/>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12</a:t>
            </a:r>
          </a:p>
        </p:txBody>
      </p:sp>
      <p:sp>
        <p:nvSpPr>
          <p:cNvPr id="8" name="사각형: 둥근 모서리 7">
            <a:extLst>
              <a:ext uri="{FF2B5EF4-FFF2-40B4-BE49-F238E27FC236}">
                <a16:creationId xmlns:a16="http://schemas.microsoft.com/office/drawing/2014/main" id="{5C59AD95-11B0-4060-8E21-8048DD4D9C87}"/>
              </a:ext>
            </a:extLst>
          </p:cNvPr>
          <p:cNvSpPr>
            <a:spLocks noGrp="1"/>
          </p:cNvSpPr>
          <p:nvPr/>
        </p:nvSpPr>
        <p:spPr>
          <a:xfrm>
            <a:off x="552450" y="1409700"/>
            <a:ext cx="6781800" cy="4610100"/>
          </a:xfrm>
          <a:prstGeom prst="roundRect">
            <a:avLst>
              <a:gd name="adj" fmla="val 2479"/>
            </a:avLst>
          </a:prstGeom>
          <a:solidFill>
            <a:srgbClr val="FFFFFF"/>
          </a:solidFill>
          <a:ln w="9525">
            <a:solidFill>
              <a:srgbClr val="D7DEE2"/>
            </a:solidFill>
            <a:prstDash val="solid"/>
          </a:ln>
        </p:spPr>
      </p:sp>
      <p:sp>
        <p:nvSpPr>
          <p:cNvPr id="9" name="사각형: 둥근 모서리 8">
            <a:extLst>
              <a:ext uri="{FF2B5EF4-FFF2-40B4-BE49-F238E27FC236}">
                <a16:creationId xmlns:a16="http://schemas.microsoft.com/office/drawing/2014/main" id="{8248E7BA-0FF5-4C58-8F26-1EA4BF527FD8}"/>
              </a:ext>
            </a:extLst>
          </p:cNvPr>
          <p:cNvSpPr>
            <a:spLocks noGrp="1"/>
          </p:cNvSpPr>
          <p:nvPr/>
        </p:nvSpPr>
        <p:spPr>
          <a:xfrm>
            <a:off x="742950" y="1600200"/>
            <a:ext cx="1771650" cy="285750"/>
          </a:xfrm>
          <a:prstGeom prst="roundRect">
            <a:avLst>
              <a:gd name="adj" fmla="val 40000"/>
            </a:avLst>
          </a:prstGeom>
          <a:solidFill>
            <a:srgbClr val="051C2C"/>
          </a:solidFill>
          <a:ln w="0">
            <a:solidFill>
              <a:srgbClr val="051C2C"/>
            </a:solidFill>
            <a:prstDash val="solid"/>
          </a:ln>
        </p:spPr>
      </p:sp>
      <p:sp>
        <p:nvSpPr>
          <p:cNvPr id="10" name="직사각형 9">
            <a:extLst>
              <a:ext uri="{FF2B5EF4-FFF2-40B4-BE49-F238E27FC236}">
                <a16:creationId xmlns:a16="http://schemas.microsoft.com/office/drawing/2014/main" id="{5D1B790E-CDC5-4575-A2AB-0350AAA2FCF3}"/>
              </a:ext>
            </a:extLst>
          </p:cNvPr>
          <p:cNvSpPr>
            <a:spLocks noGrp="1"/>
          </p:cNvSpPr>
          <p:nvPr/>
        </p:nvSpPr>
        <p:spPr>
          <a:xfrm>
            <a:off x="742950" y="1600200"/>
            <a:ext cx="17716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공공데이터 상태 · 호출 로그</a:t>
            </a:r>
          </a:p>
        </p:txBody>
      </p:sp>
      <p:pic>
        <p:nvPicPr>
          <p:cNvPr id="38" name="그림 37"/>
          <p:cNvPicPr>
            <a:picLocks noChangeAspect="1"/>
          </p:cNvPicPr>
          <p:nvPr/>
        </p:nvPicPr>
        <p:blipFill>
          <a:blip r:embed="rId3"/>
          <a:stretch/>
        </p:blipFill>
        <p:spPr>
          <a:xfrm>
            <a:off x="609600" y="1616228"/>
            <a:ext cx="6667500" cy="4197045"/>
          </a:xfrm>
          <a:prstGeom prst="roundRect">
            <a:avLst>
              <a:gd name="adj" fmla="val 2542"/>
            </a:avLst>
          </a:prstGeom>
        </p:spPr>
      </p:pic>
      <p:sp>
        <p:nvSpPr>
          <p:cNvPr id="12" name="사각형: 둥근 모서리 11">
            <a:extLst>
              <a:ext uri="{FF2B5EF4-FFF2-40B4-BE49-F238E27FC236}">
                <a16:creationId xmlns:a16="http://schemas.microsoft.com/office/drawing/2014/main" id="{E2B3D4FC-684A-49A2-9A60-E6119E965ECA}"/>
              </a:ext>
            </a:extLst>
          </p:cNvPr>
          <p:cNvSpPr>
            <a:spLocks noGrp="1"/>
          </p:cNvSpPr>
          <p:nvPr/>
        </p:nvSpPr>
        <p:spPr>
          <a:xfrm>
            <a:off x="7829550" y="1466850"/>
            <a:ext cx="2381250" cy="285750"/>
          </a:xfrm>
          <a:prstGeom prst="roundRect">
            <a:avLst>
              <a:gd name="adj" fmla="val 40000"/>
            </a:avLst>
          </a:prstGeom>
          <a:solidFill>
            <a:srgbClr val="007A53"/>
          </a:solidFill>
          <a:ln w="0">
            <a:solidFill>
              <a:srgbClr val="007A53"/>
            </a:solidFill>
            <a:prstDash val="solid"/>
          </a:ln>
        </p:spPr>
      </p:sp>
      <p:sp>
        <p:nvSpPr>
          <p:cNvPr id="13" name="직사각형 12">
            <a:extLst>
              <a:ext uri="{FF2B5EF4-FFF2-40B4-BE49-F238E27FC236}">
                <a16:creationId xmlns:a16="http://schemas.microsoft.com/office/drawing/2014/main" id="{06B3EABB-9DD6-4278-823B-6AEBDD56967B}"/>
              </a:ext>
            </a:extLst>
          </p:cNvPr>
          <p:cNvSpPr>
            <a:spLocks noGrp="1"/>
          </p:cNvSpPr>
          <p:nvPr/>
        </p:nvSpPr>
        <p:spPr>
          <a:xfrm>
            <a:off x="7829550" y="1466850"/>
            <a:ext cx="23812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E2E SCENARIO VERIFIED</a:t>
            </a:r>
          </a:p>
        </p:txBody>
      </p:sp>
      <p:sp>
        <p:nvSpPr>
          <p:cNvPr id="14" name="직사각형 13">
            <a:extLst>
              <a:ext uri="{FF2B5EF4-FFF2-40B4-BE49-F238E27FC236}">
                <a16:creationId xmlns:a16="http://schemas.microsoft.com/office/drawing/2014/main" id="{71B8CB82-77D8-44C8-9B70-5B2ADD06D5B4}"/>
              </a:ext>
            </a:extLst>
          </p:cNvPr>
          <p:cNvSpPr>
            <a:spLocks noGrp="1"/>
          </p:cNvSpPr>
          <p:nvPr/>
        </p:nvSpPr>
        <p:spPr>
          <a:xfrm>
            <a:off x="7772400" y="2114550"/>
            <a:ext cx="419100" cy="3238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01</a:t>
            </a:r>
          </a:p>
        </p:txBody>
      </p:sp>
      <p:sp>
        <p:nvSpPr>
          <p:cNvPr id="15" name="직사각형 14">
            <a:extLst>
              <a:ext uri="{FF2B5EF4-FFF2-40B4-BE49-F238E27FC236}">
                <a16:creationId xmlns:a16="http://schemas.microsoft.com/office/drawing/2014/main" id="{75F5171D-1484-4B53-BEB4-9DE29505AB53}"/>
              </a:ext>
            </a:extLst>
          </p:cNvPr>
          <p:cNvSpPr>
            <a:spLocks noGrp="1"/>
          </p:cNvSpPr>
          <p:nvPr/>
        </p:nvSpPr>
        <p:spPr>
          <a:xfrm>
            <a:off x="8267700" y="2095500"/>
            <a:ext cx="2990850" cy="361950"/>
          </a:xfrm>
          <a:prstGeom prst="rect">
            <a:avLst/>
          </a:prstGeom>
          <a:noFill/>
          <a:ln w="0">
            <a:noFill/>
            <a:prstDash val="solid"/>
          </a:ln>
        </p:spPr>
        <p:txBody>
          <a:bodyPr lIns="0" tIns="0" rIns="0" bIns="0" anchor="ctr"/>
          <a:lstStyle/>
          <a:p>
            <a:pPr algn="l">
              <a:defRPr sz="1650" b="1">
                <a:solidFill>
                  <a:srgbClr val="051C2C"/>
                </a:solidFill>
                <a:latin typeface="Noto Sans KR"/>
                <a:ea typeface="Noto Sans KR"/>
                <a:cs typeface="Noto Sans KR"/>
              </a:defRPr>
            </a:pPr>
            <a:r>
              <a:rPr sz="1650" b="1">
                <a:solidFill>
                  <a:srgbClr val="051C2C"/>
                </a:solidFill>
                <a:latin typeface="Noto Sans KR"/>
                <a:ea typeface="Noto Sans KR"/>
                <a:cs typeface="Noto Sans KR"/>
              </a:rPr>
              <a:t>5단계 완주</a:t>
            </a:r>
          </a:p>
        </p:txBody>
      </p:sp>
      <p:sp>
        <p:nvSpPr>
          <p:cNvPr id="16" name="직사각형 15">
            <a:extLst>
              <a:ext uri="{FF2B5EF4-FFF2-40B4-BE49-F238E27FC236}">
                <a16:creationId xmlns:a16="http://schemas.microsoft.com/office/drawing/2014/main" id="{50763DB8-F4F7-4ED8-8188-40D7386E8A5B}"/>
              </a:ext>
            </a:extLst>
          </p:cNvPr>
          <p:cNvSpPr>
            <a:spLocks noGrp="1"/>
          </p:cNvSpPr>
          <p:nvPr/>
        </p:nvSpPr>
        <p:spPr>
          <a:xfrm>
            <a:off x="8267700" y="2514600"/>
            <a:ext cx="2990850" cy="514350"/>
          </a:xfrm>
          <a:prstGeom prst="rect">
            <a:avLst/>
          </a:prstGeom>
          <a:noFill/>
          <a:ln w="0">
            <a:noFill/>
            <a:prstDash val="solid"/>
          </a:ln>
        </p:spPr>
        <p:txBody>
          <a:bodyPr lIns="0" tIns="0" rIns="0" bIns="0" anchor="ctr"/>
          <a:lstStyle/>
          <a:p>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기업 입력 → 후보국 → 국가 상세 → AI 판단 → PDF</a:t>
            </a:r>
          </a:p>
        </p:txBody>
      </p:sp>
      <p:sp>
        <p:nvSpPr>
          <p:cNvPr id="17" name="직사각형 16">
            <a:extLst>
              <a:ext uri="{FF2B5EF4-FFF2-40B4-BE49-F238E27FC236}">
                <a16:creationId xmlns:a16="http://schemas.microsoft.com/office/drawing/2014/main" id="{4AD2841F-D9B0-4771-9F03-2021D7B8D45C}"/>
              </a:ext>
            </a:extLst>
          </p:cNvPr>
          <p:cNvSpPr>
            <a:spLocks noGrp="1"/>
          </p:cNvSpPr>
          <p:nvPr/>
        </p:nvSpPr>
        <p:spPr>
          <a:xfrm>
            <a:off x="7772400" y="3067050"/>
            <a:ext cx="3486150" cy="9525"/>
          </a:xfrm>
          <a:prstGeom prst="rect">
            <a:avLst/>
          </a:prstGeom>
          <a:solidFill>
            <a:srgbClr val="D7DEE2"/>
          </a:solidFill>
          <a:ln w="0">
            <a:solidFill>
              <a:srgbClr val="D7DEE2"/>
            </a:solidFill>
            <a:prstDash val="solid"/>
          </a:ln>
        </p:spPr>
      </p:sp>
      <p:sp>
        <p:nvSpPr>
          <p:cNvPr id="18" name="직사각형 17">
            <a:extLst>
              <a:ext uri="{FF2B5EF4-FFF2-40B4-BE49-F238E27FC236}">
                <a16:creationId xmlns:a16="http://schemas.microsoft.com/office/drawing/2014/main" id="{1664AAC6-62BA-49C6-B3C9-1ED30C68D2BF}"/>
              </a:ext>
            </a:extLst>
          </p:cNvPr>
          <p:cNvSpPr>
            <a:spLocks noGrp="1"/>
          </p:cNvSpPr>
          <p:nvPr/>
        </p:nvSpPr>
        <p:spPr>
          <a:xfrm>
            <a:off x="7772400" y="3219450"/>
            <a:ext cx="419100" cy="3238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02</a:t>
            </a:r>
          </a:p>
        </p:txBody>
      </p:sp>
      <p:sp>
        <p:nvSpPr>
          <p:cNvPr id="19" name="직사각형 18">
            <a:extLst>
              <a:ext uri="{FF2B5EF4-FFF2-40B4-BE49-F238E27FC236}">
                <a16:creationId xmlns:a16="http://schemas.microsoft.com/office/drawing/2014/main" id="{AA7F88D8-0D05-4323-877D-D358F807F0AF}"/>
              </a:ext>
            </a:extLst>
          </p:cNvPr>
          <p:cNvSpPr>
            <a:spLocks noGrp="1"/>
          </p:cNvSpPr>
          <p:nvPr/>
        </p:nvSpPr>
        <p:spPr>
          <a:xfrm>
            <a:off x="8267700" y="3200400"/>
            <a:ext cx="2990850" cy="361950"/>
          </a:xfrm>
          <a:prstGeom prst="rect">
            <a:avLst/>
          </a:prstGeom>
          <a:noFill/>
          <a:ln w="0">
            <a:noFill/>
            <a:prstDash val="solid"/>
          </a:ln>
        </p:spPr>
        <p:txBody>
          <a:bodyPr lIns="0" tIns="0" rIns="0" bIns="0" anchor="ctr"/>
          <a:lstStyle/>
          <a:p>
            <a:pPr algn="l">
              <a:defRPr sz="1650" b="1">
                <a:solidFill>
                  <a:srgbClr val="051C2C"/>
                </a:solidFill>
                <a:latin typeface="Noto Sans KR"/>
                <a:ea typeface="Noto Sans KR"/>
                <a:cs typeface="Noto Sans KR"/>
              </a:defRPr>
            </a:pPr>
            <a:r>
              <a:rPr sz="1650" b="1">
                <a:solidFill>
                  <a:srgbClr val="051C2C"/>
                </a:solidFill>
                <a:latin typeface="Noto Sans KR"/>
                <a:ea typeface="Noto Sans KR"/>
                <a:cs typeface="Noto Sans KR"/>
              </a:rPr>
              <a:t>10종 API 관측</a:t>
            </a:r>
          </a:p>
        </p:txBody>
      </p:sp>
      <p:sp>
        <p:nvSpPr>
          <p:cNvPr id="20" name="직사각형 19">
            <a:extLst>
              <a:ext uri="{FF2B5EF4-FFF2-40B4-BE49-F238E27FC236}">
                <a16:creationId xmlns:a16="http://schemas.microsoft.com/office/drawing/2014/main" id="{3EE6C22D-B08E-4291-8A60-D531C20AA938}"/>
              </a:ext>
            </a:extLst>
          </p:cNvPr>
          <p:cNvSpPr>
            <a:spLocks noGrp="1"/>
          </p:cNvSpPr>
          <p:nvPr/>
        </p:nvSpPr>
        <p:spPr>
          <a:xfrm>
            <a:off x="8267700" y="3619500"/>
            <a:ext cx="2990850" cy="514350"/>
          </a:xfrm>
          <a:prstGeom prst="rect">
            <a:avLst/>
          </a:prstGeom>
          <a:noFill/>
          <a:ln w="0">
            <a:noFill/>
            <a:prstDash val="solid"/>
          </a:ln>
        </p:spPr>
        <p:txBody>
          <a:bodyPr lIns="0" tIns="0" rIns="0" bIns="0" anchor="ctr"/>
          <a:lstStyle/>
          <a:p>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성공 · 부분 · 대기 상태와 호출 로그 확인</a:t>
            </a:r>
          </a:p>
        </p:txBody>
      </p:sp>
      <p:sp>
        <p:nvSpPr>
          <p:cNvPr id="21" name="직사각형 20">
            <a:extLst>
              <a:ext uri="{FF2B5EF4-FFF2-40B4-BE49-F238E27FC236}">
                <a16:creationId xmlns:a16="http://schemas.microsoft.com/office/drawing/2014/main" id="{05BF7E07-F528-4226-B885-5F1EADD22160}"/>
              </a:ext>
            </a:extLst>
          </p:cNvPr>
          <p:cNvSpPr>
            <a:spLocks noGrp="1"/>
          </p:cNvSpPr>
          <p:nvPr/>
        </p:nvSpPr>
        <p:spPr>
          <a:xfrm>
            <a:off x="7772400" y="4171950"/>
            <a:ext cx="3486150" cy="9525"/>
          </a:xfrm>
          <a:prstGeom prst="rect">
            <a:avLst/>
          </a:prstGeom>
          <a:solidFill>
            <a:srgbClr val="D7DEE2"/>
          </a:solidFill>
          <a:ln w="0">
            <a:solidFill>
              <a:srgbClr val="D7DEE2"/>
            </a:solidFill>
            <a:prstDash val="solid"/>
          </a:ln>
        </p:spPr>
      </p:sp>
      <p:sp>
        <p:nvSpPr>
          <p:cNvPr id="22" name="직사각형 21">
            <a:extLst>
              <a:ext uri="{FF2B5EF4-FFF2-40B4-BE49-F238E27FC236}">
                <a16:creationId xmlns:a16="http://schemas.microsoft.com/office/drawing/2014/main" id="{2AA52160-F0FF-4493-946D-9B37720D5522}"/>
              </a:ext>
            </a:extLst>
          </p:cNvPr>
          <p:cNvSpPr>
            <a:spLocks noGrp="1"/>
          </p:cNvSpPr>
          <p:nvPr/>
        </p:nvSpPr>
        <p:spPr>
          <a:xfrm>
            <a:off x="7772400" y="4324350"/>
            <a:ext cx="419100" cy="3238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03</a:t>
            </a:r>
          </a:p>
        </p:txBody>
      </p:sp>
      <p:sp>
        <p:nvSpPr>
          <p:cNvPr id="23" name="직사각형 22">
            <a:extLst>
              <a:ext uri="{FF2B5EF4-FFF2-40B4-BE49-F238E27FC236}">
                <a16:creationId xmlns:a16="http://schemas.microsoft.com/office/drawing/2014/main" id="{6330D5BD-459B-45A8-84FD-AE94337DC77E}"/>
              </a:ext>
            </a:extLst>
          </p:cNvPr>
          <p:cNvSpPr>
            <a:spLocks noGrp="1"/>
          </p:cNvSpPr>
          <p:nvPr/>
        </p:nvSpPr>
        <p:spPr>
          <a:xfrm>
            <a:off x="8267700" y="4305300"/>
            <a:ext cx="2990850" cy="361950"/>
          </a:xfrm>
          <a:prstGeom prst="rect">
            <a:avLst/>
          </a:prstGeom>
          <a:noFill/>
          <a:ln w="0">
            <a:noFill/>
            <a:prstDash val="solid"/>
          </a:ln>
        </p:spPr>
        <p:txBody>
          <a:bodyPr lIns="0" tIns="0" rIns="0" bIns="0" anchor="ctr"/>
          <a:lstStyle/>
          <a:p>
            <a:pPr algn="l">
              <a:defRPr sz="1650" b="1">
                <a:solidFill>
                  <a:srgbClr val="051C2C"/>
                </a:solidFill>
                <a:latin typeface="Noto Sans KR"/>
                <a:ea typeface="Noto Sans KR"/>
                <a:cs typeface="Noto Sans KR"/>
              </a:defRPr>
            </a:pPr>
            <a:r>
              <a:rPr sz="1650" b="1">
                <a:solidFill>
                  <a:srgbClr val="051C2C"/>
                </a:solidFill>
                <a:latin typeface="Noto Sans KR"/>
                <a:ea typeface="Noto Sans KR"/>
                <a:cs typeface="Noto Sans KR"/>
              </a:rPr>
              <a:t>산출물 생성</a:t>
            </a:r>
          </a:p>
        </p:txBody>
      </p:sp>
      <p:sp>
        <p:nvSpPr>
          <p:cNvPr id="24" name="직사각형 23">
            <a:extLst>
              <a:ext uri="{FF2B5EF4-FFF2-40B4-BE49-F238E27FC236}">
                <a16:creationId xmlns:a16="http://schemas.microsoft.com/office/drawing/2014/main" id="{44FBEBFE-1B7D-449A-95E4-778D8CAE7BB9}"/>
              </a:ext>
            </a:extLst>
          </p:cNvPr>
          <p:cNvSpPr>
            <a:spLocks noGrp="1"/>
          </p:cNvSpPr>
          <p:nvPr/>
        </p:nvSpPr>
        <p:spPr>
          <a:xfrm>
            <a:off x="8267700" y="4724400"/>
            <a:ext cx="2990850" cy="514350"/>
          </a:xfrm>
          <a:prstGeom prst="rect">
            <a:avLst/>
          </a:prstGeom>
          <a:noFill/>
          <a:ln w="0">
            <a:noFill/>
            <a:prstDash val="solid"/>
          </a:ln>
        </p:spPr>
        <p:txBody>
          <a:bodyPr lIns="0" tIns="0" rIns="0" bIns="0" anchor="ctr"/>
          <a:lstStyle/>
          <a:p>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조건부 판단과 실행 리포트 PDF 생성</a:t>
            </a:r>
          </a:p>
        </p:txBody>
      </p:sp>
      <p:sp>
        <p:nvSpPr>
          <p:cNvPr id="25" name="직사각형 24">
            <a:extLst>
              <a:ext uri="{FF2B5EF4-FFF2-40B4-BE49-F238E27FC236}">
                <a16:creationId xmlns:a16="http://schemas.microsoft.com/office/drawing/2014/main" id="{893D22F5-F296-4975-A8F8-CADCFC860BD6}"/>
              </a:ext>
            </a:extLst>
          </p:cNvPr>
          <p:cNvSpPr>
            <a:spLocks noGrp="1"/>
          </p:cNvSpPr>
          <p:nvPr/>
        </p:nvSpPr>
        <p:spPr>
          <a:xfrm>
            <a:off x="7772400" y="5276850"/>
            <a:ext cx="3486150" cy="9525"/>
          </a:xfrm>
          <a:prstGeom prst="rect">
            <a:avLst/>
          </a:prstGeom>
          <a:solidFill>
            <a:srgbClr val="D7DEE2"/>
          </a:solidFill>
          <a:ln w="0">
            <a:solidFill>
              <a:srgbClr val="D7DEE2"/>
            </a:solidFill>
            <a:prstDash val="solid"/>
          </a:ln>
        </p:spPr>
      </p:sp>
      <p:sp>
        <p:nvSpPr>
          <p:cNvPr id="26" name="사각형: 둥근 모서리 25">
            <a:extLst>
              <a:ext uri="{FF2B5EF4-FFF2-40B4-BE49-F238E27FC236}">
                <a16:creationId xmlns:a16="http://schemas.microsoft.com/office/drawing/2014/main" id="{F8F4E092-7C13-4E91-B932-90229682B135}"/>
              </a:ext>
            </a:extLst>
          </p:cNvPr>
          <p:cNvSpPr>
            <a:spLocks noGrp="1"/>
          </p:cNvSpPr>
          <p:nvPr/>
        </p:nvSpPr>
        <p:spPr>
          <a:xfrm>
            <a:off x="7772400" y="5391150"/>
            <a:ext cx="3486150" cy="571500"/>
          </a:xfrm>
          <a:prstGeom prst="roundRect">
            <a:avLst>
              <a:gd name="adj" fmla="val 20000"/>
            </a:avLst>
          </a:prstGeom>
          <a:solidFill>
            <a:srgbClr val="FFF3E0"/>
          </a:solidFill>
          <a:ln w="0">
            <a:solidFill>
              <a:srgbClr val="FFF3E0"/>
            </a:solidFill>
            <a:prstDash val="solid"/>
          </a:ln>
        </p:spPr>
      </p:sp>
      <p:sp>
        <p:nvSpPr>
          <p:cNvPr id="27" name="직사각형 26">
            <a:extLst>
              <a:ext uri="{FF2B5EF4-FFF2-40B4-BE49-F238E27FC236}">
                <a16:creationId xmlns:a16="http://schemas.microsoft.com/office/drawing/2014/main" id="{25FD0686-FD39-4A6D-BA6C-9283E6B1E40C}"/>
              </a:ext>
            </a:extLst>
          </p:cNvPr>
          <p:cNvSpPr>
            <a:spLocks noGrp="1"/>
          </p:cNvSpPr>
          <p:nvPr/>
        </p:nvSpPr>
        <p:spPr>
          <a:xfrm>
            <a:off x="7943850" y="5486400"/>
            <a:ext cx="3143250" cy="381000"/>
          </a:xfrm>
          <a:prstGeom prst="rect">
            <a:avLst/>
          </a:prstGeom>
          <a:noFill/>
          <a:ln w="0">
            <a:noFill/>
            <a:prstDash val="solid"/>
          </a:ln>
        </p:spPr>
        <p:txBody>
          <a:bodyPr lIns="0" tIns="0" rIns="0" bIns="0" anchor="ctr"/>
          <a:lstStyle/>
          <a:p>
            <a:pPr algn="ctr">
              <a:defRPr sz="1125" b="1">
                <a:solidFill>
                  <a:srgbClr val="D46A00"/>
                </a:solidFill>
                <a:latin typeface="Noto Sans KR"/>
                <a:ea typeface="Noto Sans KR"/>
                <a:cs typeface="Noto Sans KR"/>
              </a:defRPr>
            </a:pPr>
            <a:r>
              <a:rPr sz="1125" b="1">
                <a:solidFill>
                  <a:srgbClr val="D46A00"/>
                </a:solidFill>
                <a:latin typeface="Noto Sans KR"/>
                <a:ea typeface="Noto Sans KR"/>
                <a:cs typeface="Noto Sans KR"/>
              </a:rPr>
              <a:t>다음: 사용자 파일럿으로 시간·누락·유용성 측정</a:t>
            </a:r>
          </a:p>
        </p:txBody>
      </p:sp>
    </p:spTree>
    <p:extLst>
      <p:ext uri="{BB962C8B-B14F-4D97-AF65-F5344CB8AC3E}">
        <p14:creationId xmlns:p14="http://schemas.microsoft.com/office/powerpoint/2010/main" val="936924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직사각형 42">
            <a:extLst>
              <a:ext uri="{FF2B5EF4-FFF2-40B4-BE49-F238E27FC236}">
                <a16:creationId xmlns:a16="http://schemas.microsoft.com/office/drawing/2014/main" id="{5908444E-77D4-4EBF-81B0-B0C7CEC5E74E}"/>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BUSINESS MODEL</a:t>
            </a:r>
          </a:p>
        </p:txBody>
      </p:sp>
      <p:sp>
        <p:nvSpPr>
          <p:cNvPr id="2" name="slide-13-title">
            <a:extLst>
              <a:ext uri="{FF2B5EF4-FFF2-40B4-BE49-F238E27FC236}">
                <a16:creationId xmlns:a16="http://schemas.microsoft.com/office/drawing/2014/main" id="{38D809FE-E8BD-4083-BA35-2475AA9FF88B}"/>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B2B SaaS로 시작해 기관 라이선스와 API 반복매출로 확장합니다</a:t>
            </a:r>
          </a:p>
        </p:txBody>
      </p:sp>
      <p:sp>
        <p:nvSpPr>
          <p:cNvPr id="3" name="직사각형 2">
            <a:extLst>
              <a:ext uri="{FF2B5EF4-FFF2-40B4-BE49-F238E27FC236}">
                <a16:creationId xmlns:a16="http://schemas.microsoft.com/office/drawing/2014/main" id="{D33BBFF0-F526-412A-AF1B-20A1243B8822}"/>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4A2082C7-A154-4FB0-861C-325A216707A8}"/>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CC001F35-4560-477E-826C-5994529D590D}"/>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48EE12DB-535B-4C66-A835-CC4D2D2D67CF}"/>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제안 사업·운영 모델</a:t>
            </a:r>
          </a:p>
        </p:txBody>
      </p:sp>
      <p:sp>
        <p:nvSpPr>
          <p:cNvPr id="7" name="직사각형 6">
            <a:extLst>
              <a:ext uri="{FF2B5EF4-FFF2-40B4-BE49-F238E27FC236}">
                <a16:creationId xmlns:a16="http://schemas.microsoft.com/office/drawing/2014/main" id="{C8ECF97F-04FF-4A3E-B8CF-BC63C06A2680}"/>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13</a:t>
            </a:r>
          </a:p>
        </p:txBody>
      </p:sp>
      <p:sp>
        <p:nvSpPr>
          <p:cNvPr id="8" name="직사각형 7">
            <a:extLst>
              <a:ext uri="{FF2B5EF4-FFF2-40B4-BE49-F238E27FC236}">
                <a16:creationId xmlns:a16="http://schemas.microsoft.com/office/drawing/2014/main" id="{1D60BF9A-7BD0-4A59-8F8F-6E4D7ACB2D65}"/>
              </a:ext>
            </a:extLst>
          </p:cNvPr>
          <p:cNvSpPr>
            <a:spLocks noGrp="1"/>
          </p:cNvSpPr>
          <p:nvPr/>
        </p:nvSpPr>
        <p:spPr>
          <a:xfrm>
            <a:off x="685800" y="1447800"/>
            <a:ext cx="419100" cy="2667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01</a:t>
            </a:r>
          </a:p>
        </p:txBody>
      </p:sp>
      <p:sp>
        <p:nvSpPr>
          <p:cNvPr id="9" name="사각형: 둥근 모서리 8">
            <a:extLst>
              <a:ext uri="{FF2B5EF4-FFF2-40B4-BE49-F238E27FC236}">
                <a16:creationId xmlns:a16="http://schemas.microsoft.com/office/drawing/2014/main" id="{44FBFFB2-DD4A-4097-B8A7-46CEC51FAC06}"/>
              </a:ext>
            </a:extLst>
          </p:cNvPr>
          <p:cNvSpPr>
            <a:spLocks noGrp="1"/>
          </p:cNvSpPr>
          <p:nvPr/>
        </p:nvSpPr>
        <p:spPr>
          <a:xfrm>
            <a:off x="1200150" y="1409700"/>
            <a:ext cx="1466850" cy="285750"/>
          </a:xfrm>
          <a:prstGeom prst="roundRect">
            <a:avLst>
              <a:gd name="adj" fmla="val 40000"/>
            </a:avLst>
          </a:prstGeom>
          <a:solidFill>
            <a:srgbClr val="051C2C"/>
          </a:solidFill>
          <a:ln w="0">
            <a:solidFill>
              <a:srgbClr val="051C2C"/>
            </a:solidFill>
            <a:prstDash val="solid"/>
          </a:ln>
        </p:spPr>
      </p:sp>
      <p:sp>
        <p:nvSpPr>
          <p:cNvPr id="10" name="직사각형 9">
            <a:extLst>
              <a:ext uri="{FF2B5EF4-FFF2-40B4-BE49-F238E27FC236}">
                <a16:creationId xmlns:a16="http://schemas.microsoft.com/office/drawing/2014/main" id="{9C79F5BC-4D0F-428B-80EA-2EA80C499EAE}"/>
              </a:ext>
            </a:extLst>
          </p:cNvPr>
          <p:cNvSpPr>
            <a:spLocks noGrp="1"/>
          </p:cNvSpPr>
          <p:nvPr/>
        </p:nvSpPr>
        <p:spPr>
          <a:xfrm>
            <a:off x="1200150" y="1409700"/>
            <a:ext cx="14668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B2B SaaS</a:t>
            </a:r>
          </a:p>
        </p:txBody>
      </p:sp>
      <p:sp>
        <p:nvSpPr>
          <p:cNvPr id="11" name="직사각형 10">
            <a:extLst>
              <a:ext uri="{FF2B5EF4-FFF2-40B4-BE49-F238E27FC236}">
                <a16:creationId xmlns:a16="http://schemas.microsoft.com/office/drawing/2014/main" id="{6C600449-2EFC-41FC-AB91-7988FD7B9077}"/>
              </a:ext>
            </a:extLst>
          </p:cNvPr>
          <p:cNvSpPr>
            <a:spLocks noGrp="1"/>
          </p:cNvSpPr>
          <p:nvPr/>
        </p:nvSpPr>
        <p:spPr>
          <a:xfrm>
            <a:off x="685800" y="1981200"/>
            <a:ext cx="3048000" cy="53340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제조기업</a:t>
            </a:r>
          </a:p>
        </p:txBody>
      </p:sp>
      <p:sp>
        <p:nvSpPr>
          <p:cNvPr id="12" name="직사각형 11">
            <a:extLst>
              <a:ext uri="{FF2B5EF4-FFF2-40B4-BE49-F238E27FC236}">
                <a16:creationId xmlns:a16="http://schemas.microsoft.com/office/drawing/2014/main" id="{A21F55ED-3CAD-44E3-BE5F-9529397478E7}"/>
              </a:ext>
            </a:extLst>
          </p:cNvPr>
          <p:cNvSpPr>
            <a:spLocks noGrp="1"/>
          </p:cNvSpPr>
          <p:nvPr/>
        </p:nvSpPr>
        <p:spPr>
          <a:xfrm>
            <a:off x="685800" y="2609850"/>
            <a:ext cx="3048000" cy="9525"/>
          </a:xfrm>
          <a:prstGeom prst="rect">
            <a:avLst/>
          </a:prstGeom>
          <a:solidFill>
            <a:srgbClr val="D7DEE2"/>
          </a:solidFill>
          <a:ln w="0">
            <a:solidFill>
              <a:srgbClr val="D7DEE2"/>
            </a:solidFill>
            <a:prstDash val="solid"/>
          </a:ln>
        </p:spPr>
      </p:sp>
      <p:sp>
        <p:nvSpPr>
          <p:cNvPr id="13" name="직사각형 12">
            <a:extLst>
              <a:ext uri="{FF2B5EF4-FFF2-40B4-BE49-F238E27FC236}">
                <a16:creationId xmlns:a16="http://schemas.microsoft.com/office/drawing/2014/main" id="{C95F6ABF-DA77-4A3E-9A06-815C1819C965}"/>
              </a:ext>
            </a:extLst>
          </p:cNvPr>
          <p:cNvSpPr>
            <a:spLocks noGrp="1"/>
          </p:cNvSpPr>
          <p:nvPr/>
        </p:nvSpPr>
        <p:spPr>
          <a:xfrm>
            <a:off x="685800" y="2800350"/>
            <a:ext cx="762000" cy="2476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상품</a:t>
            </a:r>
          </a:p>
        </p:txBody>
      </p:sp>
      <p:sp>
        <p:nvSpPr>
          <p:cNvPr id="14" name="직사각형 13">
            <a:extLst>
              <a:ext uri="{FF2B5EF4-FFF2-40B4-BE49-F238E27FC236}">
                <a16:creationId xmlns:a16="http://schemas.microsoft.com/office/drawing/2014/main" id="{BA68D00A-120C-4915-9910-3CEE5261D827}"/>
              </a:ext>
            </a:extLst>
          </p:cNvPr>
          <p:cNvSpPr>
            <a:spLocks noGrp="1"/>
          </p:cNvSpPr>
          <p:nvPr/>
        </p:nvSpPr>
        <p:spPr>
          <a:xfrm>
            <a:off x="685800" y="3105150"/>
            <a:ext cx="3048000" cy="571500"/>
          </a:xfrm>
          <a:prstGeom prst="rect">
            <a:avLst/>
          </a:prstGeom>
          <a:noFill/>
          <a:ln w="0">
            <a:noFill/>
            <a:prstDash val="solid"/>
          </a:ln>
        </p:spPr>
        <p:txBody>
          <a:bodyPr lIns="0" tIns="0" rIns="0" bIns="0" anchor="ctr"/>
          <a:lstStyle/>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프로젝트·좌석형 분석</a:t>
            </a:r>
          </a:p>
        </p:txBody>
      </p:sp>
      <p:sp>
        <p:nvSpPr>
          <p:cNvPr id="15" name="직사각형 14">
            <a:extLst>
              <a:ext uri="{FF2B5EF4-FFF2-40B4-BE49-F238E27FC236}">
                <a16:creationId xmlns:a16="http://schemas.microsoft.com/office/drawing/2014/main" id="{8061927C-C92F-420E-9A20-0A90A7D069A6}"/>
              </a:ext>
            </a:extLst>
          </p:cNvPr>
          <p:cNvSpPr>
            <a:spLocks noGrp="1"/>
          </p:cNvSpPr>
          <p:nvPr/>
        </p:nvSpPr>
        <p:spPr>
          <a:xfrm>
            <a:off x="685800" y="3848100"/>
            <a:ext cx="762000" cy="2476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수익</a:t>
            </a:r>
          </a:p>
        </p:txBody>
      </p:sp>
      <p:sp>
        <p:nvSpPr>
          <p:cNvPr id="16" name="직사각형 15">
            <a:extLst>
              <a:ext uri="{FF2B5EF4-FFF2-40B4-BE49-F238E27FC236}">
                <a16:creationId xmlns:a16="http://schemas.microsoft.com/office/drawing/2014/main" id="{D6F7614D-1DC6-44D2-90E1-5CF90EA748C8}"/>
              </a:ext>
            </a:extLst>
          </p:cNvPr>
          <p:cNvSpPr>
            <a:spLocks noGrp="1"/>
          </p:cNvSpPr>
          <p:nvPr/>
        </p:nvSpPr>
        <p:spPr>
          <a:xfrm>
            <a:off x="685800" y="4152900"/>
            <a:ext cx="3048000" cy="476250"/>
          </a:xfrm>
          <a:prstGeom prst="rect">
            <a:avLst/>
          </a:prstGeom>
          <a:noFill/>
          <a:ln w="0">
            <a:noFill/>
            <a:prstDash val="solid"/>
          </a:ln>
        </p:spPr>
        <p:txBody>
          <a:bodyPr lIns="0" tIns="0" rIns="0" bIns="0" anchor="ctr"/>
          <a:lstStyle/>
          <a:p>
            <a:pPr algn="l">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월·연 구독</a:t>
            </a:r>
          </a:p>
        </p:txBody>
      </p:sp>
      <p:sp>
        <p:nvSpPr>
          <p:cNvPr id="17" name="직사각형 16">
            <a:extLst>
              <a:ext uri="{FF2B5EF4-FFF2-40B4-BE49-F238E27FC236}">
                <a16:creationId xmlns:a16="http://schemas.microsoft.com/office/drawing/2014/main" id="{17C4AB1B-3832-432F-8841-40810E4DB6B9}"/>
              </a:ext>
            </a:extLst>
          </p:cNvPr>
          <p:cNvSpPr>
            <a:spLocks noGrp="1"/>
          </p:cNvSpPr>
          <p:nvPr/>
        </p:nvSpPr>
        <p:spPr>
          <a:xfrm>
            <a:off x="3733800" y="2857500"/>
            <a:ext cx="552450" cy="647700"/>
          </a:xfrm>
          <a:prstGeom prst="rect">
            <a:avLst/>
          </a:prstGeom>
          <a:noFill/>
          <a:ln w="0">
            <a:noFill/>
            <a:prstDash val="solid"/>
          </a:ln>
        </p:spPr>
        <p:txBody>
          <a:bodyPr lIns="0" tIns="0" rIns="0" bIns="0" anchor="ctr"/>
          <a:lstStyle/>
          <a:p>
            <a:pPr algn="ctr">
              <a:defRPr sz="2550" b="1">
                <a:solidFill>
                  <a:srgbClr val="00A58A"/>
                </a:solidFill>
                <a:latin typeface="Noto Sans KR"/>
                <a:ea typeface="Noto Sans KR"/>
                <a:cs typeface="Noto Sans KR"/>
              </a:defRPr>
            </a:pPr>
            <a:r>
              <a:rPr sz="2550" b="1">
                <a:solidFill>
                  <a:srgbClr val="00A58A"/>
                </a:solidFill>
                <a:latin typeface="Noto Sans KR"/>
                <a:ea typeface="Noto Sans KR"/>
                <a:cs typeface="Noto Sans KR"/>
              </a:rPr>
              <a:t>→</a:t>
            </a:r>
          </a:p>
        </p:txBody>
      </p:sp>
      <p:sp>
        <p:nvSpPr>
          <p:cNvPr id="18" name="직사각형 17">
            <a:extLst>
              <a:ext uri="{FF2B5EF4-FFF2-40B4-BE49-F238E27FC236}">
                <a16:creationId xmlns:a16="http://schemas.microsoft.com/office/drawing/2014/main" id="{D6F5B903-C7C4-4036-945E-F8AF4F696EFF}"/>
              </a:ext>
            </a:extLst>
          </p:cNvPr>
          <p:cNvSpPr>
            <a:spLocks noGrp="1"/>
          </p:cNvSpPr>
          <p:nvPr/>
        </p:nvSpPr>
        <p:spPr>
          <a:xfrm>
            <a:off x="4286250" y="1447800"/>
            <a:ext cx="419100" cy="2667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02</a:t>
            </a:r>
          </a:p>
        </p:txBody>
      </p:sp>
      <p:sp>
        <p:nvSpPr>
          <p:cNvPr id="19" name="사각형: 둥근 모서리 18">
            <a:extLst>
              <a:ext uri="{FF2B5EF4-FFF2-40B4-BE49-F238E27FC236}">
                <a16:creationId xmlns:a16="http://schemas.microsoft.com/office/drawing/2014/main" id="{9C87B9F3-DDEE-4011-B113-9F7591A4A4FF}"/>
              </a:ext>
            </a:extLst>
          </p:cNvPr>
          <p:cNvSpPr>
            <a:spLocks noGrp="1"/>
          </p:cNvSpPr>
          <p:nvPr/>
        </p:nvSpPr>
        <p:spPr>
          <a:xfrm>
            <a:off x="4800600" y="1409700"/>
            <a:ext cx="1466850" cy="285750"/>
          </a:xfrm>
          <a:prstGeom prst="roundRect">
            <a:avLst>
              <a:gd name="adj" fmla="val 40000"/>
            </a:avLst>
          </a:prstGeom>
          <a:solidFill>
            <a:srgbClr val="051C2C"/>
          </a:solidFill>
          <a:ln w="0">
            <a:solidFill>
              <a:srgbClr val="051C2C"/>
            </a:solidFill>
            <a:prstDash val="solid"/>
          </a:ln>
        </p:spPr>
      </p:sp>
      <p:sp>
        <p:nvSpPr>
          <p:cNvPr id="20" name="직사각형 19">
            <a:extLst>
              <a:ext uri="{FF2B5EF4-FFF2-40B4-BE49-F238E27FC236}">
                <a16:creationId xmlns:a16="http://schemas.microsoft.com/office/drawing/2014/main" id="{341305F3-A4B6-4532-A811-48879C0533FE}"/>
              </a:ext>
            </a:extLst>
          </p:cNvPr>
          <p:cNvSpPr>
            <a:spLocks noGrp="1"/>
          </p:cNvSpPr>
          <p:nvPr/>
        </p:nvSpPr>
        <p:spPr>
          <a:xfrm>
            <a:off x="4800600" y="1409700"/>
            <a:ext cx="14668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B2G LICENSE</a:t>
            </a:r>
          </a:p>
        </p:txBody>
      </p:sp>
      <p:sp>
        <p:nvSpPr>
          <p:cNvPr id="21" name="직사각형 20">
            <a:extLst>
              <a:ext uri="{FF2B5EF4-FFF2-40B4-BE49-F238E27FC236}">
                <a16:creationId xmlns:a16="http://schemas.microsoft.com/office/drawing/2014/main" id="{8137724C-692E-4DB2-A544-34A3F3B7A7E1}"/>
              </a:ext>
            </a:extLst>
          </p:cNvPr>
          <p:cNvSpPr>
            <a:spLocks noGrp="1"/>
          </p:cNvSpPr>
          <p:nvPr/>
        </p:nvSpPr>
        <p:spPr>
          <a:xfrm>
            <a:off x="4286250" y="1981200"/>
            <a:ext cx="3048000" cy="53340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산단·지자체·TP</a:t>
            </a:r>
          </a:p>
        </p:txBody>
      </p:sp>
      <p:sp>
        <p:nvSpPr>
          <p:cNvPr id="22" name="직사각형 21">
            <a:extLst>
              <a:ext uri="{FF2B5EF4-FFF2-40B4-BE49-F238E27FC236}">
                <a16:creationId xmlns:a16="http://schemas.microsoft.com/office/drawing/2014/main" id="{114BB953-B610-48FB-8476-5AB31C6CD4D2}"/>
              </a:ext>
            </a:extLst>
          </p:cNvPr>
          <p:cNvSpPr>
            <a:spLocks noGrp="1"/>
          </p:cNvSpPr>
          <p:nvPr/>
        </p:nvSpPr>
        <p:spPr>
          <a:xfrm>
            <a:off x="4286250" y="2609850"/>
            <a:ext cx="3048000" cy="9525"/>
          </a:xfrm>
          <a:prstGeom prst="rect">
            <a:avLst/>
          </a:prstGeom>
          <a:solidFill>
            <a:srgbClr val="D7DEE2"/>
          </a:solidFill>
          <a:ln w="0">
            <a:solidFill>
              <a:srgbClr val="D7DEE2"/>
            </a:solidFill>
            <a:prstDash val="solid"/>
          </a:ln>
        </p:spPr>
      </p:sp>
      <p:sp>
        <p:nvSpPr>
          <p:cNvPr id="23" name="직사각형 22">
            <a:extLst>
              <a:ext uri="{FF2B5EF4-FFF2-40B4-BE49-F238E27FC236}">
                <a16:creationId xmlns:a16="http://schemas.microsoft.com/office/drawing/2014/main" id="{4E4D42E6-CADC-4A05-B7A7-E8070B7F10BC}"/>
              </a:ext>
            </a:extLst>
          </p:cNvPr>
          <p:cNvSpPr>
            <a:spLocks noGrp="1"/>
          </p:cNvSpPr>
          <p:nvPr/>
        </p:nvSpPr>
        <p:spPr>
          <a:xfrm>
            <a:off x="4286250" y="2800350"/>
            <a:ext cx="762000" cy="2476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상품</a:t>
            </a:r>
          </a:p>
        </p:txBody>
      </p:sp>
      <p:sp>
        <p:nvSpPr>
          <p:cNvPr id="24" name="직사각형 23">
            <a:extLst>
              <a:ext uri="{FF2B5EF4-FFF2-40B4-BE49-F238E27FC236}">
                <a16:creationId xmlns:a16="http://schemas.microsoft.com/office/drawing/2014/main" id="{3B28556D-0A68-4E8B-96E5-EAF4B32AFFF6}"/>
              </a:ext>
            </a:extLst>
          </p:cNvPr>
          <p:cNvSpPr>
            <a:spLocks noGrp="1"/>
          </p:cNvSpPr>
          <p:nvPr/>
        </p:nvSpPr>
        <p:spPr>
          <a:xfrm>
            <a:off x="4286250" y="3105150"/>
            <a:ext cx="3048000" cy="571500"/>
          </a:xfrm>
          <a:prstGeom prst="rect">
            <a:avLst/>
          </a:prstGeom>
          <a:noFill/>
          <a:ln w="0">
            <a:noFill/>
            <a:prstDash val="solid"/>
          </a:ln>
        </p:spPr>
        <p:txBody>
          <a:bodyPr lIns="0" tIns="0" rIns="0" bIns="0" anchor="ctr"/>
          <a:lstStyle/>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기관 대시보드·화이트라벨</a:t>
            </a:r>
          </a:p>
        </p:txBody>
      </p:sp>
      <p:sp>
        <p:nvSpPr>
          <p:cNvPr id="25" name="직사각형 24">
            <a:extLst>
              <a:ext uri="{FF2B5EF4-FFF2-40B4-BE49-F238E27FC236}">
                <a16:creationId xmlns:a16="http://schemas.microsoft.com/office/drawing/2014/main" id="{58B70006-A869-4711-A313-77A635715026}"/>
              </a:ext>
            </a:extLst>
          </p:cNvPr>
          <p:cNvSpPr>
            <a:spLocks noGrp="1"/>
          </p:cNvSpPr>
          <p:nvPr/>
        </p:nvSpPr>
        <p:spPr>
          <a:xfrm>
            <a:off x="4286250" y="3848100"/>
            <a:ext cx="762000" cy="2476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수익</a:t>
            </a:r>
          </a:p>
        </p:txBody>
      </p:sp>
      <p:sp>
        <p:nvSpPr>
          <p:cNvPr id="26" name="직사각형 25">
            <a:extLst>
              <a:ext uri="{FF2B5EF4-FFF2-40B4-BE49-F238E27FC236}">
                <a16:creationId xmlns:a16="http://schemas.microsoft.com/office/drawing/2014/main" id="{9177EF63-BC3B-44B4-8F9D-5AEB5CDCDB58}"/>
              </a:ext>
            </a:extLst>
          </p:cNvPr>
          <p:cNvSpPr>
            <a:spLocks noGrp="1"/>
          </p:cNvSpPr>
          <p:nvPr/>
        </p:nvSpPr>
        <p:spPr>
          <a:xfrm>
            <a:off x="4286250" y="4152900"/>
            <a:ext cx="3048000" cy="476250"/>
          </a:xfrm>
          <a:prstGeom prst="rect">
            <a:avLst/>
          </a:prstGeom>
          <a:noFill/>
          <a:ln w="0">
            <a:noFill/>
            <a:prstDash val="solid"/>
          </a:ln>
        </p:spPr>
        <p:txBody>
          <a:bodyPr lIns="0" tIns="0" rIns="0" bIns="0" anchor="ctr"/>
          <a:lstStyle/>
          <a:p>
            <a:pPr algn="l">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연간 라이선스</a:t>
            </a:r>
          </a:p>
        </p:txBody>
      </p:sp>
      <p:sp>
        <p:nvSpPr>
          <p:cNvPr id="27" name="직사각형 26">
            <a:extLst>
              <a:ext uri="{FF2B5EF4-FFF2-40B4-BE49-F238E27FC236}">
                <a16:creationId xmlns:a16="http://schemas.microsoft.com/office/drawing/2014/main" id="{A6561C78-7E3B-4498-AB33-4F9FD6ED15F1}"/>
              </a:ext>
            </a:extLst>
          </p:cNvPr>
          <p:cNvSpPr>
            <a:spLocks noGrp="1"/>
          </p:cNvSpPr>
          <p:nvPr/>
        </p:nvSpPr>
        <p:spPr>
          <a:xfrm>
            <a:off x="7334250" y="2857500"/>
            <a:ext cx="552450" cy="647700"/>
          </a:xfrm>
          <a:prstGeom prst="rect">
            <a:avLst/>
          </a:prstGeom>
          <a:noFill/>
          <a:ln w="0">
            <a:noFill/>
            <a:prstDash val="solid"/>
          </a:ln>
        </p:spPr>
        <p:txBody>
          <a:bodyPr lIns="0" tIns="0" rIns="0" bIns="0" anchor="ctr"/>
          <a:lstStyle/>
          <a:p>
            <a:pPr algn="ctr">
              <a:defRPr sz="2550" b="1">
                <a:solidFill>
                  <a:srgbClr val="00A58A"/>
                </a:solidFill>
                <a:latin typeface="Noto Sans KR"/>
                <a:ea typeface="Noto Sans KR"/>
                <a:cs typeface="Noto Sans KR"/>
              </a:defRPr>
            </a:pPr>
            <a:r>
              <a:rPr sz="2550" b="1">
                <a:solidFill>
                  <a:srgbClr val="00A58A"/>
                </a:solidFill>
                <a:latin typeface="Noto Sans KR"/>
                <a:ea typeface="Noto Sans KR"/>
                <a:cs typeface="Noto Sans KR"/>
              </a:rPr>
              <a:t>→</a:t>
            </a:r>
          </a:p>
        </p:txBody>
      </p:sp>
      <p:sp>
        <p:nvSpPr>
          <p:cNvPr id="28" name="직사각형 27">
            <a:extLst>
              <a:ext uri="{FF2B5EF4-FFF2-40B4-BE49-F238E27FC236}">
                <a16:creationId xmlns:a16="http://schemas.microsoft.com/office/drawing/2014/main" id="{D45168E2-623F-4C87-B6EA-F4BC9E5F4B70}"/>
              </a:ext>
            </a:extLst>
          </p:cNvPr>
          <p:cNvSpPr>
            <a:spLocks noGrp="1"/>
          </p:cNvSpPr>
          <p:nvPr/>
        </p:nvSpPr>
        <p:spPr>
          <a:xfrm>
            <a:off x="7886700" y="1447800"/>
            <a:ext cx="419100" cy="2667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03</a:t>
            </a:r>
          </a:p>
        </p:txBody>
      </p:sp>
      <p:sp>
        <p:nvSpPr>
          <p:cNvPr id="29" name="사각형: 둥근 모서리 28">
            <a:extLst>
              <a:ext uri="{FF2B5EF4-FFF2-40B4-BE49-F238E27FC236}">
                <a16:creationId xmlns:a16="http://schemas.microsoft.com/office/drawing/2014/main" id="{7E248BA3-2147-48F5-B239-BC208965E303}"/>
              </a:ext>
            </a:extLst>
          </p:cNvPr>
          <p:cNvSpPr>
            <a:spLocks noGrp="1"/>
          </p:cNvSpPr>
          <p:nvPr/>
        </p:nvSpPr>
        <p:spPr>
          <a:xfrm>
            <a:off x="8401050" y="1409700"/>
            <a:ext cx="1466850" cy="285750"/>
          </a:xfrm>
          <a:prstGeom prst="roundRect">
            <a:avLst>
              <a:gd name="adj" fmla="val 40000"/>
            </a:avLst>
          </a:prstGeom>
          <a:solidFill>
            <a:srgbClr val="00A58A"/>
          </a:solidFill>
          <a:ln w="0">
            <a:solidFill>
              <a:srgbClr val="00A58A"/>
            </a:solidFill>
            <a:prstDash val="solid"/>
          </a:ln>
        </p:spPr>
      </p:sp>
      <p:sp>
        <p:nvSpPr>
          <p:cNvPr id="30" name="직사각형 29">
            <a:extLst>
              <a:ext uri="{FF2B5EF4-FFF2-40B4-BE49-F238E27FC236}">
                <a16:creationId xmlns:a16="http://schemas.microsoft.com/office/drawing/2014/main" id="{DE6ABD15-9660-48BD-89FC-0534FBF709E2}"/>
              </a:ext>
            </a:extLst>
          </p:cNvPr>
          <p:cNvSpPr>
            <a:spLocks noGrp="1"/>
          </p:cNvSpPr>
          <p:nvPr/>
        </p:nvSpPr>
        <p:spPr>
          <a:xfrm>
            <a:off x="8401050" y="1409700"/>
            <a:ext cx="14668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USAGE API</a:t>
            </a:r>
          </a:p>
        </p:txBody>
      </p:sp>
      <p:sp>
        <p:nvSpPr>
          <p:cNvPr id="31" name="직사각형 30">
            <a:extLst>
              <a:ext uri="{FF2B5EF4-FFF2-40B4-BE49-F238E27FC236}">
                <a16:creationId xmlns:a16="http://schemas.microsoft.com/office/drawing/2014/main" id="{5682008C-753B-4684-8E4A-0BA515111652}"/>
              </a:ext>
            </a:extLst>
          </p:cNvPr>
          <p:cNvSpPr>
            <a:spLocks noGrp="1"/>
          </p:cNvSpPr>
          <p:nvPr/>
        </p:nvSpPr>
        <p:spPr>
          <a:xfrm>
            <a:off x="7886700" y="1981200"/>
            <a:ext cx="3048000" cy="53340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ERP·CRM·지원 플랫폼</a:t>
            </a:r>
          </a:p>
        </p:txBody>
      </p:sp>
      <p:sp>
        <p:nvSpPr>
          <p:cNvPr id="32" name="직사각형 31">
            <a:extLst>
              <a:ext uri="{FF2B5EF4-FFF2-40B4-BE49-F238E27FC236}">
                <a16:creationId xmlns:a16="http://schemas.microsoft.com/office/drawing/2014/main" id="{40860B67-27DB-4653-9BA1-4674980DF771}"/>
              </a:ext>
            </a:extLst>
          </p:cNvPr>
          <p:cNvSpPr>
            <a:spLocks noGrp="1"/>
          </p:cNvSpPr>
          <p:nvPr/>
        </p:nvSpPr>
        <p:spPr>
          <a:xfrm>
            <a:off x="7886700" y="2609850"/>
            <a:ext cx="3048000" cy="9525"/>
          </a:xfrm>
          <a:prstGeom prst="rect">
            <a:avLst/>
          </a:prstGeom>
          <a:solidFill>
            <a:srgbClr val="D7DEE2"/>
          </a:solidFill>
          <a:ln w="0">
            <a:solidFill>
              <a:srgbClr val="D7DEE2"/>
            </a:solidFill>
            <a:prstDash val="solid"/>
          </a:ln>
        </p:spPr>
      </p:sp>
      <p:sp>
        <p:nvSpPr>
          <p:cNvPr id="33" name="직사각형 32">
            <a:extLst>
              <a:ext uri="{FF2B5EF4-FFF2-40B4-BE49-F238E27FC236}">
                <a16:creationId xmlns:a16="http://schemas.microsoft.com/office/drawing/2014/main" id="{7FDECA19-07B2-464A-8F64-81CC3C5ACB7F}"/>
              </a:ext>
            </a:extLst>
          </p:cNvPr>
          <p:cNvSpPr>
            <a:spLocks noGrp="1"/>
          </p:cNvSpPr>
          <p:nvPr/>
        </p:nvSpPr>
        <p:spPr>
          <a:xfrm>
            <a:off x="7886700" y="2800350"/>
            <a:ext cx="762000" cy="2476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상품</a:t>
            </a:r>
          </a:p>
        </p:txBody>
      </p:sp>
      <p:sp>
        <p:nvSpPr>
          <p:cNvPr id="34" name="직사각형 33">
            <a:extLst>
              <a:ext uri="{FF2B5EF4-FFF2-40B4-BE49-F238E27FC236}">
                <a16:creationId xmlns:a16="http://schemas.microsoft.com/office/drawing/2014/main" id="{0F4F1F96-A8CC-4E07-BC4B-AC57B12326A2}"/>
              </a:ext>
            </a:extLst>
          </p:cNvPr>
          <p:cNvSpPr>
            <a:spLocks noGrp="1"/>
          </p:cNvSpPr>
          <p:nvPr/>
        </p:nvSpPr>
        <p:spPr>
          <a:xfrm>
            <a:off x="7886700" y="3105150"/>
            <a:ext cx="3048000" cy="571500"/>
          </a:xfrm>
          <a:prstGeom prst="rect">
            <a:avLst/>
          </a:prstGeom>
          <a:noFill/>
          <a:ln w="0">
            <a:noFill/>
            <a:prstDash val="solid"/>
          </a:ln>
        </p:spPr>
        <p:txBody>
          <a:bodyPr lIns="0" tIns="0" rIns="0" bIns="0" anchor="ctr"/>
          <a:lstStyle/>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근거·판단 API 연동</a:t>
            </a:r>
          </a:p>
        </p:txBody>
      </p:sp>
      <p:sp>
        <p:nvSpPr>
          <p:cNvPr id="35" name="직사각형 34">
            <a:extLst>
              <a:ext uri="{FF2B5EF4-FFF2-40B4-BE49-F238E27FC236}">
                <a16:creationId xmlns:a16="http://schemas.microsoft.com/office/drawing/2014/main" id="{56307954-D27A-40F3-B514-DF0A20DCBDAF}"/>
              </a:ext>
            </a:extLst>
          </p:cNvPr>
          <p:cNvSpPr>
            <a:spLocks noGrp="1"/>
          </p:cNvSpPr>
          <p:nvPr/>
        </p:nvSpPr>
        <p:spPr>
          <a:xfrm>
            <a:off x="7886700" y="3848100"/>
            <a:ext cx="762000" cy="24765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수익</a:t>
            </a:r>
          </a:p>
        </p:txBody>
      </p:sp>
      <p:sp>
        <p:nvSpPr>
          <p:cNvPr id="36" name="직사각형 35">
            <a:extLst>
              <a:ext uri="{FF2B5EF4-FFF2-40B4-BE49-F238E27FC236}">
                <a16:creationId xmlns:a16="http://schemas.microsoft.com/office/drawing/2014/main" id="{C1D7C349-A213-4B8E-8B2D-A82CE284E6F0}"/>
              </a:ext>
            </a:extLst>
          </p:cNvPr>
          <p:cNvSpPr>
            <a:spLocks noGrp="1"/>
          </p:cNvSpPr>
          <p:nvPr/>
        </p:nvSpPr>
        <p:spPr>
          <a:xfrm>
            <a:off x="7886700" y="4152900"/>
            <a:ext cx="3048000" cy="476250"/>
          </a:xfrm>
          <a:prstGeom prst="rect">
            <a:avLst/>
          </a:prstGeom>
          <a:noFill/>
          <a:ln w="0">
            <a:noFill/>
            <a:prstDash val="solid"/>
          </a:ln>
        </p:spPr>
        <p:txBody>
          <a:bodyPr lIns="0" tIns="0" rIns="0" bIns="0" anchor="ctr"/>
          <a:lstStyle/>
          <a:p>
            <a:pPr algn="l">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사용량 기반</a:t>
            </a:r>
          </a:p>
        </p:txBody>
      </p:sp>
      <p:sp>
        <p:nvSpPr>
          <p:cNvPr id="37" name="사각형: 둥근 모서리 36">
            <a:extLst>
              <a:ext uri="{FF2B5EF4-FFF2-40B4-BE49-F238E27FC236}">
                <a16:creationId xmlns:a16="http://schemas.microsoft.com/office/drawing/2014/main" id="{2BDDF8AE-D79F-43D9-BBD1-7E379307D94E}"/>
              </a:ext>
            </a:extLst>
          </p:cNvPr>
          <p:cNvSpPr>
            <a:spLocks noGrp="1"/>
          </p:cNvSpPr>
          <p:nvPr/>
        </p:nvSpPr>
        <p:spPr>
          <a:xfrm>
            <a:off x="685800" y="5010150"/>
            <a:ext cx="10820400" cy="1066800"/>
          </a:xfrm>
          <a:prstGeom prst="roundRect">
            <a:avLst>
              <a:gd name="adj" fmla="val 10714"/>
            </a:avLst>
          </a:prstGeom>
          <a:solidFill>
            <a:srgbClr val="F3F6F7"/>
          </a:solidFill>
          <a:ln w="0">
            <a:solidFill>
              <a:srgbClr val="F3F6F7"/>
            </a:solidFill>
            <a:prstDash val="solid"/>
          </a:ln>
        </p:spPr>
      </p:sp>
      <p:sp>
        <p:nvSpPr>
          <p:cNvPr id="38" name="직사각형 37">
            <a:extLst>
              <a:ext uri="{FF2B5EF4-FFF2-40B4-BE49-F238E27FC236}">
                <a16:creationId xmlns:a16="http://schemas.microsoft.com/office/drawing/2014/main" id="{265D215C-2EEE-43ED-8FAB-947759F551D9}"/>
              </a:ext>
            </a:extLst>
          </p:cNvPr>
          <p:cNvSpPr>
            <a:spLocks noGrp="1"/>
          </p:cNvSpPr>
          <p:nvPr/>
        </p:nvSpPr>
        <p:spPr>
          <a:xfrm>
            <a:off x="914400" y="5181600"/>
            <a:ext cx="1409700" cy="323850"/>
          </a:xfrm>
          <a:prstGeom prst="rect">
            <a:avLst/>
          </a:prstGeom>
          <a:noFill/>
          <a:ln w="0">
            <a:noFill/>
            <a:prstDash val="solid"/>
          </a:ln>
        </p:spPr>
        <p:txBody>
          <a:bodyPr lIns="0" tIns="0" rIns="0" bIns="0" anchor="ctr"/>
          <a:lstStyle/>
          <a:p>
            <a:pPr algn="l">
              <a:defRPr sz="1350" b="1">
                <a:solidFill>
                  <a:srgbClr val="051C2C"/>
                </a:solidFill>
                <a:latin typeface="Noto Sans KR"/>
                <a:ea typeface="Noto Sans KR"/>
                <a:cs typeface="Noto Sans KR"/>
              </a:defRPr>
            </a:pPr>
            <a:r>
              <a:rPr sz="1350" b="1">
                <a:solidFill>
                  <a:srgbClr val="051C2C"/>
                </a:solidFill>
                <a:latin typeface="Noto Sans KR"/>
                <a:ea typeface="Noto Sans KR"/>
                <a:cs typeface="Noto Sans KR"/>
              </a:rPr>
              <a:t>운영 기반</a:t>
            </a:r>
          </a:p>
        </p:txBody>
      </p:sp>
      <p:sp>
        <p:nvSpPr>
          <p:cNvPr id="39" name="직사각형 38">
            <a:extLst>
              <a:ext uri="{FF2B5EF4-FFF2-40B4-BE49-F238E27FC236}">
                <a16:creationId xmlns:a16="http://schemas.microsoft.com/office/drawing/2014/main" id="{82DC16AA-4F9E-402F-8357-231F8FB4EF69}"/>
              </a:ext>
            </a:extLst>
          </p:cNvPr>
          <p:cNvSpPr>
            <a:spLocks noGrp="1"/>
          </p:cNvSpPr>
          <p:nvPr/>
        </p:nvSpPr>
        <p:spPr>
          <a:xfrm>
            <a:off x="2686050" y="5181600"/>
            <a:ext cx="2571750" cy="323850"/>
          </a:xfrm>
          <a:prstGeom prst="rect">
            <a:avLst/>
          </a:prstGeom>
          <a:noFill/>
          <a:ln w="0">
            <a:noFill/>
            <a:prstDash val="solid"/>
          </a:ln>
        </p:spPr>
        <p:txBody>
          <a:bodyPr lIns="0" tIns="0" rIns="0" bIns="0" anchor="ctr"/>
          <a:lstStyle/>
          <a:p>
            <a:pPr algn="ctr">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공공데이터 상태 모니터링</a:t>
            </a:r>
          </a:p>
        </p:txBody>
      </p:sp>
      <p:sp>
        <p:nvSpPr>
          <p:cNvPr id="40" name="직사각형 39">
            <a:extLst>
              <a:ext uri="{FF2B5EF4-FFF2-40B4-BE49-F238E27FC236}">
                <a16:creationId xmlns:a16="http://schemas.microsoft.com/office/drawing/2014/main" id="{DE8D3F10-559D-4AB2-AE07-78F8251F0F64}"/>
              </a:ext>
            </a:extLst>
          </p:cNvPr>
          <p:cNvSpPr>
            <a:spLocks noGrp="1"/>
          </p:cNvSpPr>
          <p:nvPr/>
        </p:nvSpPr>
        <p:spPr>
          <a:xfrm>
            <a:off x="5410200" y="5181600"/>
            <a:ext cx="2381250" cy="323850"/>
          </a:xfrm>
          <a:prstGeom prst="rect">
            <a:avLst/>
          </a:prstGeom>
          <a:noFill/>
          <a:ln w="0">
            <a:noFill/>
            <a:prstDash val="solid"/>
          </a:ln>
        </p:spPr>
        <p:txBody>
          <a:bodyPr lIns="0" tIns="0" rIns="0" bIns="0" anchor="ctr"/>
          <a:lstStyle/>
          <a:p>
            <a:pPr algn="ctr">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AI 사용량·캐시 관리</a:t>
            </a:r>
          </a:p>
        </p:txBody>
      </p:sp>
      <p:sp>
        <p:nvSpPr>
          <p:cNvPr id="41" name="직사각형 40">
            <a:extLst>
              <a:ext uri="{FF2B5EF4-FFF2-40B4-BE49-F238E27FC236}">
                <a16:creationId xmlns:a16="http://schemas.microsoft.com/office/drawing/2014/main" id="{888229FF-C5DD-4462-9CF9-20AF78BBA969}"/>
              </a:ext>
            </a:extLst>
          </p:cNvPr>
          <p:cNvSpPr>
            <a:spLocks noGrp="1"/>
          </p:cNvSpPr>
          <p:nvPr/>
        </p:nvSpPr>
        <p:spPr>
          <a:xfrm>
            <a:off x="8020050" y="5181600"/>
            <a:ext cx="3143250" cy="323850"/>
          </a:xfrm>
          <a:prstGeom prst="rect">
            <a:avLst/>
          </a:prstGeom>
          <a:noFill/>
          <a:ln w="0">
            <a:noFill/>
            <a:prstDash val="solid"/>
          </a:ln>
        </p:spPr>
        <p:txBody>
          <a:bodyPr lIns="0" tIns="0" rIns="0" bIns="0" anchor="ctr"/>
          <a:lstStyle/>
          <a:p>
            <a:pPr algn="ctr">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고위험 판단은 전문가 확인</a:t>
            </a:r>
          </a:p>
        </p:txBody>
      </p:sp>
      <p:sp>
        <p:nvSpPr>
          <p:cNvPr id="42" name="직사각형 41">
            <a:extLst>
              <a:ext uri="{FF2B5EF4-FFF2-40B4-BE49-F238E27FC236}">
                <a16:creationId xmlns:a16="http://schemas.microsoft.com/office/drawing/2014/main" id="{6C890429-4364-4C6A-8503-B5BBE87CBEF9}"/>
              </a:ext>
            </a:extLst>
          </p:cNvPr>
          <p:cNvSpPr>
            <a:spLocks noGrp="1"/>
          </p:cNvSpPr>
          <p:nvPr/>
        </p:nvSpPr>
        <p:spPr>
          <a:xfrm>
            <a:off x="2686050" y="5619750"/>
            <a:ext cx="8477250" cy="285750"/>
          </a:xfrm>
          <a:prstGeom prst="rect">
            <a:avLst/>
          </a:prstGeom>
          <a:noFill/>
          <a:ln w="0">
            <a:noFill/>
            <a:prstDash val="solid"/>
          </a:ln>
        </p:spPr>
        <p:txBody>
          <a:bodyPr lIns="0" tIns="0" rIns="0" bIns="0" anchor="ctr"/>
          <a:lstStyle/>
          <a:p>
            <a:pPr algn="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수혜자와 지불자가 일치하도록 상품·과금·운영을 단계별로 확장합니다.</a:t>
            </a:r>
          </a:p>
        </p:txBody>
      </p:sp>
    </p:spTree>
    <p:extLst>
      <p:ext uri="{BB962C8B-B14F-4D97-AF65-F5344CB8AC3E}">
        <p14:creationId xmlns:p14="http://schemas.microsoft.com/office/powerpoint/2010/main" val="482933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직사각형 40">
            <a:extLst>
              <a:ext uri="{FF2B5EF4-FFF2-40B4-BE49-F238E27FC236}">
                <a16:creationId xmlns:a16="http://schemas.microsoft.com/office/drawing/2014/main" id="{94E110B6-CDFD-4643-91C5-BCB8AEA75D4E}"/>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SCALE-UP</a:t>
            </a:r>
          </a:p>
        </p:txBody>
      </p:sp>
      <p:sp>
        <p:nvSpPr>
          <p:cNvPr id="2" name="slide-14-title">
            <a:extLst>
              <a:ext uri="{FF2B5EF4-FFF2-40B4-BE49-F238E27FC236}">
                <a16:creationId xmlns:a16="http://schemas.microsoft.com/office/drawing/2014/main" id="{8C992766-FD5F-4DBB-A08F-C3011D6059DB}"/>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파일럿에서 기관 도입과 다중 에이전트까지 순서대로 확장합니다</a:t>
            </a:r>
          </a:p>
        </p:txBody>
      </p:sp>
      <p:sp>
        <p:nvSpPr>
          <p:cNvPr id="3" name="직사각형 2">
            <a:extLst>
              <a:ext uri="{FF2B5EF4-FFF2-40B4-BE49-F238E27FC236}">
                <a16:creationId xmlns:a16="http://schemas.microsoft.com/office/drawing/2014/main" id="{81675D49-31E0-49F5-AC1A-3DD5F76C51E8}"/>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F9F60FC4-BA54-488C-AA6D-1E484EEE85AA}"/>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C4A790AB-E641-4080-A69B-666B72769B2C}"/>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84089323-8ED9-4DBA-B404-00C62CA57FEA}"/>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제안 확장 로드맵</a:t>
            </a:r>
          </a:p>
        </p:txBody>
      </p:sp>
      <p:sp>
        <p:nvSpPr>
          <p:cNvPr id="7" name="직사각형 6">
            <a:extLst>
              <a:ext uri="{FF2B5EF4-FFF2-40B4-BE49-F238E27FC236}">
                <a16:creationId xmlns:a16="http://schemas.microsoft.com/office/drawing/2014/main" id="{40AFC9D3-BF97-468E-AE9E-C74D2BA33834}"/>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14</a:t>
            </a:r>
          </a:p>
        </p:txBody>
      </p:sp>
      <p:sp>
        <p:nvSpPr>
          <p:cNvPr id="8" name="직사각형 7">
            <a:extLst>
              <a:ext uri="{FF2B5EF4-FFF2-40B4-BE49-F238E27FC236}">
                <a16:creationId xmlns:a16="http://schemas.microsoft.com/office/drawing/2014/main" id="{5C45D72E-2718-4718-A754-2D272FDB9299}"/>
              </a:ext>
            </a:extLst>
          </p:cNvPr>
          <p:cNvSpPr>
            <a:spLocks noGrp="1"/>
          </p:cNvSpPr>
          <p:nvPr/>
        </p:nvSpPr>
        <p:spPr>
          <a:xfrm>
            <a:off x="1066800" y="3086100"/>
            <a:ext cx="10058400" cy="38100"/>
          </a:xfrm>
          <a:prstGeom prst="rect">
            <a:avLst/>
          </a:prstGeom>
          <a:solidFill>
            <a:srgbClr val="D7DEE2"/>
          </a:solidFill>
          <a:ln w="0">
            <a:solidFill>
              <a:srgbClr val="D7DEE2"/>
            </a:solidFill>
            <a:prstDash val="solid"/>
          </a:ln>
        </p:spPr>
      </p:sp>
      <p:sp>
        <p:nvSpPr>
          <p:cNvPr id="9" name="타원 8">
            <a:extLst>
              <a:ext uri="{FF2B5EF4-FFF2-40B4-BE49-F238E27FC236}">
                <a16:creationId xmlns:a16="http://schemas.microsoft.com/office/drawing/2014/main" id="{187B0726-3F87-4095-BDD5-9DEDFEC7C163}"/>
              </a:ext>
            </a:extLst>
          </p:cNvPr>
          <p:cNvSpPr>
            <a:spLocks noGrp="1"/>
          </p:cNvSpPr>
          <p:nvPr/>
        </p:nvSpPr>
        <p:spPr>
          <a:xfrm>
            <a:off x="1314450" y="2724150"/>
            <a:ext cx="685800" cy="685800"/>
          </a:xfrm>
          <a:prstGeom prst="ellipse">
            <a:avLst/>
          </a:prstGeom>
          <a:solidFill>
            <a:srgbClr val="00A58A"/>
          </a:solidFill>
          <a:ln w="0">
            <a:solidFill>
              <a:srgbClr val="00A58A"/>
            </a:solidFill>
            <a:prstDash val="solid"/>
          </a:ln>
        </p:spPr>
      </p:sp>
      <p:sp>
        <p:nvSpPr>
          <p:cNvPr id="10" name="직사각형 9">
            <a:extLst>
              <a:ext uri="{FF2B5EF4-FFF2-40B4-BE49-F238E27FC236}">
                <a16:creationId xmlns:a16="http://schemas.microsoft.com/office/drawing/2014/main" id="{B04536B2-0DCE-4E84-992A-3A554C19EE47}"/>
              </a:ext>
            </a:extLst>
          </p:cNvPr>
          <p:cNvSpPr>
            <a:spLocks noGrp="1"/>
          </p:cNvSpPr>
          <p:nvPr/>
        </p:nvSpPr>
        <p:spPr>
          <a:xfrm>
            <a:off x="1314450" y="2724150"/>
            <a:ext cx="685800" cy="68580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NOW</a:t>
            </a:r>
          </a:p>
        </p:txBody>
      </p:sp>
      <p:sp>
        <p:nvSpPr>
          <p:cNvPr id="11" name="직사각형 10">
            <a:extLst>
              <a:ext uri="{FF2B5EF4-FFF2-40B4-BE49-F238E27FC236}">
                <a16:creationId xmlns:a16="http://schemas.microsoft.com/office/drawing/2014/main" id="{9B635948-AF5C-4D7B-A376-A340704F2782}"/>
              </a:ext>
            </a:extLst>
          </p:cNvPr>
          <p:cNvSpPr>
            <a:spLocks noGrp="1"/>
          </p:cNvSpPr>
          <p:nvPr/>
        </p:nvSpPr>
        <p:spPr>
          <a:xfrm>
            <a:off x="742950" y="3638550"/>
            <a:ext cx="1828800" cy="361950"/>
          </a:xfrm>
          <a:prstGeom prst="rect">
            <a:avLst/>
          </a:prstGeom>
          <a:noFill/>
          <a:ln w="0">
            <a:noFill/>
            <a:prstDash val="solid"/>
          </a:ln>
        </p:spPr>
        <p:txBody>
          <a:bodyPr lIns="0" tIns="0" rIns="0" bIns="0" anchor="ctr"/>
          <a:lstStyle/>
          <a:p>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MVP</a:t>
            </a:r>
          </a:p>
        </p:txBody>
      </p:sp>
      <p:sp>
        <p:nvSpPr>
          <p:cNvPr id="12" name="직사각형 11">
            <a:extLst>
              <a:ext uri="{FF2B5EF4-FFF2-40B4-BE49-F238E27FC236}">
                <a16:creationId xmlns:a16="http://schemas.microsoft.com/office/drawing/2014/main" id="{60B5834F-3B02-4BB5-BE53-AFADFFB951F4}"/>
              </a:ext>
            </a:extLst>
          </p:cNvPr>
          <p:cNvSpPr>
            <a:spLocks noGrp="1"/>
          </p:cNvSpPr>
          <p:nvPr/>
        </p:nvSpPr>
        <p:spPr>
          <a:xfrm>
            <a:off x="819150" y="4095750"/>
            <a:ext cx="1676400" cy="552450"/>
          </a:xfrm>
          <a:prstGeom prst="rect">
            <a:avLst/>
          </a:prstGeom>
          <a:noFill/>
          <a:ln w="0">
            <a:noFill/>
            <a:prstDash val="solid"/>
          </a:ln>
        </p:spPr>
        <p:txBody>
          <a:bodyPr lIns="0" tIns="0" rIns="0" bIns="0" anchor="ctr"/>
          <a:lstStyle/>
          <a:p>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E2E 시나리오</a:t>
            </a:r>
          </a:p>
        </p:txBody>
      </p:sp>
      <p:sp>
        <p:nvSpPr>
          <p:cNvPr id="13" name="직사각형 12">
            <a:extLst>
              <a:ext uri="{FF2B5EF4-FFF2-40B4-BE49-F238E27FC236}">
                <a16:creationId xmlns:a16="http://schemas.microsoft.com/office/drawing/2014/main" id="{4EC98F8D-6F68-47BC-88FD-B8CF629D62DA}"/>
              </a:ext>
            </a:extLst>
          </p:cNvPr>
          <p:cNvSpPr>
            <a:spLocks noGrp="1"/>
          </p:cNvSpPr>
          <p:nvPr/>
        </p:nvSpPr>
        <p:spPr>
          <a:xfrm>
            <a:off x="2324100" y="2800350"/>
            <a:ext cx="514350" cy="514350"/>
          </a:xfrm>
          <a:prstGeom prst="rect">
            <a:avLst/>
          </a:prstGeom>
          <a:noFill/>
          <a:ln w="0">
            <a:noFill/>
            <a:prstDash val="solid"/>
          </a:ln>
        </p:spPr>
        <p:txBody>
          <a:bodyPr lIns="0" tIns="0" rIns="0" bIns="0" anchor="ctr"/>
          <a:lstStyle/>
          <a:p>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14" name="타원 13">
            <a:extLst>
              <a:ext uri="{FF2B5EF4-FFF2-40B4-BE49-F238E27FC236}">
                <a16:creationId xmlns:a16="http://schemas.microsoft.com/office/drawing/2014/main" id="{0FB53041-111B-46D0-AE4D-6439AD60F23B}"/>
              </a:ext>
            </a:extLst>
          </p:cNvPr>
          <p:cNvSpPr>
            <a:spLocks noGrp="1"/>
          </p:cNvSpPr>
          <p:nvPr/>
        </p:nvSpPr>
        <p:spPr>
          <a:xfrm>
            <a:off x="3162300" y="2724150"/>
            <a:ext cx="685800" cy="685800"/>
          </a:xfrm>
          <a:prstGeom prst="ellipse">
            <a:avLst/>
          </a:prstGeom>
          <a:solidFill>
            <a:srgbClr val="051C2C"/>
          </a:solidFill>
          <a:ln w="0">
            <a:solidFill>
              <a:srgbClr val="051C2C"/>
            </a:solidFill>
            <a:prstDash val="solid"/>
          </a:ln>
        </p:spPr>
      </p:sp>
      <p:sp>
        <p:nvSpPr>
          <p:cNvPr id="15" name="직사각형 14">
            <a:extLst>
              <a:ext uri="{FF2B5EF4-FFF2-40B4-BE49-F238E27FC236}">
                <a16:creationId xmlns:a16="http://schemas.microsoft.com/office/drawing/2014/main" id="{65570A80-0F2B-40FE-B4E3-509223F7D8D3}"/>
              </a:ext>
            </a:extLst>
          </p:cNvPr>
          <p:cNvSpPr>
            <a:spLocks noGrp="1"/>
          </p:cNvSpPr>
          <p:nvPr/>
        </p:nvSpPr>
        <p:spPr>
          <a:xfrm>
            <a:off x="3162300" y="2724150"/>
            <a:ext cx="685800" cy="685800"/>
          </a:xfrm>
          <a:prstGeom prst="rect">
            <a:avLst/>
          </a:prstGeom>
          <a:noFill/>
          <a:ln w="0">
            <a:noFill/>
            <a:prstDash val="solid"/>
          </a:ln>
        </p:spPr>
        <p:txBody>
          <a:bodyPr lIns="0" tIns="0" rIns="0" bIns="0" anchor="ctr"/>
          <a:lstStyle/>
          <a:p>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01</a:t>
            </a:r>
          </a:p>
        </p:txBody>
      </p:sp>
      <p:sp>
        <p:nvSpPr>
          <p:cNvPr id="16" name="직사각형 15">
            <a:extLst>
              <a:ext uri="{FF2B5EF4-FFF2-40B4-BE49-F238E27FC236}">
                <a16:creationId xmlns:a16="http://schemas.microsoft.com/office/drawing/2014/main" id="{996C47F9-FE30-46AA-8A47-71FB2BED1363}"/>
              </a:ext>
            </a:extLst>
          </p:cNvPr>
          <p:cNvSpPr>
            <a:spLocks noGrp="1"/>
          </p:cNvSpPr>
          <p:nvPr/>
        </p:nvSpPr>
        <p:spPr>
          <a:xfrm>
            <a:off x="2590800" y="3638550"/>
            <a:ext cx="1828800" cy="361950"/>
          </a:xfrm>
          <a:prstGeom prst="rect">
            <a:avLst/>
          </a:prstGeom>
          <a:noFill/>
          <a:ln w="0">
            <a:noFill/>
            <a:prstDash val="solid"/>
          </a:ln>
        </p:spPr>
        <p:txBody>
          <a:bodyPr lIns="0" tIns="0" rIns="0" bIns="0" anchor="ctr"/>
          <a:lstStyle/>
          <a:p>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파일럿</a:t>
            </a:r>
          </a:p>
        </p:txBody>
      </p:sp>
      <p:sp>
        <p:nvSpPr>
          <p:cNvPr id="17" name="직사각형 16">
            <a:extLst>
              <a:ext uri="{FF2B5EF4-FFF2-40B4-BE49-F238E27FC236}">
                <a16:creationId xmlns:a16="http://schemas.microsoft.com/office/drawing/2014/main" id="{3F5D1103-459E-4B8D-A4AE-32FAFD702673}"/>
              </a:ext>
            </a:extLst>
          </p:cNvPr>
          <p:cNvSpPr>
            <a:spLocks noGrp="1"/>
          </p:cNvSpPr>
          <p:nvPr/>
        </p:nvSpPr>
        <p:spPr>
          <a:xfrm>
            <a:off x="2667000" y="4095750"/>
            <a:ext cx="1676400" cy="552450"/>
          </a:xfrm>
          <a:prstGeom prst="rect">
            <a:avLst/>
          </a:prstGeom>
          <a:noFill/>
          <a:ln w="0">
            <a:noFill/>
            <a:prstDash val="solid"/>
          </a:ln>
        </p:spPr>
        <p:txBody>
          <a:bodyPr lIns="0" tIns="0" rIns="0" bIns="0" anchor="ctr"/>
          <a:lstStyle/>
          <a:p>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시간·누락·채택률</a:t>
            </a:r>
          </a:p>
        </p:txBody>
      </p:sp>
      <p:sp>
        <p:nvSpPr>
          <p:cNvPr id="18" name="직사각형 17">
            <a:extLst>
              <a:ext uri="{FF2B5EF4-FFF2-40B4-BE49-F238E27FC236}">
                <a16:creationId xmlns:a16="http://schemas.microsoft.com/office/drawing/2014/main" id="{DEBCA799-A20D-4792-B678-78BC085582FB}"/>
              </a:ext>
            </a:extLst>
          </p:cNvPr>
          <p:cNvSpPr>
            <a:spLocks noGrp="1"/>
          </p:cNvSpPr>
          <p:nvPr/>
        </p:nvSpPr>
        <p:spPr>
          <a:xfrm>
            <a:off x="4171950" y="2800350"/>
            <a:ext cx="514350" cy="514350"/>
          </a:xfrm>
          <a:prstGeom prst="rect">
            <a:avLst/>
          </a:prstGeom>
          <a:noFill/>
          <a:ln w="0">
            <a:noFill/>
            <a:prstDash val="solid"/>
          </a:ln>
        </p:spPr>
        <p:txBody>
          <a:bodyPr lIns="0" tIns="0" rIns="0" bIns="0" anchor="ctr"/>
          <a:lstStyle/>
          <a:p>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19" name="타원 18">
            <a:extLst>
              <a:ext uri="{FF2B5EF4-FFF2-40B4-BE49-F238E27FC236}">
                <a16:creationId xmlns:a16="http://schemas.microsoft.com/office/drawing/2014/main" id="{C3E7E247-E5CE-47F0-983F-98D9DBFB4D02}"/>
              </a:ext>
            </a:extLst>
          </p:cNvPr>
          <p:cNvSpPr>
            <a:spLocks noGrp="1"/>
          </p:cNvSpPr>
          <p:nvPr/>
        </p:nvSpPr>
        <p:spPr>
          <a:xfrm>
            <a:off x="5010150" y="2724150"/>
            <a:ext cx="685800" cy="685800"/>
          </a:xfrm>
          <a:prstGeom prst="ellipse">
            <a:avLst/>
          </a:prstGeom>
          <a:solidFill>
            <a:srgbClr val="051C2C"/>
          </a:solidFill>
          <a:ln w="0">
            <a:solidFill>
              <a:srgbClr val="051C2C"/>
            </a:solidFill>
            <a:prstDash val="solid"/>
          </a:ln>
        </p:spPr>
      </p:sp>
      <p:sp>
        <p:nvSpPr>
          <p:cNvPr id="20" name="직사각형 19">
            <a:extLst>
              <a:ext uri="{FF2B5EF4-FFF2-40B4-BE49-F238E27FC236}">
                <a16:creationId xmlns:a16="http://schemas.microsoft.com/office/drawing/2014/main" id="{13A591DC-FCA2-4DCB-811B-162002C4C886}"/>
              </a:ext>
            </a:extLst>
          </p:cNvPr>
          <p:cNvSpPr>
            <a:spLocks noGrp="1"/>
          </p:cNvSpPr>
          <p:nvPr/>
        </p:nvSpPr>
        <p:spPr>
          <a:xfrm>
            <a:off x="5010150" y="2724150"/>
            <a:ext cx="685800" cy="685800"/>
          </a:xfrm>
          <a:prstGeom prst="rect">
            <a:avLst/>
          </a:prstGeom>
          <a:noFill/>
          <a:ln w="0">
            <a:noFill/>
            <a:prstDash val="solid"/>
          </a:ln>
        </p:spPr>
        <p:txBody>
          <a:bodyPr lIns="0" tIns="0" rIns="0" bIns="0" anchor="ctr"/>
          <a:lstStyle/>
          <a:p>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02</a:t>
            </a:r>
          </a:p>
        </p:txBody>
      </p:sp>
      <p:sp>
        <p:nvSpPr>
          <p:cNvPr id="21" name="직사각형 20">
            <a:extLst>
              <a:ext uri="{FF2B5EF4-FFF2-40B4-BE49-F238E27FC236}">
                <a16:creationId xmlns:a16="http://schemas.microsoft.com/office/drawing/2014/main" id="{761F80DD-FAFB-4E84-BB1A-07DE2A51AA49}"/>
              </a:ext>
            </a:extLst>
          </p:cNvPr>
          <p:cNvSpPr>
            <a:spLocks noGrp="1"/>
          </p:cNvSpPr>
          <p:nvPr/>
        </p:nvSpPr>
        <p:spPr>
          <a:xfrm>
            <a:off x="4438650" y="3638550"/>
            <a:ext cx="1828800" cy="361950"/>
          </a:xfrm>
          <a:prstGeom prst="rect">
            <a:avLst/>
          </a:prstGeom>
          <a:noFill/>
          <a:ln w="0">
            <a:noFill/>
            <a:prstDash val="solid"/>
          </a:ln>
        </p:spPr>
        <p:txBody>
          <a:bodyPr lIns="0" tIns="0" rIns="0" bIns="0" anchor="ctr"/>
          <a:lstStyle/>
          <a:p>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안정화</a:t>
            </a:r>
          </a:p>
        </p:txBody>
      </p:sp>
      <p:sp>
        <p:nvSpPr>
          <p:cNvPr id="22" name="직사각형 21">
            <a:extLst>
              <a:ext uri="{FF2B5EF4-FFF2-40B4-BE49-F238E27FC236}">
                <a16:creationId xmlns:a16="http://schemas.microsoft.com/office/drawing/2014/main" id="{D5CFA989-0F9B-4C32-8D62-019F703FC395}"/>
              </a:ext>
            </a:extLst>
          </p:cNvPr>
          <p:cNvSpPr>
            <a:spLocks noGrp="1"/>
          </p:cNvSpPr>
          <p:nvPr/>
        </p:nvSpPr>
        <p:spPr>
          <a:xfrm>
            <a:off x="4514850" y="4095750"/>
            <a:ext cx="1676400" cy="552450"/>
          </a:xfrm>
          <a:prstGeom prst="rect">
            <a:avLst/>
          </a:prstGeom>
          <a:noFill/>
          <a:ln w="0">
            <a:noFill/>
            <a:prstDash val="solid"/>
          </a:ln>
        </p:spPr>
        <p:txBody>
          <a:bodyPr lIns="0" tIns="0" rIns="0" bIns="0" anchor="ctr"/>
          <a:lstStyle/>
          <a:p>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상태·캐시·품질</a:t>
            </a:r>
          </a:p>
        </p:txBody>
      </p:sp>
      <p:sp>
        <p:nvSpPr>
          <p:cNvPr id="23" name="직사각형 22">
            <a:extLst>
              <a:ext uri="{FF2B5EF4-FFF2-40B4-BE49-F238E27FC236}">
                <a16:creationId xmlns:a16="http://schemas.microsoft.com/office/drawing/2014/main" id="{D7E1BC9A-EE5B-460D-BA98-FEBBBBB2CB6D}"/>
              </a:ext>
            </a:extLst>
          </p:cNvPr>
          <p:cNvSpPr>
            <a:spLocks noGrp="1"/>
          </p:cNvSpPr>
          <p:nvPr/>
        </p:nvSpPr>
        <p:spPr>
          <a:xfrm>
            <a:off x="6019800" y="2800350"/>
            <a:ext cx="514350" cy="514350"/>
          </a:xfrm>
          <a:prstGeom prst="rect">
            <a:avLst/>
          </a:prstGeom>
          <a:noFill/>
          <a:ln w="0">
            <a:noFill/>
            <a:prstDash val="solid"/>
          </a:ln>
        </p:spPr>
        <p:txBody>
          <a:bodyPr lIns="0" tIns="0" rIns="0" bIns="0" anchor="ctr"/>
          <a:lstStyle/>
          <a:p>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24" name="타원 23">
            <a:extLst>
              <a:ext uri="{FF2B5EF4-FFF2-40B4-BE49-F238E27FC236}">
                <a16:creationId xmlns:a16="http://schemas.microsoft.com/office/drawing/2014/main" id="{BDDB7998-E6B0-48BF-A02D-F4D129400D2B}"/>
              </a:ext>
            </a:extLst>
          </p:cNvPr>
          <p:cNvSpPr>
            <a:spLocks noGrp="1"/>
          </p:cNvSpPr>
          <p:nvPr/>
        </p:nvSpPr>
        <p:spPr>
          <a:xfrm>
            <a:off x="6858000" y="2724150"/>
            <a:ext cx="685800" cy="685800"/>
          </a:xfrm>
          <a:prstGeom prst="ellipse">
            <a:avLst/>
          </a:prstGeom>
          <a:solidFill>
            <a:srgbClr val="051C2C"/>
          </a:solidFill>
          <a:ln w="0">
            <a:solidFill>
              <a:srgbClr val="051C2C"/>
            </a:solidFill>
            <a:prstDash val="solid"/>
          </a:ln>
        </p:spPr>
      </p:sp>
      <p:sp>
        <p:nvSpPr>
          <p:cNvPr id="25" name="직사각형 24">
            <a:extLst>
              <a:ext uri="{FF2B5EF4-FFF2-40B4-BE49-F238E27FC236}">
                <a16:creationId xmlns:a16="http://schemas.microsoft.com/office/drawing/2014/main" id="{07EDD83F-4594-4AD8-BD58-B994F5D57975}"/>
              </a:ext>
            </a:extLst>
          </p:cNvPr>
          <p:cNvSpPr>
            <a:spLocks noGrp="1"/>
          </p:cNvSpPr>
          <p:nvPr/>
        </p:nvSpPr>
        <p:spPr>
          <a:xfrm>
            <a:off x="6858000" y="2724150"/>
            <a:ext cx="685800" cy="685800"/>
          </a:xfrm>
          <a:prstGeom prst="rect">
            <a:avLst/>
          </a:prstGeom>
          <a:noFill/>
          <a:ln w="0">
            <a:noFill/>
            <a:prstDash val="solid"/>
          </a:ln>
        </p:spPr>
        <p:txBody>
          <a:bodyPr lIns="0" tIns="0" rIns="0" bIns="0" anchor="ctr"/>
          <a:lstStyle/>
          <a:p>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03</a:t>
            </a:r>
          </a:p>
        </p:txBody>
      </p:sp>
      <p:sp>
        <p:nvSpPr>
          <p:cNvPr id="26" name="직사각형 25">
            <a:extLst>
              <a:ext uri="{FF2B5EF4-FFF2-40B4-BE49-F238E27FC236}">
                <a16:creationId xmlns:a16="http://schemas.microsoft.com/office/drawing/2014/main" id="{06FDB6BE-0919-4529-975E-56D94B27966E}"/>
              </a:ext>
            </a:extLst>
          </p:cNvPr>
          <p:cNvSpPr>
            <a:spLocks noGrp="1"/>
          </p:cNvSpPr>
          <p:nvPr/>
        </p:nvSpPr>
        <p:spPr>
          <a:xfrm>
            <a:off x="6286500" y="3638550"/>
            <a:ext cx="1828800" cy="361950"/>
          </a:xfrm>
          <a:prstGeom prst="rect">
            <a:avLst/>
          </a:prstGeom>
          <a:noFill/>
          <a:ln w="0">
            <a:noFill/>
            <a:prstDash val="solid"/>
          </a:ln>
        </p:spPr>
        <p:txBody>
          <a:bodyPr lIns="0" tIns="0" rIns="0" bIns="0" anchor="ctr"/>
          <a:lstStyle/>
          <a:p>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기관 도입</a:t>
            </a:r>
          </a:p>
        </p:txBody>
      </p:sp>
      <p:sp>
        <p:nvSpPr>
          <p:cNvPr id="27" name="직사각형 26">
            <a:extLst>
              <a:ext uri="{FF2B5EF4-FFF2-40B4-BE49-F238E27FC236}">
                <a16:creationId xmlns:a16="http://schemas.microsoft.com/office/drawing/2014/main" id="{0702B94D-9BCB-42BB-AE55-65C1180A8F00}"/>
              </a:ext>
            </a:extLst>
          </p:cNvPr>
          <p:cNvSpPr>
            <a:spLocks noGrp="1"/>
          </p:cNvSpPr>
          <p:nvPr/>
        </p:nvSpPr>
        <p:spPr>
          <a:xfrm>
            <a:off x="6362700" y="4095750"/>
            <a:ext cx="1676400" cy="552450"/>
          </a:xfrm>
          <a:prstGeom prst="rect">
            <a:avLst/>
          </a:prstGeom>
          <a:noFill/>
          <a:ln w="0">
            <a:noFill/>
            <a:prstDash val="solid"/>
          </a:ln>
        </p:spPr>
        <p:txBody>
          <a:bodyPr lIns="0" tIns="0" rIns="0" bIns="0" anchor="ctr"/>
          <a:lstStyle/>
          <a:p>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포트폴리오·화이트라벨</a:t>
            </a:r>
          </a:p>
        </p:txBody>
      </p:sp>
      <p:sp>
        <p:nvSpPr>
          <p:cNvPr id="28" name="직사각형 27">
            <a:extLst>
              <a:ext uri="{FF2B5EF4-FFF2-40B4-BE49-F238E27FC236}">
                <a16:creationId xmlns:a16="http://schemas.microsoft.com/office/drawing/2014/main" id="{873927B1-3219-48E9-A012-015335CC2EFE}"/>
              </a:ext>
            </a:extLst>
          </p:cNvPr>
          <p:cNvSpPr>
            <a:spLocks noGrp="1"/>
          </p:cNvSpPr>
          <p:nvPr/>
        </p:nvSpPr>
        <p:spPr>
          <a:xfrm>
            <a:off x="7867650" y="2800350"/>
            <a:ext cx="514350" cy="514350"/>
          </a:xfrm>
          <a:prstGeom prst="rect">
            <a:avLst/>
          </a:prstGeom>
          <a:noFill/>
          <a:ln w="0">
            <a:noFill/>
            <a:prstDash val="solid"/>
          </a:ln>
        </p:spPr>
        <p:txBody>
          <a:bodyPr lIns="0" tIns="0" rIns="0" bIns="0" anchor="ctr"/>
          <a:lstStyle/>
          <a:p>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29" name="타원 28">
            <a:extLst>
              <a:ext uri="{FF2B5EF4-FFF2-40B4-BE49-F238E27FC236}">
                <a16:creationId xmlns:a16="http://schemas.microsoft.com/office/drawing/2014/main" id="{F5E688A6-EE61-4AAE-90EC-98B9DCF7122E}"/>
              </a:ext>
            </a:extLst>
          </p:cNvPr>
          <p:cNvSpPr>
            <a:spLocks noGrp="1"/>
          </p:cNvSpPr>
          <p:nvPr/>
        </p:nvSpPr>
        <p:spPr>
          <a:xfrm>
            <a:off x="8705850" y="2724150"/>
            <a:ext cx="685800" cy="685800"/>
          </a:xfrm>
          <a:prstGeom prst="ellipse">
            <a:avLst/>
          </a:prstGeom>
          <a:solidFill>
            <a:srgbClr val="051C2C"/>
          </a:solidFill>
          <a:ln w="0">
            <a:solidFill>
              <a:srgbClr val="051C2C"/>
            </a:solidFill>
            <a:prstDash val="solid"/>
          </a:ln>
        </p:spPr>
      </p:sp>
      <p:sp>
        <p:nvSpPr>
          <p:cNvPr id="30" name="직사각형 29">
            <a:extLst>
              <a:ext uri="{FF2B5EF4-FFF2-40B4-BE49-F238E27FC236}">
                <a16:creationId xmlns:a16="http://schemas.microsoft.com/office/drawing/2014/main" id="{4F610CD1-2821-4E8B-BFC4-B2C3FFE250C7}"/>
              </a:ext>
            </a:extLst>
          </p:cNvPr>
          <p:cNvSpPr>
            <a:spLocks noGrp="1"/>
          </p:cNvSpPr>
          <p:nvPr/>
        </p:nvSpPr>
        <p:spPr>
          <a:xfrm>
            <a:off x="8705850" y="2724150"/>
            <a:ext cx="685800" cy="685800"/>
          </a:xfrm>
          <a:prstGeom prst="rect">
            <a:avLst/>
          </a:prstGeom>
          <a:noFill/>
          <a:ln w="0">
            <a:noFill/>
            <a:prstDash val="solid"/>
          </a:ln>
        </p:spPr>
        <p:txBody>
          <a:bodyPr lIns="0" tIns="0" rIns="0" bIns="0" anchor="ctr"/>
          <a:lstStyle/>
          <a:p>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04</a:t>
            </a:r>
          </a:p>
        </p:txBody>
      </p:sp>
      <p:sp>
        <p:nvSpPr>
          <p:cNvPr id="31" name="직사각형 30">
            <a:extLst>
              <a:ext uri="{FF2B5EF4-FFF2-40B4-BE49-F238E27FC236}">
                <a16:creationId xmlns:a16="http://schemas.microsoft.com/office/drawing/2014/main" id="{BEC6388A-019F-47FE-A176-12BF8F9F18B6}"/>
              </a:ext>
            </a:extLst>
          </p:cNvPr>
          <p:cNvSpPr>
            <a:spLocks noGrp="1"/>
          </p:cNvSpPr>
          <p:nvPr/>
        </p:nvSpPr>
        <p:spPr>
          <a:xfrm>
            <a:off x="8134350" y="3638550"/>
            <a:ext cx="1828800" cy="361950"/>
          </a:xfrm>
          <a:prstGeom prst="rect">
            <a:avLst/>
          </a:prstGeom>
          <a:noFill/>
          <a:ln w="0">
            <a:noFill/>
            <a:prstDash val="solid"/>
          </a:ln>
        </p:spPr>
        <p:txBody>
          <a:bodyPr lIns="0" tIns="0" rIns="0" bIns="0" anchor="ctr"/>
          <a:lstStyle/>
          <a:p>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플랫폼</a:t>
            </a:r>
          </a:p>
        </p:txBody>
      </p:sp>
      <p:sp>
        <p:nvSpPr>
          <p:cNvPr id="32" name="직사각형 31">
            <a:extLst>
              <a:ext uri="{FF2B5EF4-FFF2-40B4-BE49-F238E27FC236}">
                <a16:creationId xmlns:a16="http://schemas.microsoft.com/office/drawing/2014/main" id="{A2CC5693-CC16-4DD3-ABA3-0E81EE46CE83}"/>
              </a:ext>
            </a:extLst>
          </p:cNvPr>
          <p:cNvSpPr>
            <a:spLocks noGrp="1"/>
          </p:cNvSpPr>
          <p:nvPr/>
        </p:nvSpPr>
        <p:spPr>
          <a:xfrm>
            <a:off x="8210550" y="4095750"/>
            <a:ext cx="1676400" cy="552450"/>
          </a:xfrm>
          <a:prstGeom prst="rect">
            <a:avLst/>
          </a:prstGeom>
          <a:noFill/>
          <a:ln w="0">
            <a:noFill/>
            <a:prstDash val="solid"/>
          </a:ln>
        </p:spPr>
        <p:txBody>
          <a:bodyPr lIns="0" tIns="0" rIns="0" bIns="0" anchor="ctr"/>
          <a:lstStyle/>
          <a:p>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ERP·CRM·API</a:t>
            </a:r>
          </a:p>
        </p:txBody>
      </p:sp>
      <p:sp>
        <p:nvSpPr>
          <p:cNvPr id="33" name="직사각형 32">
            <a:extLst>
              <a:ext uri="{FF2B5EF4-FFF2-40B4-BE49-F238E27FC236}">
                <a16:creationId xmlns:a16="http://schemas.microsoft.com/office/drawing/2014/main" id="{F70FF2C6-7012-4DCD-AE70-1E489D30172F}"/>
              </a:ext>
            </a:extLst>
          </p:cNvPr>
          <p:cNvSpPr>
            <a:spLocks noGrp="1"/>
          </p:cNvSpPr>
          <p:nvPr/>
        </p:nvSpPr>
        <p:spPr>
          <a:xfrm>
            <a:off x="9715500" y="2800350"/>
            <a:ext cx="514350" cy="514350"/>
          </a:xfrm>
          <a:prstGeom prst="rect">
            <a:avLst/>
          </a:prstGeom>
          <a:noFill/>
          <a:ln w="0">
            <a:noFill/>
            <a:prstDash val="solid"/>
          </a:ln>
        </p:spPr>
        <p:txBody>
          <a:bodyPr lIns="0" tIns="0" rIns="0" bIns="0" anchor="ctr"/>
          <a:lstStyle/>
          <a:p>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34" name="타원 33">
            <a:extLst>
              <a:ext uri="{FF2B5EF4-FFF2-40B4-BE49-F238E27FC236}">
                <a16:creationId xmlns:a16="http://schemas.microsoft.com/office/drawing/2014/main" id="{D3CE1A88-782A-4760-95F8-4C0DC1BB1A8D}"/>
              </a:ext>
            </a:extLst>
          </p:cNvPr>
          <p:cNvSpPr>
            <a:spLocks noGrp="1"/>
          </p:cNvSpPr>
          <p:nvPr/>
        </p:nvSpPr>
        <p:spPr>
          <a:xfrm>
            <a:off x="10553700" y="2724150"/>
            <a:ext cx="685800" cy="685800"/>
          </a:xfrm>
          <a:prstGeom prst="ellipse">
            <a:avLst/>
          </a:prstGeom>
          <a:solidFill>
            <a:srgbClr val="051C2C"/>
          </a:solidFill>
          <a:ln w="0">
            <a:solidFill>
              <a:srgbClr val="051C2C"/>
            </a:solidFill>
            <a:prstDash val="solid"/>
          </a:ln>
        </p:spPr>
      </p:sp>
      <p:sp>
        <p:nvSpPr>
          <p:cNvPr id="35" name="직사각형 34">
            <a:extLst>
              <a:ext uri="{FF2B5EF4-FFF2-40B4-BE49-F238E27FC236}">
                <a16:creationId xmlns:a16="http://schemas.microsoft.com/office/drawing/2014/main" id="{7C23847B-D7AA-4EB4-B8E9-CDC29DE056E4}"/>
              </a:ext>
            </a:extLst>
          </p:cNvPr>
          <p:cNvSpPr>
            <a:spLocks noGrp="1"/>
          </p:cNvSpPr>
          <p:nvPr/>
        </p:nvSpPr>
        <p:spPr>
          <a:xfrm>
            <a:off x="10553700" y="2724150"/>
            <a:ext cx="685800" cy="685800"/>
          </a:xfrm>
          <a:prstGeom prst="rect">
            <a:avLst/>
          </a:prstGeom>
          <a:noFill/>
          <a:ln w="0">
            <a:noFill/>
            <a:prstDash val="solid"/>
          </a:ln>
        </p:spPr>
        <p:txBody>
          <a:bodyPr lIns="0" tIns="0" rIns="0" bIns="0" anchor="ctr"/>
          <a:lstStyle/>
          <a:p>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05</a:t>
            </a:r>
          </a:p>
        </p:txBody>
      </p:sp>
      <p:sp>
        <p:nvSpPr>
          <p:cNvPr id="36" name="직사각형 35">
            <a:extLst>
              <a:ext uri="{FF2B5EF4-FFF2-40B4-BE49-F238E27FC236}">
                <a16:creationId xmlns:a16="http://schemas.microsoft.com/office/drawing/2014/main" id="{07375921-5097-4F0E-8E0E-3FB4848998EC}"/>
              </a:ext>
            </a:extLst>
          </p:cNvPr>
          <p:cNvSpPr>
            <a:spLocks noGrp="1"/>
          </p:cNvSpPr>
          <p:nvPr/>
        </p:nvSpPr>
        <p:spPr>
          <a:xfrm>
            <a:off x="9982200" y="3638550"/>
            <a:ext cx="1828800" cy="361950"/>
          </a:xfrm>
          <a:prstGeom prst="rect">
            <a:avLst/>
          </a:prstGeom>
          <a:noFill/>
          <a:ln w="0">
            <a:noFill/>
            <a:prstDash val="solid"/>
          </a:ln>
        </p:spPr>
        <p:txBody>
          <a:bodyPr lIns="0" tIns="0" rIns="0" bIns="0" anchor="ctr"/>
          <a:lstStyle/>
          <a:p>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에이전트</a:t>
            </a:r>
          </a:p>
        </p:txBody>
      </p:sp>
      <p:sp>
        <p:nvSpPr>
          <p:cNvPr id="37" name="직사각형 36">
            <a:extLst>
              <a:ext uri="{FF2B5EF4-FFF2-40B4-BE49-F238E27FC236}">
                <a16:creationId xmlns:a16="http://schemas.microsoft.com/office/drawing/2014/main" id="{E7E263FC-B153-4C72-95F7-03FC7E81E804}"/>
              </a:ext>
            </a:extLst>
          </p:cNvPr>
          <p:cNvSpPr>
            <a:spLocks noGrp="1"/>
          </p:cNvSpPr>
          <p:nvPr/>
        </p:nvSpPr>
        <p:spPr>
          <a:xfrm>
            <a:off x="10058400" y="4095750"/>
            <a:ext cx="1676400" cy="552450"/>
          </a:xfrm>
          <a:prstGeom prst="rect">
            <a:avLst/>
          </a:prstGeom>
          <a:noFill/>
          <a:ln w="0">
            <a:noFill/>
            <a:prstDash val="solid"/>
          </a:ln>
        </p:spPr>
        <p:txBody>
          <a:bodyPr lIns="0" tIns="0" rIns="0" bIns="0" anchor="ctr"/>
          <a:lstStyle/>
          <a:p>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HS·인증·관세·리스크</a:t>
            </a:r>
          </a:p>
        </p:txBody>
      </p:sp>
      <p:sp>
        <p:nvSpPr>
          <p:cNvPr id="38" name="사각형: 둥근 모서리 37">
            <a:extLst>
              <a:ext uri="{FF2B5EF4-FFF2-40B4-BE49-F238E27FC236}">
                <a16:creationId xmlns:a16="http://schemas.microsoft.com/office/drawing/2014/main" id="{77FFE509-CAE0-4182-B042-6B4B5B897B94}"/>
              </a:ext>
            </a:extLst>
          </p:cNvPr>
          <p:cNvSpPr>
            <a:spLocks noGrp="1"/>
          </p:cNvSpPr>
          <p:nvPr/>
        </p:nvSpPr>
        <p:spPr>
          <a:xfrm>
            <a:off x="1066800" y="5181600"/>
            <a:ext cx="10058400" cy="800100"/>
          </a:xfrm>
          <a:prstGeom prst="roundRect">
            <a:avLst>
              <a:gd name="adj" fmla="val 14286"/>
            </a:avLst>
          </a:prstGeom>
          <a:solidFill>
            <a:srgbClr val="051C2C"/>
          </a:solidFill>
          <a:ln w="0">
            <a:solidFill>
              <a:srgbClr val="051C2C"/>
            </a:solidFill>
            <a:prstDash val="solid"/>
          </a:ln>
        </p:spPr>
      </p:sp>
      <p:sp>
        <p:nvSpPr>
          <p:cNvPr id="39" name="직사각형 38">
            <a:extLst>
              <a:ext uri="{FF2B5EF4-FFF2-40B4-BE49-F238E27FC236}">
                <a16:creationId xmlns:a16="http://schemas.microsoft.com/office/drawing/2014/main" id="{773CBA5E-637A-41ED-9011-DB9A486D3C9E}"/>
              </a:ext>
            </a:extLst>
          </p:cNvPr>
          <p:cNvSpPr>
            <a:spLocks noGrp="1"/>
          </p:cNvSpPr>
          <p:nvPr/>
        </p:nvSpPr>
        <p:spPr>
          <a:xfrm>
            <a:off x="1333500" y="5314950"/>
            <a:ext cx="1714500" cy="476250"/>
          </a:xfrm>
          <a:prstGeom prst="rect">
            <a:avLst/>
          </a:prstGeom>
          <a:noFill/>
          <a:ln w="0">
            <a:noFill/>
            <a:prstDash val="solid"/>
          </a:ln>
        </p:spPr>
        <p:txBody>
          <a:bodyPr lIns="0" tIns="0" rIns="0" bIns="0" anchor="ctr"/>
          <a:lstStyle/>
          <a:p>
            <a:pPr algn="l">
              <a:defRPr sz="1350" b="1">
                <a:solidFill>
                  <a:srgbClr val="8FD8CB"/>
                </a:solidFill>
                <a:latin typeface="Noto Sans KR"/>
                <a:ea typeface="Noto Sans KR"/>
                <a:cs typeface="Noto Sans KR"/>
              </a:defRPr>
            </a:pPr>
            <a:r>
              <a:rPr sz="1350" b="1">
                <a:solidFill>
                  <a:srgbClr val="8FD8CB"/>
                </a:solidFill>
                <a:latin typeface="Noto Sans KR"/>
                <a:ea typeface="Noto Sans KR"/>
                <a:cs typeface="Noto Sans KR"/>
              </a:rPr>
              <a:t>공통 기반</a:t>
            </a:r>
          </a:p>
        </p:txBody>
      </p:sp>
      <p:sp>
        <p:nvSpPr>
          <p:cNvPr id="40" name="직사각형 39">
            <a:extLst>
              <a:ext uri="{FF2B5EF4-FFF2-40B4-BE49-F238E27FC236}">
                <a16:creationId xmlns:a16="http://schemas.microsoft.com/office/drawing/2014/main" id="{4F1AFAE3-8EA4-4397-B05E-7142BE85BCD0}"/>
              </a:ext>
            </a:extLst>
          </p:cNvPr>
          <p:cNvSpPr>
            <a:spLocks noGrp="1"/>
          </p:cNvSpPr>
          <p:nvPr/>
        </p:nvSpPr>
        <p:spPr>
          <a:xfrm>
            <a:off x="3105150" y="5314950"/>
            <a:ext cx="7715250" cy="476250"/>
          </a:xfrm>
          <a:prstGeom prst="rect">
            <a:avLst/>
          </a:prstGeom>
          <a:noFill/>
          <a:ln w="0">
            <a:noFill/>
            <a:prstDash val="solid"/>
          </a:ln>
        </p:spPr>
        <p:txBody>
          <a:bodyPr lIns="0" tIns="0" rIns="0" bIns="0" anchor="ctr"/>
          <a:lstStyle/>
          <a:p>
            <a:pPr algn="ctr">
              <a:defRPr sz="1500" b="1">
                <a:solidFill>
                  <a:srgbClr val="FFFFFF"/>
                </a:solidFill>
                <a:latin typeface="Noto Sans KR"/>
                <a:ea typeface="Noto Sans KR"/>
                <a:cs typeface="Noto Sans KR"/>
              </a:defRPr>
            </a:pPr>
            <a:r>
              <a:rPr sz="1500" b="1">
                <a:solidFill>
                  <a:srgbClr val="FFFFFF"/>
                </a:solidFill>
                <a:latin typeface="Noto Sans KR"/>
                <a:ea typeface="Noto Sans KR"/>
                <a:cs typeface="Noto Sans KR"/>
              </a:rPr>
              <a:t>동일한 근거 스키마  →  외부 시스템 연동  →  전문 AI 에이전트 협업</a:t>
            </a:r>
          </a:p>
        </p:txBody>
      </p:sp>
    </p:spTree>
    <p:extLst>
      <p:ext uri="{BB962C8B-B14F-4D97-AF65-F5344CB8AC3E}">
        <p14:creationId xmlns:p14="http://schemas.microsoft.com/office/powerpoint/2010/main" val="1496087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51C2C"/>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D9930938-D968-4126-AD26-0A50F3FE23CB}"/>
              </a:ext>
            </a:extLst>
          </p:cNvPr>
          <p:cNvSpPr>
            <a:spLocks noGrp="1"/>
          </p:cNvSpPr>
          <p:nvPr/>
        </p:nvSpPr>
        <p:spPr>
          <a:xfrm>
            <a:off x="742950" y="685800"/>
            <a:ext cx="6858000" cy="685800"/>
          </a:xfrm>
          <a:prstGeom prst="rect">
            <a:avLst/>
          </a:prstGeom>
          <a:noFill/>
          <a:ln w="0">
            <a:noFill/>
            <a:prstDash val="solid"/>
          </a:ln>
        </p:spPr>
        <p:txBody>
          <a:bodyPr lIns="0" tIns="0" rIns="0" bIns="0" anchor="ctr"/>
          <a:lstStyle/>
          <a:p>
            <a:pPr algn="l">
              <a:defRPr sz="3450" b="1">
                <a:solidFill>
                  <a:srgbClr val="FFFFFF"/>
                </a:solidFill>
                <a:latin typeface="Noto Sans KR"/>
                <a:ea typeface="Noto Sans KR"/>
                <a:cs typeface="Noto Sans KR"/>
              </a:defRPr>
            </a:pPr>
            <a:r>
              <a:rPr sz="3450" b="1">
                <a:solidFill>
                  <a:srgbClr val="FFFFFF"/>
                </a:solidFill>
                <a:latin typeface="Noto Sans KR"/>
                <a:ea typeface="Noto Sans KR"/>
                <a:cs typeface="Noto Sans KR"/>
              </a:rPr>
              <a:t>수출의 첫 판단을</a:t>
            </a:r>
          </a:p>
        </p:txBody>
      </p:sp>
      <p:sp>
        <p:nvSpPr>
          <p:cNvPr id="2" name="직사각형 1">
            <a:extLst>
              <a:ext uri="{FF2B5EF4-FFF2-40B4-BE49-F238E27FC236}">
                <a16:creationId xmlns:a16="http://schemas.microsoft.com/office/drawing/2014/main" id="{41BF464A-4D4F-43C6-B81C-B2D9F89EA08F}"/>
              </a:ext>
            </a:extLst>
          </p:cNvPr>
          <p:cNvSpPr>
            <a:spLocks noGrp="1"/>
          </p:cNvSpPr>
          <p:nvPr/>
        </p:nvSpPr>
        <p:spPr>
          <a:xfrm>
            <a:off x="742950" y="1352550"/>
            <a:ext cx="6858000" cy="838200"/>
          </a:xfrm>
          <a:prstGeom prst="rect">
            <a:avLst/>
          </a:prstGeom>
          <a:noFill/>
          <a:ln w="0">
            <a:noFill/>
            <a:prstDash val="solid"/>
          </a:ln>
        </p:spPr>
        <p:txBody>
          <a:bodyPr lIns="0" tIns="0" rIns="0" bIns="0" anchor="ctr"/>
          <a:lstStyle/>
          <a:p>
            <a:pPr algn="l">
              <a:defRPr sz="5100" b="1">
                <a:solidFill>
                  <a:srgbClr val="8FD8CB"/>
                </a:solidFill>
                <a:latin typeface="Noto Sans KR"/>
                <a:ea typeface="Noto Sans KR"/>
                <a:cs typeface="Noto Sans KR"/>
              </a:defRPr>
            </a:pPr>
            <a:r>
              <a:rPr sz="5100" b="1">
                <a:solidFill>
                  <a:srgbClr val="8FD8CB"/>
                </a:solidFill>
                <a:latin typeface="Noto Sans KR"/>
                <a:ea typeface="Noto Sans KR"/>
                <a:cs typeface="Noto Sans KR"/>
              </a:rPr>
              <a:t>5분 안에</a:t>
            </a:r>
          </a:p>
        </p:txBody>
      </p:sp>
      <p:sp>
        <p:nvSpPr>
          <p:cNvPr id="3" name="직사각형 2">
            <a:extLst>
              <a:ext uri="{FF2B5EF4-FFF2-40B4-BE49-F238E27FC236}">
                <a16:creationId xmlns:a16="http://schemas.microsoft.com/office/drawing/2014/main" id="{934D9CFA-08E9-4DA9-9F59-EE809210E370}"/>
              </a:ext>
            </a:extLst>
          </p:cNvPr>
          <p:cNvSpPr>
            <a:spLocks noGrp="1"/>
          </p:cNvSpPr>
          <p:nvPr/>
        </p:nvSpPr>
        <p:spPr>
          <a:xfrm>
            <a:off x="781050" y="2628900"/>
            <a:ext cx="1905000" cy="266700"/>
          </a:xfrm>
          <a:prstGeom prst="rect">
            <a:avLst/>
          </a:prstGeom>
          <a:noFill/>
          <a:ln w="0">
            <a:noFill/>
            <a:prstDash val="solid"/>
          </a:ln>
        </p:spPr>
        <p:txBody>
          <a:bodyPr lIns="0" tIns="0" rIns="0" bIns="0" anchor="ctr"/>
          <a:lstStyle/>
          <a:p>
            <a:pPr algn="l">
              <a:defRPr sz="975" b="1">
                <a:solidFill>
                  <a:srgbClr val="8FD8CB"/>
                </a:solidFill>
                <a:latin typeface="Noto Sans KR"/>
                <a:ea typeface="Noto Sans KR"/>
                <a:cs typeface="Noto Sans KR"/>
              </a:defRPr>
            </a:pPr>
            <a:r>
              <a:rPr sz="975" b="1">
                <a:solidFill>
                  <a:srgbClr val="8FD8CB"/>
                </a:solidFill>
                <a:latin typeface="Noto Sans KR"/>
                <a:ea typeface="Noto Sans KR"/>
                <a:cs typeface="Noto Sans KR"/>
              </a:rPr>
              <a:t>구현된 흐름</a:t>
            </a:r>
          </a:p>
        </p:txBody>
      </p:sp>
      <p:sp>
        <p:nvSpPr>
          <p:cNvPr id="4" name="직사각형 3">
            <a:extLst>
              <a:ext uri="{FF2B5EF4-FFF2-40B4-BE49-F238E27FC236}">
                <a16:creationId xmlns:a16="http://schemas.microsoft.com/office/drawing/2014/main" id="{D3A17E40-CA63-4F91-AFD6-B44C4ED3810B}"/>
              </a:ext>
            </a:extLst>
          </p:cNvPr>
          <p:cNvSpPr>
            <a:spLocks noGrp="1"/>
          </p:cNvSpPr>
          <p:nvPr/>
        </p:nvSpPr>
        <p:spPr>
          <a:xfrm>
            <a:off x="762000" y="3086100"/>
            <a:ext cx="1143000" cy="876300"/>
          </a:xfrm>
          <a:prstGeom prst="rect">
            <a:avLst/>
          </a:prstGeom>
          <a:noFill/>
          <a:ln w="0">
            <a:noFill/>
            <a:prstDash val="solid"/>
          </a:ln>
        </p:spPr>
        <p:txBody>
          <a:bodyPr lIns="0" tIns="0" rIns="0" bIns="0" anchor="ctr"/>
          <a:lstStyle/>
          <a:p>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10</a:t>
            </a:r>
          </a:p>
        </p:txBody>
      </p:sp>
      <p:sp>
        <p:nvSpPr>
          <p:cNvPr id="5" name="직사각형 4">
            <a:extLst>
              <a:ext uri="{FF2B5EF4-FFF2-40B4-BE49-F238E27FC236}">
                <a16:creationId xmlns:a16="http://schemas.microsoft.com/office/drawing/2014/main" id="{4D983B5C-73D3-4574-ACAA-02D90587B037}"/>
              </a:ext>
            </a:extLst>
          </p:cNvPr>
          <p:cNvSpPr>
            <a:spLocks noGrp="1"/>
          </p:cNvSpPr>
          <p:nvPr/>
        </p:nvSpPr>
        <p:spPr>
          <a:xfrm>
            <a:off x="1905000" y="3295650"/>
            <a:ext cx="1466850" cy="457200"/>
          </a:xfrm>
          <a:prstGeom prst="rect">
            <a:avLst/>
          </a:prstGeom>
          <a:noFill/>
          <a:ln w="0">
            <a:noFill/>
            <a:prstDash val="solid"/>
          </a:ln>
        </p:spPr>
        <p:txBody>
          <a:bodyPr lIns="0" tIns="0" rIns="0" bIns="0" anchor="ctr"/>
          <a:lstStyle/>
          <a:p>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종 공공데이터</a:t>
            </a:r>
          </a:p>
        </p:txBody>
      </p:sp>
      <p:sp>
        <p:nvSpPr>
          <p:cNvPr id="6" name="직사각형 5">
            <a:extLst>
              <a:ext uri="{FF2B5EF4-FFF2-40B4-BE49-F238E27FC236}">
                <a16:creationId xmlns:a16="http://schemas.microsoft.com/office/drawing/2014/main" id="{8D953096-CFC4-4110-B818-EA939228EE76}"/>
              </a:ext>
            </a:extLst>
          </p:cNvPr>
          <p:cNvSpPr>
            <a:spLocks noGrp="1"/>
          </p:cNvSpPr>
          <p:nvPr/>
        </p:nvSpPr>
        <p:spPr>
          <a:xfrm>
            <a:off x="3181350" y="3219450"/>
            <a:ext cx="381000" cy="514350"/>
          </a:xfrm>
          <a:prstGeom prst="rect">
            <a:avLst/>
          </a:prstGeom>
          <a:noFill/>
          <a:ln w="0">
            <a:noFill/>
            <a:prstDash val="solid"/>
          </a:ln>
        </p:spPr>
        <p:txBody>
          <a:bodyPr lIns="0" tIns="0" rIns="0" bIns="0" anchor="ctr"/>
          <a:lstStyle/>
          <a:p>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7" name="직사각형 6">
            <a:extLst>
              <a:ext uri="{FF2B5EF4-FFF2-40B4-BE49-F238E27FC236}">
                <a16:creationId xmlns:a16="http://schemas.microsoft.com/office/drawing/2014/main" id="{8ACDA2E9-A598-495C-B389-5392A72972D4}"/>
              </a:ext>
            </a:extLst>
          </p:cNvPr>
          <p:cNvSpPr>
            <a:spLocks noGrp="1"/>
          </p:cNvSpPr>
          <p:nvPr/>
        </p:nvSpPr>
        <p:spPr>
          <a:xfrm>
            <a:off x="3486150" y="3086100"/>
            <a:ext cx="1143000" cy="876300"/>
          </a:xfrm>
          <a:prstGeom prst="rect">
            <a:avLst/>
          </a:prstGeom>
          <a:noFill/>
          <a:ln w="0">
            <a:noFill/>
            <a:prstDash val="solid"/>
          </a:ln>
        </p:spPr>
        <p:txBody>
          <a:bodyPr lIns="0" tIns="0" rIns="0" bIns="0" anchor="ctr"/>
          <a:lstStyle/>
          <a:p>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3</a:t>
            </a:r>
          </a:p>
        </p:txBody>
      </p:sp>
      <p:sp>
        <p:nvSpPr>
          <p:cNvPr id="8" name="직사각형 7">
            <a:extLst>
              <a:ext uri="{FF2B5EF4-FFF2-40B4-BE49-F238E27FC236}">
                <a16:creationId xmlns:a16="http://schemas.microsoft.com/office/drawing/2014/main" id="{A979501E-BCE7-4BC8-9E3B-5105710763E7}"/>
              </a:ext>
            </a:extLst>
          </p:cNvPr>
          <p:cNvSpPr>
            <a:spLocks noGrp="1"/>
          </p:cNvSpPr>
          <p:nvPr/>
        </p:nvSpPr>
        <p:spPr>
          <a:xfrm>
            <a:off x="4629150" y="3295650"/>
            <a:ext cx="1466850" cy="457200"/>
          </a:xfrm>
          <a:prstGeom prst="rect">
            <a:avLst/>
          </a:prstGeom>
          <a:noFill/>
          <a:ln w="0">
            <a:noFill/>
            <a:prstDash val="solid"/>
          </a:ln>
        </p:spPr>
        <p:txBody>
          <a:bodyPr lIns="0" tIns="0" rIns="0" bIns="0" anchor="ctr"/>
          <a:lstStyle/>
          <a:p>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후보국 Top 3</a:t>
            </a:r>
          </a:p>
        </p:txBody>
      </p:sp>
      <p:sp>
        <p:nvSpPr>
          <p:cNvPr id="9" name="직사각형 8">
            <a:extLst>
              <a:ext uri="{FF2B5EF4-FFF2-40B4-BE49-F238E27FC236}">
                <a16:creationId xmlns:a16="http://schemas.microsoft.com/office/drawing/2014/main" id="{1D239E1C-EF01-4E1B-A15B-DCF1860194E8}"/>
              </a:ext>
            </a:extLst>
          </p:cNvPr>
          <p:cNvSpPr>
            <a:spLocks noGrp="1"/>
          </p:cNvSpPr>
          <p:nvPr/>
        </p:nvSpPr>
        <p:spPr>
          <a:xfrm>
            <a:off x="5905500" y="3219450"/>
            <a:ext cx="381000" cy="514350"/>
          </a:xfrm>
          <a:prstGeom prst="rect">
            <a:avLst/>
          </a:prstGeom>
          <a:noFill/>
          <a:ln w="0">
            <a:noFill/>
            <a:prstDash val="solid"/>
          </a:ln>
        </p:spPr>
        <p:txBody>
          <a:bodyPr lIns="0" tIns="0" rIns="0" bIns="0" anchor="ctr"/>
          <a:lstStyle/>
          <a:p>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10" name="직사각형 9">
            <a:extLst>
              <a:ext uri="{FF2B5EF4-FFF2-40B4-BE49-F238E27FC236}">
                <a16:creationId xmlns:a16="http://schemas.microsoft.com/office/drawing/2014/main" id="{957B8ACE-E6F1-4545-97D2-49FCCCE8B446}"/>
              </a:ext>
            </a:extLst>
          </p:cNvPr>
          <p:cNvSpPr>
            <a:spLocks noGrp="1"/>
          </p:cNvSpPr>
          <p:nvPr/>
        </p:nvSpPr>
        <p:spPr>
          <a:xfrm>
            <a:off x="6210300" y="3086100"/>
            <a:ext cx="1143000" cy="876300"/>
          </a:xfrm>
          <a:prstGeom prst="rect">
            <a:avLst/>
          </a:prstGeom>
          <a:noFill/>
          <a:ln w="0">
            <a:noFill/>
            <a:prstDash val="solid"/>
          </a:ln>
        </p:spPr>
        <p:txBody>
          <a:bodyPr lIns="0" tIns="0" rIns="0" bIns="0" anchor="ctr"/>
          <a:lstStyle/>
          <a:p>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5</a:t>
            </a:r>
          </a:p>
        </p:txBody>
      </p:sp>
      <p:sp>
        <p:nvSpPr>
          <p:cNvPr id="11" name="직사각형 10">
            <a:extLst>
              <a:ext uri="{FF2B5EF4-FFF2-40B4-BE49-F238E27FC236}">
                <a16:creationId xmlns:a16="http://schemas.microsoft.com/office/drawing/2014/main" id="{72E5A445-28E0-4260-8CA8-9E70A74EF05C}"/>
              </a:ext>
            </a:extLst>
          </p:cNvPr>
          <p:cNvSpPr>
            <a:spLocks noGrp="1"/>
          </p:cNvSpPr>
          <p:nvPr/>
        </p:nvSpPr>
        <p:spPr>
          <a:xfrm>
            <a:off x="7353300" y="3295650"/>
            <a:ext cx="1466850" cy="457200"/>
          </a:xfrm>
          <a:prstGeom prst="rect">
            <a:avLst/>
          </a:prstGeom>
          <a:noFill/>
          <a:ln w="0">
            <a:noFill/>
            <a:prstDash val="solid"/>
          </a:ln>
        </p:spPr>
        <p:txBody>
          <a:bodyPr lIns="0" tIns="0" rIns="0" bIns="0" anchor="ctr"/>
          <a:lstStyle/>
          <a:p>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단계 검증</a:t>
            </a:r>
          </a:p>
        </p:txBody>
      </p:sp>
      <p:sp>
        <p:nvSpPr>
          <p:cNvPr id="12" name="직사각형 11">
            <a:extLst>
              <a:ext uri="{FF2B5EF4-FFF2-40B4-BE49-F238E27FC236}">
                <a16:creationId xmlns:a16="http://schemas.microsoft.com/office/drawing/2014/main" id="{6B6FAFD7-CB1F-4D24-BDD5-A774AF7C6853}"/>
              </a:ext>
            </a:extLst>
          </p:cNvPr>
          <p:cNvSpPr>
            <a:spLocks noGrp="1"/>
          </p:cNvSpPr>
          <p:nvPr/>
        </p:nvSpPr>
        <p:spPr>
          <a:xfrm>
            <a:off x="8629650" y="3219450"/>
            <a:ext cx="381000" cy="514350"/>
          </a:xfrm>
          <a:prstGeom prst="rect">
            <a:avLst/>
          </a:prstGeom>
          <a:noFill/>
          <a:ln w="0">
            <a:noFill/>
            <a:prstDash val="solid"/>
          </a:ln>
        </p:spPr>
        <p:txBody>
          <a:bodyPr lIns="0" tIns="0" rIns="0" bIns="0" anchor="ctr"/>
          <a:lstStyle/>
          <a:p>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13" name="직사각형 12">
            <a:extLst>
              <a:ext uri="{FF2B5EF4-FFF2-40B4-BE49-F238E27FC236}">
                <a16:creationId xmlns:a16="http://schemas.microsoft.com/office/drawing/2014/main" id="{B92E095A-466A-43B7-BB2B-A0F2E3E0FF25}"/>
              </a:ext>
            </a:extLst>
          </p:cNvPr>
          <p:cNvSpPr>
            <a:spLocks noGrp="1"/>
          </p:cNvSpPr>
          <p:nvPr/>
        </p:nvSpPr>
        <p:spPr>
          <a:xfrm>
            <a:off x="8934450" y="3086100"/>
            <a:ext cx="1143000" cy="876300"/>
          </a:xfrm>
          <a:prstGeom prst="rect">
            <a:avLst/>
          </a:prstGeom>
          <a:noFill/>
          <a:ln w="0">
            <a:noFill/>
            <a:prstDash val="solid"/>
          </a:ln>
        </p:spPr>
        <p:txBody>
          <a:bodyPr lIns="0" tIns="0" rIns="0" bIns="0" anchor="ctr"/>
          <a:lstStyle/>
          <a:p>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1</a:t>
            </a:r>
          </a:p>
        </p:txBody>
      </p:sp>
      <p:sp>
        <p:nvSpPr>
          <p:cNvPr id="14" name="직사각형 13">
            <a:extLst>
              <a:ext uri="{FF2B5EF4-FFF2-40B4-BE49-F238E27FC236}">
                <a16:creationId xmlns:a16="http://schemas.microsoft.com/office/drawing/2014/main" id="{EFD68387-60CB-458C-B76E-A18028B206D0}"/>
              </a:ext>
            </a:extLst>
          </p:cNvPr>
          <p:cNvSpPr>
            <a:spLocks noGrp="1"/>
          </p:cNvSpPr>
          <p:nvPr/>
        </p:nvSpPr>
        <p:spPr>
          <a:xfrm>
            <a:off x="10077450" y="3295650"/>
            <a:ext cx="1466850" cy="457200"/>
          </a:xfrm>
          <a:prstGeom prst="rect">
            <a:avLst/>
          </a:prstGeom>
          <a:noFill/>
          <a:ln w="0">
            <a:noFill/>
            <a:prstDash val="solid"/>
          </a:ln>
        </p:spPr>
        <p:txBody>
          <a:bodyPr lIns="0" tIns="0" rIns="0" bIns="0" anchor="ctr"/>
          <a:lstStyle/>
          <a:p>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실행 리포트</a:t>
            </a:r>
          </a:p>
        </p:txBody>
      </p:sp>
      <p:sp>
        <p:nvSpPr>
          <p:cNvPr id="15" name="직사각형 14">
            <a:extLst>
              <a:ext uri="{FF2B5EF4-FFF2-40B4-BE49-F238E27FC236}">
                <a16:creationId xmlns:a16="http://schemas.microsoft.com/office/drawing/2014/main" id="{5AC0E6B6-5B27-4813-BB0E-2027505AB18B}"/>
              </a:ext>
            </a:extLst>
          </p:cNvPr>
          <p:cNvSpPr>
            <a:spLocks noGrp="1"/>
          </p:cNvSpPr>
          <p:nvPr/>
        </p:nvSpPr>
        <p:spPr>
          <a:xfrm>
            <a:off x="762000" y="4305300"/>
            <a:ext cx="10668000" cy="9525"/>
          </a:xfrm>
          <a:prstGeom prst="rect">
            <a:avLst/>
          </a:prstGeom>
          <a:solidFill>
            <a:srgbClr val="426170"/>
          </a:solidFill>
          <a:ln w="0">
            <a:solidFill>
              <a:srgbClr val="426170"/>
            </a:solidFill>
            <a:prstDash val="solid"/>
          </a:ln>
        </p:spPr>
      </p:sp>
      <p:sp>
        <p:nvSpPr>
          <p:cNvPr id="16" name="사각형: 둥근 모서리 15">
            <a:extLst>
              <a:ext uri="{FF2B5EF4-FFF2-40B4-BE49-F238E27FC236}">
                <a16:creationId xmlns:a16="http://schemas.microsoft.com/office/drawing/2014/main" id="{1E34E96A-E529-48C1-8764-06A1F0B14B2A}"/>
              </a:ext>
            </a:extLst>
          </p:cNvPr>
          <p:cNvSpPr>
            <a:spLocks noGrp="1"/>
          </p:cNvSpPr>
          <p:nvPr/>
        </p:nvSpPr>
        <p:spPr>
          <a:xfrm>
            <a:off x="762000" y="4686300"/>
            <a:ext cx="10668000" cy="914400"/>
          </a:xfrm>
          <a:prstGeom prst="roundRect">
            <a:avLst>
              <a:gd name="adj" fmla="val 12500"/>
            </a:avLst>
          </a:prstGeom>
          <a:solidFill>
            <a:srgbClr val="FFFFFF"/>
          </a:solidFill>
          <a:ln w="0">
            <a:solidFill>
              <a:srgbClr val="FFFFFF"/>
            </a:solidFill>
            <a:prstDash val="solid"/>
          </a:ln>
        </p:spPr>
      </p:sp>
      <p:sp>
        <p:nvSpPr>
          <p:cNvPr id="17" name="직사각형 16">
            <a:extLst>
              <a:ext uri="{FF2B5EF4-FFF2-40B4-BE49-F238E27FC236}">
                <a16:creationId xmlns:a16="http://schemas.microsoft.com/office/drawing/2014/main" id="{65D6221E-1627-463A-829C-D22D3947B7B6}"/>
              </a:ext>
            </a:extLst>
          </p:cNvPr>
          <p:cNvSpPr>
            <a:spLocks noGrp="1"/>
          </p:cNvSpPr>
          <p:nvPr/>
        </p:nvSpPr>
        <p:spPr>
          <a:xfrm>
            <a:off x="1047750" y="4914900"/>
            <a:ext cx="1524000" cy="457200"/>
          </a:xfrm>
          <a:prstGeom prst="rect">
            <a:avLst/>
          </a:prstGeom>
          <a:noFill/>
          <a:ln w="0">
            <a:noFill/>
            <a:prstDash val="solid"/>
          </a:ln>
        </p:spPr>
        <p:txBody>
          <a:bodyPr lIns="0" tIns="0" rIns="0" bIns="0" anchor="ctr"/>
          <a:lstStyle/>
          <a:p>
            <a:pPr algn="l">
              <a:defRPr sz="1350" b="1">
                <a:solidFill>
                  <a:srgbClr val="00A58A"/>
                </a:solidFill>
                <a:latin typeface="Noto Sans KR"/>
                <a:ea typeface="Noto Sans KR"/>
                <a:cs typeface="Noto Sans KR"/>
              </a:defRPr>
            </a:pPr>
            <a:r>
              <a:rPr sz="1350" b="1">
                <a:solidFill>
                  <a:srgbClr val="00A58A"/>
                </a:solidFill>
                <a:latin typeface="Noto Sans KR"/>
                <a:ea typeface="Noto Sans KR"/>
                <a:cs typeface="Noto Sans KR"/>
              </a:rPr>
              <a:t>다음 단계</a:t>
            </a:r>
          </a:p>
        </p:txBody>
      </p:sp>
      <p:sp>
        <p:nvSpPr>
          <p:cNvPr id="18" name="직사각형 17">
            <a:extLst>
              <a:ext uri="{FF2B5EF4-FFF2-40B4-BE49-F238E27FC236}">
                <a16:creationId xmlns:a16="http://schemas.microsoft.com/office/drawing/2014/main" id="{BD7DCEFF-7B3C-4036-8C49-1ACF42A24CFE}"/>
              </a:ext>
            </a:extLst>
          </p:cNvPr>
          <p:cNvSpPr>
            <a:spLocks noGrp="1"/>
          </p:cNvSpPr>
          <p:nvPr/>
        </p:nvSpPr>
        <p:spPr>
          <a:xfrm>
            <a:off x="2781300" y="4876800"/>
            <a:ext cx="8286750" cy="533400"/>
          </a:xfrm>
          <a:prstGeom prst="rect">
            <a:avLst/>
          </a:prstGeom>
          <a:noFill/>
          <a:ln w="0">
            <a:noFill/>
            <a:prstDash val="solid"/>
          </a:ln>
        </p:spPr>
        <p:txBody>
          <a:bodyPr lIns="0" tIns="0" rIns="0" bIns="0" anchor="ctr"/>
          <a:lstStyle/>
          <a:p>
            <a:pPr algn="ctr">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산단·지원기관 파일럿으로 시간 단축과 판단 품질을 검증하겠습니다.</a:t>
            </a:r>
          </a:p>
        </p:txBody>
      </p:sp>
      <p:sp>
        <p:nvSpPr>
          <p:cNvPr id="19" name="직사각형 18">
            <a:extLst>
              <a:ext uri="{FF2B5EF4-FFF2-40B4-BE49-F238E27FC236}">
                <a16:creationId xmlns:a16="http://schemas.microsoft.com/office/drawing/2014/main" id="{3197300F-2FDA-4DC6-B3A7-31E79B415047}"/>
              </a:ext>
            </a:extLst>
          </p:cNvPr>
          <p:cNvSpPr>
            <a:spLocks noGrp="1"/>
          </p:cNvSpPr>
          <p:nvPr/>
        </p:nvSpPr>
        <p:spPr>
          <a:xfrm>
            <a:off x="762000" y="6019800"/>
            <a:ext cx="4095750" cy="228600"/>
          </a:xfrm>
          <a:prstGeom prst="rect">
            <a:avLst/>
          </a:prstGeom>
          <a:noFill/>
          <a:ln w="0">
            <a:noFill/>
            <a:prstDash val="solid"/>
          </a:ln>
        </p:spPr>
        <p:txBody>
          <a:bodyPr lIns="0" tIns="0" rIns="0" bIns="0" anchor="ctr"/>
          <a:lstStyle/>
          <a:p>
            <a:pPr algn="l">
              <a:defRPr sz="900" b="1">
                <a:solidFill>
                  <a:srgbClr val="8FD8CB"/>
                </a:solidFill>
                <a:latin typeface="Noto Sans KR"/>
                <a:ea typeface="Noto Sans KR"/>
                <a:cs typeface="Noto Sans KR"/>
              </a:defRPr>
            </a:pPr>
            <a:r>
              <a:rPr sz="900" b="1">
                <a:solidFill>
                  <a:srgbClr val="8FD8CB"/>
                </a:solidFill>
                <a:latin typeface="Noto Sans KR"/>
                <a:ea typeface="Noto Sans KR"/>
                <a:cs typeface="Noto Sans KR"/>
              </a:rPr>
              <a:t>AI 산단수출 코파일럿</a:t>
            </a:r>
          </a:p>
        </p:txBody>
      </p:sp>
      <p:sp>
        <p:nvSpPr>
          <p:cNvPr id="20" name="직사각형 19">
            <a:extLst>
              <a:ext uri="{FF2B5EF4-FFF2-40B4-BE49-F238E27FC236}">
                <a16:creationId xmlns:a16="http://schemas.microsoft.com/office/drawing/2014/main" id="{FF26E6A2-0C22-4789-B87A-92C0107ACD80}"/>
              </a:ext>
            </a:extLst>
          </p:cNvPr>
          <p:cNvSpPr>
            <a:spLocks noGrp="1"/>
          </p:cNvSpPr>
          <p:nvPr/>
        </p:nvSpPr>
        <p:spPr>
          <a:xfrm>
            <a:off x="9810750" y="6019800"/>
            <a:ext cx="1619250" cy="228600"/>
          </a:xfrm>
          <a:prstGeom prst="rect">
            <a:avLst/>
          </a:prstGeom>
          <a:noFill/>
          <a:ln w="0">
            <a:noFill/>
            <a:prstDash val="solid"/>
          </a:ln>
        </p:spPr>
        <p:txBody>
          <a:bodyPr lIns="0" tIns="0" rIns="0" bIns="0" anchor="ctr"/>
          <a:lstStyle/>
          <a:p>
            <a:pPr algn="r">
              <a:defRPr sz="900" b="1">
                <a:solidFill>
                  <a:srgbClr val="8FD8CB"/>
                </a:solidFill>
                <a:latin typeface="Noto Sans KR"/>
                <a:ea typeface="Noto Sans KR"/>
                <a:cs typeface="Noto Sans KR"/>
              </a:defRPr>
            </a:pPr>
            <a:r>
              <a:rPr sz="900" b="1">
                <a:solidFill>
                  <a:srgbClr val="8FD8CB"/>
                </a:solidFill>
                <a:latin typeface="Noto Sans KR"/>
                <a:ea typeface="Noto Sans KR"/>
                <a:cs typeface="Noto Sans KR"/>
              </a:rPr>
              <a:t>THANK YOU</a:t>
            </a:r>
          </a:p>
        </p:txBody>
      </p:sp>
    </p:spTree>
    <p:extLst>
      <p:ext uri="{BB962C8B-B14F-4D97-AF65-F5344CB8AC3E}">
        <p14:creationId xmlns:p14="http://schemas.microsoft.com/office/powerpoint/2010/main" val="79428398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2458</Words>
  <Application>Microsoft Office PowerPoint</Application>
  <DocSecurity>0</DocSecurity>
  <PresentationFormat>와이드스크린</PresentationFormat>
  <Paragraphs>425</Paragraphs>
  <Slides>15</Slides>
  <Notes>15</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15</vt:i4>
      </vt:variant>
    </vt:vector>
  </HeadingPairs>
  <TitlesOfParts>
    <vt:vector size="18" baseType="lpstr">
      <vt:lpstr>Noto Sans KR</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창재 유</cp:lastModifiedBy>
  <cp:revision>6</cp:revision>
  <dcterms:created xsi:type="dcterms:W3CDTF">2026-07-24T05:53:41Z</dcterms:created>
  <dcterms:modified xsi:type="dcterms:W3CDTF">2026-07-24T06:29:17Z</dcterms:modified>
</cp:coreProperties>
</file>